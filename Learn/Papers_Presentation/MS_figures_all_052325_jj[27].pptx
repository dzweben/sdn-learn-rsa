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33_24214D4D.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34_A28395F3.xml" ContentType="application/vnd.ms-powerpoint.comments+xml"/>
  <Override PartName="/ppt/notesSlides/notesSlide6.xml" ContentType="application/vnd.openxmlformats-officedocument.presentationml.notesSlide+xml"/>
  <Override PartName="/ppt/comments/modernComment_100_3D0E651B.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8"/>
  </p:notesMasterIdLst>
  <p:sldIdLst>
    <p:sldId id="302" r:id="rId2"/>
    <p:sldId id="303" r:id="rId3"/>
    <p:sldId id="307" r:id="rId4"/>
    <p:sldId id="259" r:id="rId5"/>
    <p:sldId id="308" r:id="rId6"/>
    <p:sldId id="25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95E0B50-E1A2-8D5B-2BD0-916F176410C5}" name="Johanna Jarcho" initials="JJ" userId="Johanna Jarcho" providerId="None"/>
  <p188:author id="{F7E14180-DA36-9CB5-13E7-301ECFCDDF07}" name="Johanna Jarcho" initials="JJ" userId="S::tuj83667@temple.edu::d51082c0-59dc-4299-b6e9-a03e059038e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ohanna Jarcho" initials="JJ" lastIdx="8" clrIdx="0">
    <p:extLst>
      <p:ext uri="{19B8F6BF-5375-455C-9EA6-DF929625EA0E}">
        <p15:presenceInfo xmlns:p15="http://schemas.microsoft.com/office/powerpoint/2012/main" userId="S::tuj83667@temple.edu::d51082c0-59dc-4299-b6e9-a03e059038ee" providerId="AD"/>
      </p:ext>
    </p:extLst>
  </p:cmAuthor>
  <p:cmAuthor id="2" name="Camille Johnston" initials="CJ" lastIdx="8" clrIdx="1">
    <p:extLst>
      <p:ext uri="{19B8F6BF-5375-455C-9EA6-DF929625EA0E}">
        <p15:presenceInfo xmlns:p15="http://schemas.microsoft.com/office/powerpoint/2012/main" userId="b4067bd93b34839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2D050"/>
    <a:srgbClr val="FF43EA"/>
    <a:srgbClr val="017500"/>
    <a:srgbClr val="FFAC3B"/>
    <a:srgbClr val="4D4D4D"/>
    <a:srgbClr val="444547"/>
    <a:srgbClr val="005FCC"/>
    <a:srgbClr val="57B4E9"/>
    <a:srgbClr val="FFA500"/>
    <a:srgbClr val="038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24"/>
    <p:restoredTop sz="84465"/>
  </p:normalViewPr>
  <p:slideViewPr>
    <p:cSldViewPr snapToGrid="0" snapToObjects="1">
      <p:cViewPr varScale="1">
        <p:scale>
          <a:sx n="128" d="100"/>
          <a:sy n="128" d="100"/>
        </p:scale>
        <p:origin x="4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 Id="rId14" Type="http://schemas.microsoft.com/office/2018/10/relationships/authors" Target="authors.xml"/></Relationships>
</file>

<file path=ppt/comments/modernComment_100_3D0E651B.xml><?xml version="1.0" encoding="utf-8"?>
<p188:cmLst xmlns:a="http://schemas.openxmlformats.org/drawingml/2006/main" xmlns:r="http://schemas.openxmlformats.org/officeDocument/2006/relationships" xmlns:p188="http://schemas.microsoft.com/office/powerpoint/2018/8/main">
  <p188:cm id="{FAC6B6F9-6D60-8B45-A22D-694DDBA55671}" authorId="{F7E14180-DA36-9CB5-13E7-301ECFCDDF07}" created="2025-04-08T12:59:18.168">
    <pc:sldMkLst xmlns:pc="http://schemas.microsoft.com/office/powerpoint/2013/main/command">
      <pc:docMk/>
      <pc:sldMk cId="1024353563" sldId="256"/>
    </pc:sldMkLst>
    <p188:txBody>
      <a:bodyPr/>
      <a:lstStyle/>
      <a:p>
        <a:r>
          <a:rPr lang="en-US"/>
          <a:t>Move to supplement</a:t>
        </a:r>
      </a:p>
    </p188:txBody>
  </p188:cm>
</p188:cmLst>
</file>

<file path=ppt/comments/modernComment_133_24214D4D.xml><?xml version="1.0" encoding="utf-8"?>
<p188:cmLst xmlns:a="http://schemas.openxmlformats.org/drawingml/2006/main" xmlns:r="http://schemas.openxmlformats.org/officeDocument/2006/relationships" xmlns:p188="http://schemas.microsoft.com/office/powerpoint/2018/8/main">
  <p188:cm id="{65705E9F-9E26-9346-8140-BED196775DAA}" authorId="{E95E0B50-E1A2-8D5B-2BD0-916F176410C5}" created="2025-08-14T16:18:40.548">
    <ac:deMkLst xmlns:ac="http://schemas.microsoft.com/office/drawing/2013/main/command">
      <pc:docMk xmlns:pc="http://schemas.microsoft.com/office/powerpoint/2013/main/command"/>
      <pc:sldMk xmlns:pc="http://schemas.microsoft.com/office/powerpoint/2013/main/command" cId="606162253" sldId="307"/>
      <ac:spMk id="5" creationId="{CA06241C-FDFD-9D4C-AD35-A376EE65146F}"/>
    </ac:deMkLst>
    <p188:txBody>
      <a:bodyPr/>
      <a:lstStyle/>
      <a:p>
        <a:r>
          <a:rPr lang="en-US"/>
          <a:t>are these data also in a table somewhere? i can't tell what one it would be?</a:t>
        </a:r>
      </a:p>
    </p188:txBody>
  </p188:cm>
</p188:cmLst>
</file>

<file path=ppt/comments/modernComment_134_A28395F3.xml><?xml version="1.0" encoding="utf-8"?>
<p188:cmLst xmlns:a="http://schemas.openxmlformats.org/drawingml/2006/main" xmlns:r="http://schemas.openxmlformats.org/officeDocument/2006/relationships" xmlns:p188="http://schemas.microsoft.com/office/powerpoint/2018/8/main">
  <p188:cm id="{68D9356E-CCFD-C646-8AA4-FDCEAEB07D2A}" authorId="{E95E0B50-E1A2-8D5B-2BD0-916F176410C5}" created="2025-08-14T15:44:46.554">
    <ac:deMkLst xmlns:ac="http://schemas.microsoft.com/office/drawing/2013/main/command">
      <pc:docMk xmlns:pc="http://schemas.microsoft.com/office/powerpoint/2013/main/command"/>
      <pc:sldMk xmlns:pc="http://schemas.microsoft.com/office/powerpoint/2013/main/command" cId="2726532595" sldId="308"/>
      <ac:spMk id="6" creationId="{D3336789-B80F-F215-B324-235E8DDBE496}"/>
    </ac:deMkLst>
    <p188:txBody>
      <a:bodyPr/>
      <a:lstStyle/>
      <a:p>
        <a:r>
          <a:rPr lang="en-US"/>
          <a:t>update terminology?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FCC291-A376-8F41-BF48-234FE12E66BC}" type="datetimeFigureOut">
              <a:rPr lang="en-US" smtClean="0"/>
              <a:t>9/12/25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F0058E-E8B8-464D-ACE2-6CD555DE59D0}" type="slidenum">
              <a:rPr lang="en-US" smtClean="0"/>
              <a:t>‹#›</a:t>
            </a:fld>
            <a:endParaRPr lang="en-US"/>
          </a:p>
        </p:txBody>
      </p:sp>
    </p:spTree>
    <p:extLst>
      <p:ext uri="{BB962C8B-B14F-4D97-AF65-F5344CB8AC3E}">
        <p14:creationId xmlns:p14="http://schemas.microsoft.com/office/powerpoint/2010/main" val="1934786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latin typeface="Arial" panose="020B0604020202020204" pitchFamily="34" charset="0"/>
                <a:ea typeface="Times New Roman" panose="02020603050405020304" pitchFamily="18" charset="0"/>
              </a:rPr>
              <a:t>Each social interaction trial includes portions A-C followed by an inter-trial interval. </a:t>
            </a:r>
            <a:endParaRPr lang="en-US" dirty="0"/>
          </a:p>
        </p:txBody>
      </p:sp>
      <p:sp>
        <p:nvSpPr>
          <p:cNvPr id="4" name="Slide Number Placeholder 3"/>
          <p:cNvSpPr>
            <a:spLocks noGrp="1"/>
          </p:cNvSpPr>
          <p:nvPr>
            <p:ph type="sldNum" sz="quarter" idx="5"/>
          </p:nvPr>
        </p:nvSpPr>
        <p:spPr/>
        <p:txBody>
          <a:bodyPr/>
          <a:lstStyle/>
          <a:p>
            <a:fld id="{D8F0058E-E8B8-464D-ACE2-6CD555DE59D0}" type="slidenum">
              <a:rPr lang="en-US" smtClean="0"/>
              <a:t>1</a:t>
            </a:fld>
            <a:endParaRPr lang="en-US"/>
          </a:p>
        </p:txBody>
      </p:sp>
    </p:spTree>
    <p:extLst>
      <p:ext uri="{BB962C8B-B14F-4D97-AF65-F5344CB8AC3E}">
        <p14:creationId xmlns:p14="http://schemas.microsoft.com/office/powerpoint/2010/main" val="3936069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Compares youth with clinically significant SA (</a:t>
                </a:r>
                <a14:m>
                  <m:oMath xmlns:m="http://schemas.openxmlformats.org/officeDocument/2006/math">
                    <m:r>
                      <a:rPr lang="en-US" b="0" i="0" dirty="0" smtClean="0">
                        <a:latin typeface="Cambria Math" panose="02040503050406030204" pitchFamily="18" charset="0"/>
                        <a:ea typeface="Cambria Math" panose="02040503050406030204" pitchFamily="18" charset="0"/>
                      </a:rPr>
                      <m:t>≥</m:t>
                    </m:r>
                  </m:oMath>
                </a14:m>
                <a:r>
                  <a:rPr lang="en-US" dirty="0">
                    <a:latin typeface="Arial" panose="020B0604020202020204" pitchFamily="34" charset="0"/>
                    <a:cs typeface="Arial" panose="020B0604020202020204" pitchFamily="34" charset="0"/>
                  </a:rPr>
                  <a:t>7) vs subclinical or no SA (</a:t>
                </a:r>
                <a14:m>
                  <m:oMath xmlns:m="http://schemas.openxmlformats.org/officeDocument/2006/math">
                    <m:r>
                      <a:rPr lang="en-US" b="0" i="0" smtClean="0">
                        <a:latin typeface="Cambria Math" panose="02040503050406030204" pitchFamily="18" charset="0"/>
                      </a:rPr>
                      <m:t>&lt;</m:t>
                    </m:r>
                  </m:oMath>
                </a14:m>
                <a:r>
                  <a:rPr lang="en-US" dirty="0">
                    <a:latin typeface="Arial" panose="020B0604020202020204" pitchFamily="34" charset="0"/>
                    <a:cs typeface="Arial" panose="020B0604020202020204" pitchFamily="34" charset="0"/>
                  </a:rPr>
                  <a:t>7) on actual and simulated learning in the last 8 trials across social contexts. The x-axis reflects the predicted valence of feedback, y-axis reflects the average proportion of the predicted choice. </a:t>
                </a:r>
              </a:p>
              <a:p>
                <a:endParaRPr lang="en-US" dirty="0">
                  <a:latin typeface="Arial" panose="020B0604020202020204" pitchFamily="34" charset="0"/>
                  <a:cs typeface="Arial" panose="020B0604020202020204" pitchFamily="34" charset="0"/>
                </a:endParaRPr>
              </a:p>
              <a:p>
                <a:r>
                  <a:rPr lang="en-US" dirty="0"/>
                  <a:t>***</a:t>
                </a:r>
                <a:r>
                  <a:rPr lang="en-US" dirty="0" err="1"/>
                  <a:t>chloe</a:t>
                </a:r>
                <a:r>
                  <a:rPr lang="en-US" dirty="0"/>
                  <a:t>: I can’t find this adjusted code, so I am doing some manual editing things if needed, I can find the code or remake the code with old code I do have </a:t>
                </a:r>
              </a:p>
            </p:txBody>
          </p:sp>
        </mc:Choice>
        <mc:Fallback xmlns="">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Compares youth with clinically significant SA (</a:t>
                </a:r>
                <a:r>
                  <a:rPr lang="en-US" b="0" i="0" dirty="0">
                    <a:latin typeface="Cambria Math" panose="02040503050406030204" pitchFamily="18" charset="0"/>
                    <a:ea typeface="Cambria Math" panose="02040503050406030204" pitchFamily="18" charset="0"/>
                  </a:rPr>
                  <a:t>≥</a:t>
                </a:r>
                <a:r>
                  <a:rPr lang="en-US" dirty="0">
                    <a:latin typeface="Arial" panose="020B0604020202020204" pitchFamily="34" charset="0"/>
                    <a:cs typeface="Arial" panose="020B0604020202020204" pitchFamily="34" charset="0"/>
                  </a:rPr>
                  <a:t>7) vs subclinical or no SA (</a:t>
                </a:r>
                <a:r>
                  <a:rPr lang="en-US" b="0" i="0">
                    <a:latin typeface="Cambria Math" panose="02040503050406030204" pitchFamily="18" charset="0"/>
                  </a:rPr>
                  <a:t>&lt;</a:t>
                </a:r>
                <a:r>
                  <a:rPr lang="en-US" dirty="0">
                    <a:latin typeface="Arial" panose="020B0604020202020204" pitchFamily="34" charset="0"/>
                    <a:cs typeface="Arial" panose="020B0604020202020204" pitchFamily="34" charset="0"/>
                  </a:rPr>
                  <a:t>7) on actual and simulated learning in the last 8 trials across social contexts. The x-axis reflects the predicted valence of feedback, y-axis reflects the average proportion of the predicted choice. </a:t>
                </a:r>
                <a:endParaRPr lang="en-US" dirty="0"/>
              </a:p>
            </p:txBody>
          </p:sp>
        </mc:Fallback>
      </mc:AlternateContent>
      <p:sp>
        <p:nvSpPr>
          <p:cNvPr id="4" name="Slide Number Placeholder 3"/>
          <p:cNvSpPr>
            <a:spLocks noGrp="1"/>
          </p:cNvSpPr>
          <p:nvPr>
            <p:ph type="sldNum" sz="quarter" idx="5"/>
          </p:nvPr>
        </p:nvSpPr>
        <p:spPr/>
        <p:txBody>
          <a:bodyPr/>
          <a:lstStyle/>
          <a:p>
            <a:fld id="{D8F0058E-E8B8-464D-ACE2-6CD555DE59D0}" type="slidenum">
              <a:rPr lang="en-US" smtClean="0"/>
              <a:t>2</a:t>
            </a:fld>
            <a:endParaRPr lang="en-US"/>
          </a:p>
        </p:txBody>
      </p:sp>
    </p:spTree>
    <p:extLst>
      <p:ext uri="{BB962C8B-B14F-4D97-AF65-F5344CB8AC3E}">
        <p14:creationId xmlns:p14="http://schemas.microsoft.com/office/powerpoint/2010/main" val="35944144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Compares youth with clinically significant SA (</a:t>
                </a:r>
                <a14:m>
                  <m:oMath xmlns:m="http://schemas.openxmlformats.org/officeDocument/2006/math">
                    <m:r>
                      <a:rPr lang="en-US" b="0" i="0" dirty="0" smtClean="0">
                        <a:latin typeface="Cambria Math" panose="02040503050406030204" pitchFamily="18" charset="0"/>
                        <a:ea typeface="Cambria Math" panose="02040503050406030204" pitchFamily="18" charset="0"/>
                      </a:rPr>
                      <m:t>≥</m:t>
                    </m:r>
                  </m:oMath>
                </a14:m>
                <a:r>
                  <a:rPr lang="en-US" dirty="0">
                    <a:latin typeface="Arial" panose="020B0604020202020204" pitchFamily="34" charset="0"/>
                    <a:cs typeface="Arial" panose="020B0604020202020204" pitchFamily="34" charset="0"/>
                  </a:rPr>
                  <a:t>7) vs subclinical or no SA (</a:t>
                </a:r>
                <a14:m>
                  <m:oMath xmlns:m="http://schemas.openxmlformats.org/officeDocument/2006/math">
                    <m:r>
                      <a:rPr lang="en-US" b="0" i="0" smtClean="0">
                        <a:latin typeface="Cambria Math" panose="02040503050406030204" pitchFamily="18" charset="0"/>
                      </a:rPr>
                      <m:t>&lt;</m:t>
                    </m:r>
                  </m:oMath>
                </a14:m>
                <a:r>
                  <a:rPr lang="en-US" dirty="0">
                    <a:latin typeface="Arial" panose="020B0604020202020204" pitchFamily="34" charset="0"/>
                    <a:cs typeface="Arial" panose="020B0604020202020204" pitchFamily="34" charset="0"/>
                  </a:rPr>
                  <a:t>7) on parameter estimates of  </a:t>
                </a:r>
                <a:r>
                  <a:rPr lang="en-US" b="1" dirty="0">
                    <a:latin typeface="Arial" panose="020B0604020202020204" pitchFamily="34" charset="0"/>
                    <a:cs typeface="Arial" panose="020B0604020202020204" pitchFamily="34" charset="0"/>
                  </a:rPr>
                  <a:t>A</a:t>
                </a:r>
                <a:r>
                  <a:rPr lang="en-US" dirty="0">
                    <a:latin typeface="Arial" panose="020B0604020202020204" pitchFamily="34" charset="0"/>
                    <a:cs typeface="Arial" panose="020B0604020202020204" pitchFamily="34" charset="0"/>
                  </a:rPr>
                  <a:t>) learning rates and </a:t>
                </a:r>
                <a:r>
                  <a:rPr lang="en-US" b="1"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associative values across social contexts. </a:t>
                </a:r>
                <a:endParaRPr lang="en-US" dirty="0"/>
              </a:p>
            </p:txBody>
          </p:sp>
        </mc:Choice>
        <mc:Fallback xmlns="">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Compares youth with clinically significant SA (</a:t>
                </a:r>
                <a:r>
                  <a:rPr lang="en-US" b="0" i="0" dirty="0">
                    <a:latin typeface="Cambria Math" panose="02040503050406030204" pitchFamily="18" charset="0"/>
                    <a:ea typeface="Cambria Math" panose="02040503050406030204" pitchFamily="18" charset="0"/>
                  </a:rPr>
                  <a:t>≥</a:t>
                </a:r>
                <a:r>
                  <a:rPr lang="en-US" dirty="0">
                    <a:latin typeface="Arial" panose="020B0604020202020204" pitchFamily="34" charset="0"/>
                    <a:cs typeface="Arial" panose="020B0604020202020204" pitchFamily="34" charset="0"/>
                  </a:rPr>
                  <a:t>7) vs subclinical or no SA (</a:t>
                </a:r>
                <a:r>
                  <a:rPr lang="en-US" b="0" i="0">
                    <a:latin typeface="Cambria Math" panose="02040503050406030204" pitchFamily="18" charset="0"/>
                  </a:rPr>
                  <a:t>&lt;</a:t>
                </a:r>
                <a:r>
                  <a:rPr lang="en-US" dirty="0">
                    <a:latin typeface="Arial" panose="020B0604020202020204" pitchFamily="34" charset="0"/>
                    <a:cs typeface="Arial" panose="020B0604020202020204" pitchFamily="34" charset="0"/>
                  </a:rPr>
                  <a:t>7) on parameter estimates of  </a:t>
                </a:r>
                <a:r>
                  <a:rPr lang="en-US" b="1" dirty="0">
                    <a:latin typeface="Arial" panose="020B0604020202020204" pitchFamily="34" charset="0"/>
                    <a:cs typeface="Arial" panose="020B0604020202020204" pitchFamily="34" charset="0"/>
                  </a:rPr>
                  <a:t>A</a:t>
                </a:r>
                <a:r>
                  <a:rPr lang="en-US" dirty="0">
                    <a:latin typeface="Arial" panose="020B0604020202020204" pitchFamily="34" charset="0"/>
                    <a:cs typeface="Arial" panose="020B0604020202020204" pitchFamily="34" charset="0"/>
                  </a:rPr>
                  <a:t>) learning rates and </a:t>
                </a:r>
                <a:r>
                  <a:rPr lang="en-US" b="1"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associative values across social contexts. </a:t>
                </a:r>
                <a:endParaRPr lang="en-US" dirty="0"/>
              </a:p>
            </p:txBody>
          </p:sp>
        </mc:Fallback>
      </mc:AlternateContent>
      <p:sp>
        <p:nvSpPr>
          <p:cNvPr id="4" name="Slide Number Placeholder 3"/>
          <p:cNvSpPr>
            <a:spLocks noGrp="1"/>
          </p:cNvSpPr>
          <p:nvPr>
            <p:ph type="sldNum" sz="quarter" idx="5"/>
          </p:nvPr>
        </p:nvSpPr>
        <p:spPr/>
        <p:txBody>
          <a:bodyPr/>
          <a:lstStyle/>
          <a:p>
            <a:fld id="{D8F0058E-E8B8-464D-ACE2-6CD555DE59D0}" type="slidenum">
              <a:rPr lang="en-US" smtClean="0"/>
              <a:t>3</a:t>
            </a:fld>
            <a:endParaRPr lang="en-US"/>
          </a:p>
        </p:txBody>
      </p:sp>
    </p:spTree>
    <p:extLst>
      <p:ext uri="{BB962C8B-B14F-4D97-AF65-F5344CB8AC3E}">
        <p14:creationId xmlns:p14="http://schemas.microsoft.com/office/powerpoint/2010/main" val="4123645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UcParenR"/>
            </a:pPr>
            <a:r>
              <a:rPr lang="en-US" i="1" dirty="0">
                <a:solidFill>
                  <a:schemeClr val="bg1"/>
                </a:solidFill>
                <a:latin typeface="Arial" panose="020B0604020202020204" pitchFamily="34" charset="0"/>
                <a:ea typeface="Times New Roman" panose="02020603050405020304" pitchFamily="18" charset="0"/>
                <a:cs typeface="Arial" panose="020B0604020202020204" pitchFamily="34" charset="0"/>
              </a:rPr>
              <a:t>bilateral </a:t>
            </a:r>
            <a:r>
              <a:rPr lang="en-US" i="1" dirty="0" err="1">
                <a:solidFill>
                  <a:schemeClr val="bg1"/>
                </a:solidFill>
                <a:latin typeface="Arial" panose="020B0604020202020204" pitchFamily="34" charset="0"/>
                <a:ea typeface="Times New Roman" panose="02020603050405020304" pitchFamily="18" charset="0"/>
                <a:cs typeface="Arial" panose="020B0604020202020204" pitchFamily="34" charset="0"/>
              </a:rPr>
              <a:t>vmPFC</a:t>
            </a:r>
            <a:r>
              <a:rPr lang="en-US" i="1"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US" b="1" i="1" dirty="0">
                <a:solidFill>
                  <a:schemeClr val="bg1"/>
                </a:solidFill>
                <a:latin typeface="Arial" panose="020B0604020202020204" pitchFamily="34" charset="0"/>
                <a:ea typeface="Times New Roman" panose="02020603050405020304" pitchFamily="18" charset="0"/>
                <a:cs typeface="Arial" panose="020B0604020202020204" pitchFamily="34" charset="0"/>
              </a:rPr>
              <a:t>B</a:t>
            </a:r>
            <a:r>
              <a:rPr lang="en-US" i="1" dirty="0">
                <a:solidFill>
                  <a:schemeClr val="bg1"/>
                </a:solidFill>
                <a:latin typeface="Arial" panose="020B0604020202020204" pitchFamily="34" charset="0"/>
                <a:ea typeface="Times New Roman" panose="02020603050405020304" pitchFamily="18" charset="0"/>
                <a:cs typeface="Arial" panose="020B0604020202020204" pitchFamily="34" charset="0"/>
              </a:rPr>
              <a:t>) right </a:t>
            </a:r>
            <a:r>
              <a:rPr lang="en-US" i="1" dirty="0" err="1">
                <a:solidFill>
                  <a:schemeClr val="bg1"/>
                </a:solidFill>
                <a:latin typeface="Arial" panose="020B0604020202020204" pitchFamily="34" charset="0"/>
                <a:ea typeface="Times New Roman" panose="02020603050405020304" pitchFamily="18" charset="0"/>
                <a:cs typeface="Arial" panose="020B0604020202020204" pitchFamily="34" charset="0"/>
              </a:rPr>
              <a:t>vmPFC</a:t>
            </a:r>
            <a:r>
              <a:rPr lang="en-US" i="1"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US" b="1" i="1" dirty="0">
                <a:solidFill>
                  <a:schemeClr val="bg1"/>
                </a:solidFill>
                <a:latin typeface="Arial" panose="020B0604020202020204" pitchFamily="34" charset="0"/>
                <a:ea typeface="Times New Roman" panose="02020603050405020304" pitchFamily="18" charset="0"/>
                <a:cs typeface="Arial" panose="020B0604020202020204" pitchFamily="34" charset="0"/>
              </a:rPr>
              <a:t>C</a:t>
            </a:r>
            <a:r>
              <a:rPr lang="en-US" i="1" dirty="0">
                <a:solidFill>
                  <a:schemeClr val="bg1"/>
                </a:solidFill>
                <a:latin typeface="Arial" panose="020B0604020202020204" pitchFamily="34" charset="0"/>
                <a:ea typeface="Times New Roman" panose="02020603050405020304" pitchFamily="18" charset="0"/>
                <a:cs typeface="Arial" panose="020B0604020202020204" pitchFamily="34" charset="0"/>
              </a:rPr>
              <a:t>) Left Anterior </a:t>
            </a:r>
            <a:r>
              <a:rPr lang="en-US" i="1" dirty="0" err="1">
                <a:solidFill>
                  <a:schemeClr val="bg1"/>
                </a:solidFill>
                <a:latin typeface="Arial" panose="020B0604020202020204" pitchFamily="34" charset="0"/>
                <a:ea typeface="Times New Roman" panose="02020603050405020304" pitchFamily="18" charset="0"/>
                <a:cs typeface="Arial" panose="020B0604020202020204" pitchFamily="34" charset="0"/>
              </a:rPr>
              <a:t>dACC</a:t>
            </a:r>
            <a:r>
              <a:rPr lang="en-US" i="1"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US" b="1" i="1" dirty="0">
                <a:solidFill>
                  <a:schemeClr val="bg1"/>
                </a:solidFill>
                <a:latin typeface="Arial" panose="020B0604020202020204" pitchFamily="34" charset="0"/>
                <a:ea typeface="Times New Roman" panose="02020603050405020304" pitchFamily="18" charset="0"/>
                <a:cs typeface="Arial" panose="020B0604020202020204" pitchFamily="34" charset="0"/>
              </a:rPr>
              <a:t>D</a:t>
            </a:r>
            <a:r>
              <a:rPr lang="en-US" i="1" dirty="0">
                <a:solidFill>
                  <a:schemeClr val="bg1"/>
                </a:solidFill>
                <a:latin typeface="Arial" panose="020B0604020202020204" pitchFamily="34" charset="0"/>
                <a:ea typeface="Times New Roman" panose="02020603050405020304" pitchFamily="18" charset="0"/>
                <a:cs typeface="Arial" panose="020B0604020202020204" pitchFamily="34" charset="0"/>
              </a:rPr>
              <a:t>) Right Posterior </a:t>
            </a:r>
            <a:r>
              <a:rPr lang="en-US" i="1" dirty="0" err="1">
                <a:solidFill>
                  <a:schemeClr val="bg1"/>
                </a:solidFill>
                <a:latin typeface="Arial" panose="020B0604020202020204" pitchFamily="34" charset="0"/>
                <a:ea typeface="Times New Roman" panose="02020603050405020304" pitchFamily="18" charset="0"/>
                <a:cs typeface="Arial" panose="020B0604020202020204" pitchFamily="34" charset="0"/>
              </a:rPr>
              <a:t>dACC</a:t>
            </a:r>
            <a:r>
              <a:rPr lang="en-US" i="1"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US" b="1" i="1" dirty="0">
                <a:solidFill>
                  <a:schemeClr val="bg1"/>
                </a:solidFill>
                <a:latin typeface="Arial" panose="020B0604020202020204" pitchFamily="34" charset="0"/>
                <a:ea typeface="Times New Roman" panose="02020603050405020304" pitchFamily="18" charset="0"/>
                <a:cs typeface="Arial" panose="020B0604020202020204" pitchFamily="34" charset="0"/>
              </a:rPr>
              <a:t>E</a:t>
            </a:r>
            <a:r>
              <a:rPr lang="en-US" i="1" dirty="0">
                <a:solidFill>
                  <a:schemeClr val="bg1"/>
                </a:solidFill>
                <a:latin typeface="Arial" panose="020B0604020202020204" pitchFamily="34" charset="0"/>
                <a:ea typeface="Times New Roman" panose="02020603050405020304" pitchFamily="18" charset="0"/>
                <a:cs typeface="Arial" panose="020B0604020202020204" pitchFamily="34" charset="0"/>
              </a:rPr>
              <a:t>) Left Anterior Insula </a:t>
            </a:r>
            <a:r>
              <a:rPr lang="en-US" b="1" i="1" dirty="0">
                <a:solidFill>
                  <a:schemeClr val="bg1"/>
                </a:solidFill>
                <a:latin typeface="Arial" panose="020B0604020202020204" pitchFamily="34" charset="0"/>
                <a:ea typeface="Times New Roman" panose="02020603050405020304" pitchFamily="18" charset="0"/>
                <a:cs typeface="Arial" panose="020B0604020202020204" pitchFamily="34" charset="0"/>
              </a:rPr>
              <a:t>F</a:t>
            </a:r>
            <a:r>
              <a:rPr lang="en-US" i="1" dirty="0">
                <a:solidFill>
                  <a:schemeClr val="bg1"/>
                </a:solidFill>
                <a:latin typeface="Arial" panose="020B0604020202020204" pitchFamily="34" charset="0"/>
                <a:ea typeface="Times New Roman" panose="02020603050405020304" pitchFamily="18" charset="0"/>
                <a:cs typeface="Arial" panose="020B0604020202020204" pitchFamily="34" charset="0"/>
              </a:rPr>
              <a:t>) Left Ventral Striatum, </a:t>
            </a:r>
            <a:r>
              <a:rPr lang="en-US" b="1" i="1" dirty="0">
                <a:solidFill>
                  <a:schemeClr val="bg1"/>
                </a:solidFill>
                <a:latin typeface="Arial" panose="020B0604020202020204" pitchFamily="34" charset="0"/>
                <a:ea typeface="Times New Roman" panose="02020603050405020304" pitchFamily="18" charset="0"/>
                <a:cs typeface="Arial" panose="020B0604020202020204" pitchFamily="34" charset="0"/>
              </a:rPr>
              <a:t>G) </a:t>
            </a:r>
            <a:r>
              <a:rPr lang="en-US" i="1" dirty="0">
                <a:solidFill>
                  <a:schemeClr val="bg1"/>
                </a:solidFill>
                <a:latin typeface="Arial" panose="020B0604020202020204" pitchFamily="34" charset="0"/>
                <a:ea typeface="Times New Roman" panose="02020603050405020304" pitchFamily="18" charset="0"/>
                <a:cs typeface="Arial" panose="020B0604020202020204" pitchFamily="34" charset="0"/>
              </a:rPr>
              <a:t>Right Ventral Striatum</a:t>
            </a:r>
          </a:p>
          <a:p>
            <a:pPr marL="228600" indent="-228600">
              <a:buAutoNum type="alphaUcParenR"/>
            </a:pPr>
            <a:endParaRPr lang="en-US" i="1" dirty="0">
              <a:solidFill>
                <a:schemeClr val="bg1"/>
              </a:solidFill>
              <a:latin typeface="Arial" panose="020B0604020202020204" pitchFamily="34" charset="0"/>
              <a:cs typeface="Arial" panose="020B0604020202020204" pitchFamily="34" charset="0"/>
            </a:endParaRPr>
          </a:p>
          <a:p>
            <a:pPr marL="228600" indent="-228600">
              <a:buAutoNum type="alphaUcParenR"/>
            </a:pPr>
            <a:r>
              <a:rPr lang="en-US" i="1" dirty="0">
                <a:solidFill>
                  <a:schemeClr val="bg1"/>
                </a:solidFill>
                <a:latin typeface="Arial" panose="020B0604020202020204" pitchFamily="34" charset="0"/>
                <a:cs typeface="Arial" panose="020B0604020202020204" pitchFamily="34" charset="0"/>
              </a:rPr>
              <a:t>**should be pos 13, and pos 16 for bottom row Ys </a:t>
            </a:r>
            <a:endParaRPr lang="en-US" dirty="0"/>
          </a:p>
        </p:txBody>
      </p:sp>
      <p:sp>
        <p:nvSpPr>
          <p:cNvPr id="4" name="Slide Number Placeholder 3"/>
          <p:cNvSpPr>
            <a:spLocks noGrp="1"/>
          </p:cNvSpPr>
          <p:nvPr>
            <p:ph type="sldNum" sz="quarter" idx="5"/>
          </p:nvPr>
        </p:nvSpPr>
        <p:spPr/>
        <p:txBody>
          <a:bodyPr/>
          <a:lstStyle/>
          <a:p>
            <a:fld id="{D8F0058E-E8B8-464D-ACE2-6CD555DE59D0}" type="slidenum">
              <a:rPr lang="en-US" smtClean="0"/>
              <a:t>4</a:t>
            </a:fld>
            <a:endParaRPr lang="en-US"/>
          </a:p>
        </p:txBody>
      </p:sp>
    </p:spTree>
    <p:extLst>
      <p:ext uri="{BB962C8B-B14F-4D97-AF65-F5344CB8AC3E}">
        <p14:creationId xmlns:p14="http://schemas.microsoft.com/office/powerpoint/2010/main" val="2266744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x-axis is social anxiety centered at 7, thus values on the right side of the dotted line represent youth with clinically significant SA and values on the left side of the dotted line represent youth without SA. The y-axis is the effect size of the reputation-based prediction error on the neural signal in each region, with larger numbers indicating greater increases or decreases in brain activation. The graphs on the left-side show the relations between valence and SA while receiving feedback from unpredictable peers (Mean60-blue or Nice60-pink), and graphs on the right-side show relation these relations while receiving feedback from predictable peers (Mean80-blue or Nice80-pink). Black marks on the x-axis represent participant data range. * indicate a significant valence by SA interaction, bars indicate a significant difference in activation by SA within valence.</a:t>
            </a:r>
            <a:r>
              <a:rPr lang="en-US" dirty="0">
                <a:effectLst/>
              </a:rPr>
              <a:t> </a:t>
            </a:r>
            <a:endParaRPr lang="en-US" dirty="0"/>
          </a:p>
        </p:txBody>
      </p:sp>
      <p:sp>
        <p:nvSpPr>
          <p:cNvPr id="4" name="Slide Number Placeholder 3"/>
          <p:cNvSpPr>
            <a:spLocks noGrp="1"/>
          </p:cNvSpPr>
          <p:nvPr>
            <p:ph type="sldNum" sz="quarter" idx="5"/>
          </p:nvPr>
        </p:nvSpPr>
        <p:spPr/>
        <p:txBody>
          <a:bodyPr/>
          <a:lstStyle/>
          <a:p>
            <a:fld id="{BC465604-2A81-7E40-A942-2FCC76F8473D}" type="slidenum">
              <a:rPr lang="en-US" smtClean="0"/>
              <a:t>5</a:t>
            </a:fld>
            <a:endParaRPr lang="en-US"/>
          </a:p>
        </p:txBody>
      </p:sp>
    </p:spTree>
    <p:extLst>
      <p:ext uri="{BB962C8B-B14F-4D97-AF65-F5344CB8AC3E}">
        <p14:creationId xmlns:p14="http://schemas.microsoft.com/office/powerpoint/2010/main" val="87345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solidFill>
                  <a:schemeClr val="bg1"/>
                </a:solidFill>
                <a:latin typeface="Arial" panose="020B0604020202020204" pitchFamily="34" charset="0"/>
                <a:ea typeface="Times New Roman" panose="02020603050405020304" pitchFamily="18" charset="0"/>
              </a:rPr>
              <a:t>Bilateral- </a:t>
            </a:r>
            <a:r>
              <a:rPr lang="en-US" b="1" i="1" dirty="0">
                <a:solidFill>
                  <a:schemeClr val="bg1"/>
                </a:solidFill>
                <a:latin typeface="Arial" panose="020B0604020202020204" pitchFamily="34" charset="0"/>
                <a:ea typeface="Times New Roman" panose="02020603050405020304" pitchFamily="18" charset="0"/>
              </a:rPr>
              <a:t>A</a:t>
            </a:r>
            <a:r>
              <a:rPr lang="en-US" i="1" dirty="0">
                <a:solidFill>
                  <a:schemeClr val="bg1"/>
                </a:solidFill>
                <a:latin typeface="Arial" panose="020B0604020202020204" pitchFamily="34" charset="0"/>
                <a:ea typeface="Times New Roman" panose="02020603050405020304" pitchFamily="18" charset="0"/>
              </a:rPr>
              <a:t>) </a:t>
            </a:r>
            <a:r>
              <a:rPr lang="en-US" i="1" dirty="0" err="1">
                <a:solidFill>
                  <a:schemeClr val="bg1"/>
                </a:solidFill>
                <a:latin typeface="Arial" panose="020B0604020202020204" pitchFamily="34" charset="0"/>
                <a:ea typeface="Times New Roman" panose="02020603050405020304" pitchFamily="18" charset="0"/>
              </a:rPr>
              <a:t>vmPFC</a:t>
            </a:r>
            <a:r>
              <a:rPr lang="en-US" i="1" dirty="0">
                <a:solidFill>
                  <a:schemeClr val="bg1"/>
                </a:solidFill>
                <a:latin typeface="Arial" panose="020B0604020202020204" pitchFamily="34" charset="0"/>
                <a:ea typeface="Times New Roman" panose="02020603050405020304" pitchFamily="18" charset="0"/>
              </a:rPr>
              <a:t>, </a:t>
            </a:r>
            <a:r>
              <a:rPr lang="en-US" b="1" i="1" dirty="0">
                <a:solidFill>
                  <a:schemeClr val="bg1"/>
                </a:solidFill>
                <a:latin typeface="Arial" panose="020B0604020202020204" pitchFamily="34" charset="0"/>
                <a:ea typeface="Times New Roman" panose="02020603050405020304" pitchFamily="18" charset="0"/>
              </a:rPr>
              <a:t>B</a:t>
            </a:r>
            <a:r>
              <a:rPr lang="en-US" i="1" dirty="0">
                <a:solidFill>
                  <a:schemeClr val="bg1"/>
                </a:solidFill>
                <a:latin typeface="Arial" panose="020B0604020202020204" pitchFamily="34" charset="0"/>
                <a:ea typeface="Times New Roman" panose="02020603050405020304" pitchFamily="18" charset="0"/>
              </a:rPr>
              <a:t>) anterior </a:t>
            </a:r>
            <a:r>
              <a:rPr lang="en-US" i="1" dirty="0" err="1">
                <a:solidFill>
                  <a:schemeClr val="bg1"/>
                </a:solidFill>
                <a:latin typeface="Arial" panose="020B0604020202020204" pitchFamily="34" charset="0"/>
                <a:ea typeface="Times New Roman" panose="02020603050405020304" pitchFamily="18" charset="0"/>
              </a:rPr>
              <a:t>dACC</a:t>
            </a:r>
            <a:r>
              <a:rPr lang="en-US" i="1" dirty="0">
                <a:solidFill>
                  <a:schemeClr val="bg1"/>
                </a:solidFill>
                <a:latin typeface="Arial" panose="020B0604020202020204" pitchFamily="34" charset="0"/>
                <a:ea typeface="Times New Roman" panose="02020603050405020304" pitchFamily="18" charset="0"/>
              </a:rPr>
              <a:t>, </a:t>
            </a:r>
            <a:r>
              <a:rPr lang="en-US" b="1" i="1" dirty="0">
                <a:solidFill>
                  <a:schemeClr val="bg1"/>
                </a:solidFill>
                <a:latin typeface="Arial" panose="020B0604020202020204" pitchFamily="34" charset="0"/>
                <a:ea typeface="Times New Roman" panose="02020603050405020304" pitchFamily="18" charset="0"/>
              </a:rPr>
              <a:t>C</a:t>
            </a:r>
            <a:r>
              <a:rPr lang="en-US" i="1" dirty="0">
                <a:solidFill>
                  <a:schemeClr val="bg1"/>
                </a:solidFill>
                <a:latin typeface="Arial" panose="020B0604020202020204" pitchFamily="34" charset="0"/>
                <a:ea typeface="Times New Roman" panose="02020603050405020304" pitchFamily="18" charset="0"/>
              </a:rPr>
              <a:t>) posterior </a:t>
            </a:r>
            <a:r>
              <a:rPr lang="en-US" i="1" dirty="0" err="1">
                <a:solidFill>
                  <a:schemeClr val="bg1"/>
                </a:solidFill>
                <a:latin typeface="Arial" panose="020B0604020202020204" pitchFamily="34" charset="0"/>
                <a:ea typeface="Times New Roman" panose="02020603050405020304" pitchFamily="18" charset="0"/>
              </a:rPr>
              <a:t>dACC</a:t>
            </a:r>
            <a:r>
              <a:rPr lang="en-US" i="1" dirty="0">
                <a:solidFill>
                  <a:schemeClr val="bg1"/>
                </a:solidFill>
                <a:latin typeface="Arial" panose="020B0604020202020204" pitchFamily="34" charset="0"/>
                <a:ea typeface="Times New Roman" panose="02020603050405020304" pitchFamily="18" charset="0"/>
              </a:rPr>
              <a:t>, </a:t>
            </a:r>
            <a:r>
              <a:rPr lang="en-US" b="1" i="1" dirty="0">
                <a:solidFill>
                  <a:schemeClr val="bg1"/>
                </a:solidFill>
                <a:latin typeface="Arial" panose="020B0604020202020204" pitchFamily="34" charset="0"/>
                <a:ea typeface="Times New Roman" panose="02020603050405020304" pitchFamily="18" charset="0"/>
              </a:rPr>
              <a:t>D</a:t>
            </a:r>
            <a:r>
              <a:rPr lang="en-US" i="1" dirty="0">
                <a:solidFill>
                  <a:schemeClr val="bg1"/>
                </a:solidFill>
                <a:latin typeface="Arial" panose="020B0604020202020204" pitchFamily="34" charset="0"/>
                <a:ea typeface="Times New Roman" panose="02020603050405020304" pitchFamily="18" charset="0"/>
              </a:rPr>
              <a:t>) anterior insula, </a:t>
            </a:r>
            <a:r>
              <a:rPr lang="en-US" b="1" i="1" dirty="0">
                <a:solidFill>
                  <a:schemeClr val="bg1"/>
                </a:solidFill>
                <a:latin typeface="Arial" panose="020B0604020202020204" pitchFamily="34" charset="0"/>
                <a:ea typeface="Times New Roman" panose="02020603050405020304" pitchFamily="18" charset="0"/>
              </a:rPr>
              <a:t>E</a:t>
            </a:r>
            <a:r>
              <a:rPr lang="en-US" i="1" dirty="0">
                <a:solidFill>
                  <a:schemeClr val="bg1"/>
                </a:solidFill>
                <a:latin typeface="Arial" panose="020B0604020202020204" pitchFamily="34" charset="0"/>
                <a:ea typeface="Times New Roman" panose="02020603050405020304" pitchFamily="18" charset="0"/>
              </a:rPr>
              <a:t>) ventral striatum</a:t>
            </a:r>
            <a:endParaRPr lang="en-US" dirty="0"/>
          </a:p>
        </p:txBody>
      </p:sp>
      <p:sp>
        <p:nvSpPr>
          <p:cNvPr id="4" name="Slide Number Placeholder 3"/>
          <p:cNvSpPr>
            <a:spLocks noGrp="1"/>
          </p:cNvSpPr>
          <p:nvPr>
            <p:ph type="sldNum" sz="quarter" idx="5"/>
          </p:nvPr>
        </p:nvSpPr>
        <p:spPr/>
        <p:txBody>
          <a:bodyPr/>
          <a:lstStyle/>
          <a:p>
            <a:fld id="{D8F0058E-E8B8-464D-ACE2-6CD555DE59D0}" type="slidenum">
              <a:rPr lang="en-US" smtClean="0"/>
              <a:t>6</a:t>
            </a:fld>
            <a:endParaRPr lang="en-US"/>
          </a:p>
        </p:txBody>
      </p:sp>
    </p:spTree>
    <p:extLst>
      <p:ext uri="{BB962C8B-B14F-4D97-AF65-F5344CB8AC3E}">
        <p14:creationId xmlns:p14="http://schemas.microsoft.com/office/powerpoint/2010/main" val="1214261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D8391-A87C-6444-8638-315ABBC5A2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CE695-3F34-9C46-99C9-CFF3AD2E5C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127A94-C51B-AF45-A09A-BCF96903325B}"/>
              </a:ext>
            </a:extLst>
          </p:cNvPr>
          <p:cNvSpPr>
            <a:spLocks noGrp="1"/>
          </p:cNvSpPr>
          <p:nvPr>
            <p:ph type="dt" sz="half" idx="10"/>
          </p:nvPr>
        </p:nvSpPr>
        <p:spPr/>
        <p:txBody>
          <a:bodyPr/>
          <a:lstStyle/>
          <a:p>
            <a:fld id="{ED15E950-F34B-4C41-9601-A4D34660B058}" type="datetimeFigureOut">
              <a:rPr lang="en-US" smtClean="0"/>
              <a:t>9/12/25</a:t>
            </a:fld>
            <a:endParaRPr lang="en-US"/>
          </a:p>
        </p:txBody>
      </p:sp>
      <p:sp>
        <p:nvSpPr>
          <p:cNvPr id="5" name="Footer Placeholder 4">
            <a:extLst>
              <a:ext uri="{FF2B5EF4-FFF2-40B4-BE49-F238E27FC236}">
                <a16:creationId xmlns:a16="http://schemas.microsoft.com/office/drawing/2014/main" id="{9BD9943D-5600-3448-9D3C-2E25FDB3FF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353FAF-F70D-9241-86BE-916D1449C571}"/>
              </a:ext>
            </a:extLst>
          </p:cNvPr>
          <p:cNvSpPr>
            <a:spLocks noGrp="1"/>
          </p:cNvSpPr>
          <p:nvPr>
            <p:ph type="sldNum" sz="quarter" idx="12"/>
          </p:nvPr>
        </p:nvSpPr>
        <p:spPr/>
        <p:txBody>
          <a:bodyPr/>
          <a:lstStyle/>
          <a:p>
            <a:fld id="{340E598B-9913-4E4A-9FC4-B5FE769CE9C9}" type="slidenum">
              <a:rPr lang="en-US" smtClean="0"/>
              <a:t>‹#›</a:t>
            </a:fld>
            <a:endParaRPr lang="en-US"/>
          </a:p>
        </p:txBody>
      </p:sp>
    </p:spTree>
    <p:extLst>
      <p:ext uri="{BB962C8B-B14F-4D97-AF65-F5344CB8AC3E}">
        <p14:creationId xmlns:p14="http://schemas.microsoft.com/office/powerpoint/2010/main" val="1195439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C5085-A47A-CE46-BCF3-6D886BA0AC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1460DF-4435-CB4A-B7F0-415B51D88CD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0A0E25-9C65-DB4E-956D-4DEA4CA9974F}"/>
              </a:ext>
            </a:extLst>
          </p:cNvPr>
          <p:cNvSpPr>
            <a:spLocks noGrp="1"/>
          </p:cNvSpPr>
          <p:nvPr>
            <p:ph type="dt" sz="half" idx="10"/>
          </p:nvPr>
        </p:nvSpPr>
        <p:spPr/>
        <p:txBody>
          <a:bodyPr/>
          <a:lstStyle/>
          <a:p>
            <a:fld id="{ED15E950-F34B-4C41-9601-A4D34660B058}" type="datetimeFigureOut">
              <a:rPr lang="en-US" smtClean="0"/>
              <a:t>9/12/25</a:t>
            </a:fld>
            <a:endParaRPr lang="en-US"/>
          </a:p>
        </p:txBody>
      </p:sp>
      <p:sp>
        <p:nvSpPr>
          <p:cNvPr id="5" name="Footer Placeholder 4">
            <a:extLst>
              <a:ext uri="{FF2B5EF4-FFF2-40B4-BE49-F238E27FC236}">
                <a16:creationId xmlns:a16="http://schemas.microsoft.com/office/drawing/2014/main" id="{BBDA7C44-F589-864D-B7D3-5D719718E5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833424-3F3F-1147-A8DE-5CD9F46EFFDD}"/>
              </a:ext>
            </a:extLst>
          </p:cNvPr>
          <p:cNvSpPr>
            <a:spLocks noGrp="1"/>
          </p:cNvSpPr>
          <p:nvPr>
            <p:ph type="sldNum" sz="quarter" idx="12"/>
          </p:nvPr>
        </p:nvSpPr>
        <p:spPr/>
        <p:txBody>
          <a:bodyPr/>
          <a:lstStyle/>
          <a:p>
            <a:fld id="{340E598B-9913-4E4A-9FC4-B5FE769CE9C9}" type="slidenum">
              <a:rPr lang="en-US" smtClean="0"/>
              <a:t>‹#›</a:t>
            </a:fld>
            <a:endParaRPr lang="en-US"/>
          </a:p>
        </p:txBody>
      </p:sp>
    </p:spTree>
    <p:extLst>
      <p:ext uri="{BB962C8B-B14F-4D97-AF65-F5344CB8AC3E}">
        <p14:creationId xmlns:p14="http://schemas.microsoft.com/office/powerpoint/2010/main" val="88655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AE629-0E3D-674B-B11C-BE54DB0A53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79467D-4085-784C-B33A-680306B724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C46AE1B-6405-834E-B934-A13126FEB17A}"/>
              </a:ext>
            </a:extLst>
          </p:cNvPr>
          <p:cNvSpPr>
            <a:spLocks noGrp="1"/>
          </p:cNvSpPr>
          <p:nvPr>
            <p:ph type="dt" sz="half" idx="10"/>
          </p:nvPr>
        </p:nvSpPr>
        <p:spPr/>
        <p:txBody>
          <a:bodyPr/>
          <a:lstStyle/>
          <a:p>
            <a:fld id="{ED15E950-F34B-4C41-9601-A4D34660B058}" type="datetimeFigureOut">
              <a:rPr lang="en-US" smtClean="0"/>
              <a:t>9/12/25</a:t>
            </a:fld>
            <a:endParaRPr lang="en-US"/>
          </a:p>
        </p:txBody>
      </p:sp>
      <p:sp>
        <p:nvSpPr>
          <p:cNvPr id="5" name="Footer Placeholder 4">
            <a:extLst>
              <a:ext uri="{FF2B5EF4-FFF2-40B4-BE49-F238E27FC236}">
                <a16:creationId xmlns:a16="http://schemas.microsoft.com/office/drawing/2014/main" id="{23578955-014E-5F42-84AF-FA29848BFA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B82348-4B09-464E-B532-C598FD7B093C}"/>
              </a:ext>
            </a:extLst>
          </p:cNvPr>
          <p:cNvSpPr>
            <a:spLocks noGrp="1"/>
          </p:cNvSpPr>
          <p:nvPr>
            <p:ph type="sldNum" sz="quarter" idx="12"/>
          </p:nvPr>
        </p:nvSpPr>
        <p:spPr/>
        <p:txBody>
          <a:bodyPr/>
          <a:lstStyle/>
          <a:p>
            <a:fld id="{340E598B-9913-4E4A-9FC4-B5FE769CE9C9}" type="slidenum">
              <a:rPr lang="en-US" smtClean="0"/>
              <a:t>‹#›</a:t>
            </a:fld>
            <a:endParaRPr lang="en-US"/>
          </a:p>
        </p:txBody>
      </p:sp>
    </p:spTree>
    <p:extLst>
      <p:ext uri="{BB962C8B-B14F-4D97-AF65-F5344CB8AC3E}">
        <p14:creationId xmlns:p14="http://schemas.microsoft.com/office/powerpoint/2010/main" val="410724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B7084-86C8-A442-AECD-A720941F77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0969A8-9C5C-2547-9720-CC93B56F7DE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1A22D7-96E9-FB48-AC8F-F8A1FB28902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AFAB5E-6D4D-E443-92C9-EFB1522A1B67}"/>
              </a:ext>
            </a:extLst>
          </p:cNvPr>
          <p:cNvSpPr>
            <a:spLocks noGrp="1"/>
          </p:cNvSpPr>
          <p:nvPr>
            <p:ph type="dt" sz="half" idx="10"/>
          </p:nvPr>
        </p:nvSpPr>
        <p:spPr/>
        <p:txBody>
          <a:bodyPr/>
          <a:lstStyle/>
          <a:p>
            <a:fld id="{ED15E950-F34B-4C41-9601-A4D34660B058}" type="datetimeFigureOut">
              <a:rPr lang="en-US" smtClean="0"/>
              <a:t>9/12/25</a:t>
            </a:fld>
            <a:endParaRPr lang="en-US"/>
          </a:p>
        </p:txBody>
      </p:sp>
      <p:sp>
        <p:nvSpPr>
          <p:cNvPr id="6" name="Footer Placeholder 5">
            <a:extLst>
              <a:ext uri="{FF2B5EF4-FFF2-40B4-BE49-F238E27FC236}">
                <a16:creationId xmlns:a16="http://schemas.microsoft.com/office/drawing/2014/main" id="{6A64DCD2-9D32-1B4B-AB7A-AC979A2497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2D4BAA-09DC-CB45-9368-429BC4E02E89}"/>
              </a:ext>
            </a:extLst>
          </p:cNvPr>
          <p:cNvSpPr>
            <a:spLocks noGrp="1"/>
          </p:cNvSpPr>
          <p:nvPr>
            <p:ph type="sldNum" sz="quarter" idx="12"/>
          </p:nvPr>
        </p:nvSpPr>
        <p:spPr/>
        <p:txBody>
          <a:bodyPr/>
          <a:lstStyle/>
          <a:p>
            <a:fld id="{340E598B-9913-4E4A-9FC4-B5FE769CE9C9}" type="slidenum">
              <a:rPr lang="en-US" smtClean="0"/>
              <a:t>‹#›</a:t>
            </a:fld>
            <a:endParaRPr lang="en-US"/>
          </a:p>
        </p:txBody>
      </p:sp>
    </p:spTree>
    <p:extLst>
      <p:ext uri="{BB962C8B-B14F-4D97-AF65-F5344CB8AC3E}">
        <p14:creationId xmlns:p14="http://schemas.microsoft.com/office/powerpoint/2010/main" val="3897775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1F8CE-094A-7749-801D-2B1D7B1BB9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0BBCE2-F44E-CB4D-BCEC-B2CEFC3AD2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661741D-7F9D-324E-A1DC-602618303F3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47EF71-B5FD-CF43-860F-C1539F84F1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2A20856-C716-A24E-AA3D-A95330DF3FA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E0E8BC-B37F-F642-A6E7-88936AAC124C}"/>
              </a:ext>
            </a:extLst>
          </p:cNvPr>
          <p:cNvSpPr>
            <a:spLocks noGrp="1"/>
          </p:cNvSpPr>
          <p:nvPr>
            <p:ph type="dt" sz="half" idx="10"/>
          </p:nvPr>
        </p:nvSpPr>
        <p:spPr/>
        <p:txBody>
          <a:bodyPr/>
          <a:lstStyle/>
          <a:p>
            <a:fld id="{ED15E950-F34B-4C41-9601-A4D34660B058}" type="datetimeFigureOut">
              <a:rPr lang="en-US" smtClean="0"/>
              <a:t>9/12/25</a:t>
            </a:fld>
            <a:endParaRPr lang="en-US"/>
          </a:p>
        </p:txBody>
      </p:sp>
      <p:sp>
        <p:nvSpPr>
          <p:cNvPr id="8" name="Footer Placeholder 7">
            <a:extLst>
              <a:ext uri="{FF2B5EF4-FFF2-40B4-BE49-F238E27FC236}">
                <a16:creationId xmlns:a16="http://schemas.microsoft.com/office/drawing/2014/main" id="{8E2D9073-4BFD-394F-A910-F7897AE226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8F62DC6-790A-EF42-86C0-C72C3605F766}"/>
              </a:ext>
            </a:extLst>
          </p:cNvPr>
          <p:cNvSpPr>
            <a:spLocks noGrp="1"/>
          </p:cNvSpPr>
          <p:nvPr>
            <p:ph type="sldNum" sz="quarter" idx="12"/>
          </p:nvPr>
        </p:nvSpPr>
        <p:spPr/>
        <p:txBody>
          <a:bodyPr/>
          <a:lstStyle/>
          <a:p>
            <a:fld id="{340E598B-9913-4E4A-9FC4-B5FE769CE9C9}" type="slidenum">
              <a:rPr lang="en-US" smtClean="0"/>
              <a:t>‹#›</a:t>
            </a:fld>
            <a:endParaRPr lang="en-US"/>
          </a:p>
        </p:txBody>
      </p:sp>
    </p:spTree>
    <p:extLst>
      <p:ext uri="{BB962C8B-B14F-4D97-AF65-F5344CB8AC3E}">
        <p14:creationId xmlns:p14="http://schemas.microsoft.com/office/powerpoint/2010/main" val="1909347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E35E0-943A-BE48-AF46-EA72053738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8B2D-8A19-1647-A207-B5925C995718}"/>
              </a:ext>
            </a:extLst>
          </p:cNvPr>
          <p:cNvSpPr>
            <a:spLocks noGrp="1"/>
          </p:cNvSpPr>
          <p:nvPr>
            <p:ph type="dt" sz="half" idx="10"/>
          </p:nvPr>
        </p:nvSpPr>
        <p:spPr/>
        <p:txBody>
          <a:bodyPr/>
          <a:lstStyle/>
          <a:p>
            <a:fld id="{ED15E950-F34B-4C41-9601-A4D34660B058}" type="datetimeFigureOut">
              <a:rPr lang="en-US" smtClean="0"/>
              <a:t>9/12/25</a:t>
            </a:fld>
            <a:endParaRPr lang="en-US"/>
          </a:p>
        </p:txBody>
      </p:sp>
      <p:sp>
        <p:nvSpPr>
          <p:cNvPr id="4" name="Footer Placeholder 3">
            <a:extLst>
              <a:ext uri="{FF2B5EF4-FFF2-40B4-BE49-F238E27FC236}">
                <a16:creationId xmlns:a16="http://schemas.microsoft.com/office/drawing/2014/main" id="{2EA28DB3-4446-284F-8B6F-0536657605E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827AE4-FFAC-8545-8592-49DE9659DBE2}"/>
              </a:ext>
            </a:extLst>
          </p:cNvPr>
          <p:cNvSpPr>
            <a:spLocks noGrp="1"/>
          </p:cNvSpPr>
          <p:nvPr>
            <p:ph type="sldNum" sz="quarter" idx="12"/>
          </p:nvPr>
        </p:nvSpPr>
        <p:spPr/>
        <p:txBody>
          <a:bodyPr/>
          <a:lstStyle/>
          <a:p>
            <a:fld id="{340E598B-9913-4E4A-9FC4-B5FE769CE9C9}" type="slidenum">
              <a:rPr lang="en-US" smtClean="0"/>
              <a:t>‹#›</a:t>
            </a:fld>
            <a:endParaRPr lang="en-US"/>
          </a:p>
        </p:txBody>
      </p:sp>
    </p:spTree>
    <p:extLst>
      <p:ext uri="{BB962C8B-B14F-4D97-AF65-F5344CB8AC3E}">
        <p14:creationId xmlns:p14="http://schemas.microsoft.com/office/powerpoint/2010/main" val="202129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864B31-DCED-DD48-9BCF-C228BF5167FE}"/>
              </a:ext>
            </a:extLst>
          </p:cNvPr>
          <p:cNvSpPr>
            <a:spLocks noGrp="1"/>
          </p:cNvSpPr>
          <p:nvPr>
            <p:ph type="dt" sz="half" idx="10"/>
          </p:nvPr>
        </p:nvSpPr>
        <p:spPr/>
        <p:txBody>
          <a:bodyPr/>
          <a:lstStyle/>
          <a:p>
            <a:fld id="{ED15E950-F34B-4C41-9601-A4D34660B058}" type="datetimeFigureOut">
              <a:rPr lang="en-US" smtClean="0"/>
              <a:t>9/12/25</a:t>
            </a:fld>
            <a:endParaRPr lang="en-US"/>
          </a:p>
        </p:txBody>
      </p:sp>
      <p:sp>
        <p:nvSpPr>
          <p:cNvPr id="3" name="Footer Placeholder 2">
            <a:extLst>
              <a:ext uri="{FF2B5EF4-FFF2-40B4-BE49-F238E27FC236}">
                <a16:creationId xmlns:a16="http://schemas.microsoft.com/office/drawing/2014/main" id="{62687D32-D7F1-014C-B9E7-586018FA2C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544B99-62D6-5441-850F-5BB1FE17F2B1}"/>
              </a:ext>
            </a:extLst>
          </p:cNvPr>
          <p:cNvSpPr>
            <a:spLocks noGrp="1"/>
          </p:cNvSpPr>
          <p:nvPr>
            <p:ph type="sldNum" sz="quarter" idx="12"/>
          </p:nvPr>
        </p:nvSpPr>
        <p:spPr/>
        <p:txBody>
          <a:bodyPr/>
          <a:lstStyle/>
          <a:p>
            <a:fld id="{340E598B-9913-4E4A-9FC4-B5FE769CE9C9}" type="slidenum">
              <a:rPr lang="en-US" smtClean="0"/>
              <a:t>‹#›</a:t>
            </a:fld>
            <a:endParaRPr lang="en-US"/>
          </a:p>
        </p:txBody>
      </p:sp>
    </p:spTree>
    <p:extLst>
      <p:ext uri="{BB962C8B-B14F-4D97-AF65-F5344CB8AC3E}">
        <p14:creationId xmlns:p14="http://schemas.microsoft.com/office/powerpoint/2010/main" val="2358410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6D8F5-7031-0041-86CC-21D7052688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FFABE3-AA0A-CC4D-86A0-10BF90524C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2B36E6-5C05-584D-B9D2-2DAF101386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5CEE764-7E98-B743-9F70-6D0484CDF179}"/>
              </a:ext>
            </a:extLst>
          </p:cNvPr>
          <p:cNvSpPr>
            <a:spLocks noGrp="1"/>
          </p:cNvSpPr>
          <p:nvPr>
            <p:ph type="dt" sz="half" idx="10"/>
          </p:nvPr>
        </p:nvSpPr>
        <p:spPr/>
        <p:txBody>
          <a:bodyPr/>
          <a:lstStyle/>
          <a:p>
            <a:fld id="{ED15E950-F34B-4C41-9601-A4D34660B058}" type="datetimeFigureOut">
              <a:rPr lang="en-US" smtClean="0"/>
              <a:t>9/12/25</a:t>
            </a:fld>
            <a:endParaRPr lang="en-US"/>
          </a:p>
        </p:txBody>
      </p:sp>
      <p:sp>
        <p:nvSpPr>
          <p:cNvPr id="6" name="Footer Placeholder 5">
            <a:extLst>
              <a:ext uri="{FF2B5EF4-FFF2-40B4-BE49-F238E27FC236}">
                <a16:creationId xmlns:a16="http://schemas.microsoft.com/office/drawing/2014/main" id="{D577E8A3-0877-F747-BD4A-CEA9E0EAAB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3156EF-7FA3-E644-A8E7-EB6703A5FCDD}"/>
              </a:ext>
            </a:extLst>
          </p:cNvPr>
          <p:cNvSpPr>
            <a:spLocks noGrp="1"/>
          </p:cNvSpPr>
          <p:nvPr>
            <p:ph type="sldNum" sz="quarter" idx="12"/>
          </p:nvPr>
        </p:nvSpPr>
        <p:spPr/>
        <p:txBody>
          <a:bodyPr/>
          <a:lstStyle/>
          <a:p>
            <a:fld id="{340E598B-9913-4E4A-9FC4-B5FE769CE9C9}" type="slidenum">
              <a:rPr lang="en-US" smtClean="0"/>
              <a:t>‹#›</a:t>
            </a:fld>
            <a:endParaRPr lang="en-US"/>
          </a:p>
        </p:txBody>
      </p:sp>
    </p:spTree>
    <p:extLst>
      <p:ext uri="{BB962C8B-B14F-4D97-AF65-F5344CB8AC3E}">
        <p14:creationId xmlns:p14="http://schemas.microsoft.com/office/powerpoint/2010/main" val="1765913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84D9C-3AC2-0144-A5F5-862762BFD5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69566E-40DD-F14C-BBE5-2206D7B053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CCBC5C-B3A3-5F40-932A-C6453E8DA6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BB5B6EF-FA06-ED41-B27A-1B95615302E8}"/>
              </a:ext>
            </a:extLst>
          </p:cNvPr>
          <p:cNvSpPr>
            <a:spLocks noGrp="1"/>
          </p:cNvSpPr>
          <p:nvPr>
            <p:ph type="dt" sz="half" idx="10"/>
          </p:nvPr>
        </p:nvSpPr>
        <p:spPr/>
        <p:txBody>
          <a:bodyPr/>
          <a:lstStyle/>
          <a:p>
            <a:fld id="{ED15E950-F34B-4C41-9601-A4D34660B058}" type="datetimeFigureOut">
              <a:rPr lang="en-US" smtClean="0"/>
              <a:t>9/12/25</a:t>
            </a:fld>
            <a:endParaRPr lang="en-US"/>
          </a:p>
        </p:txBody>
      </p:sp>
      <p:sp>
        <p:nvSpPr>
          <p:cNvPr id="6" name="Footer Placeholder 5">
            <a:extLst>
              <a:ext uri="{FF2B5EF4-FFF2-40B4-BE49-F238E27FC236}">
                <a16:creationId xmlns:a16="http://schemas.microsoft.com/office/drawing/2014/main" id="{779C140B-72D0-7E4C-BF35-F3E193EAF9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E57829-1BA8-4C42-A2AC-B0C1EB3876AC}"/>
              </a:ext>
            </a:extLst>
          </p:cNvPr>
          <p:cNvSpPr>
            <a:spLocks noGrp="1"/>
          </p:cNvSpPr>
          <p:nvPr>
            <p:ph type="sldNum" sz="quarter" idx="12"/>
          </p:nvPr>
        </p:nvSpPr>
        <p:spPr/>
        <p:txBody>
          <a:bodyPr/>
          <a:lstStyle/>
          <a:p>
            <a:fld id="{340E598B-9913-4E4A-9FC4-B5FE769CE9C9}" type="slidenum">
              <a:rPr lang="en-US" smtClean="0"/>
              <a:t>‹#›</a:t>
            </a:fld>
            <a:endParaRPr lang="en-US"/>
          </a:p>
        </p:txBody>
      </p:sp>
    </p:spTree>
    <p:extLst>
      <p:ext uri="{BB962C8B-B14F-4D97-AF65-F5344CB8AC3E}">
        <p14:creationId xmlns:p14="http://schemas.microsoft.com/office/powerpoint/2010/main" val="3969741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662F7-146E-224D-A35E-3BBB45CD60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FEEB04-2F91-904C-A193-2326933678E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D0B20C-946F-4443-AE2B-B3170C9E70E0}"/>
              </a:ext>
            </a:extLst>
          </p:cNvPr>
          <p:cNvSpPr>
            <a:spLocks noGrp="1"/>
          </p:cNvSpPr>
          <p:nvPr>
            <p:ph type="dt" sz="half" idx="10"/>
          </p:nvPr>
        </p:nvSpPr>
        <p:spPr/>
        <p:txBody>
          <a:bodyPr/>
          <a:lstStyle/>
          <a:p>
            <a:fld id="{ED15E950-F34B-4C41-9601-A4D34660B058}" type="datetimeFigureOut">
              <a:rPr lang="en-US" smtClean="0"/>
              <a:t>9/12/25</a:t>
            </a:fld>
            <a:endParaRPr lang="en-US"/>
          </a:p>
        </p:txBody>
      </p:sp>
      <p:sp>
        <p:nvSpPr>
          <p:cNvPr id="5" name="Footer Placeholder 4">
            <a:extLst>
              <a:ext uri="{FF2B5EF4-FFF2-40B4-BE49-F238E27FC236}">
                <a16:creationId xmlns:a16="http://schemas.microsoft.com/office/drawing/2014/main" id="{FF52BF20-41C5-DB45-95DA-7702733D59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BC8758-6B1F-4541-838A-5E08961F4843}"/>
              </a:ext>
            </a:extLst>
          </p:cNvPr>
          <p:cNvSpPr>
            <a:spLocks noGrp="1"/>
          </p:cNvSpPr>
          <p:nvPr>
            <p:ph type="sldNum" sz="quarter" idx="12"/>
          </p:nvPr>
        </p:nvSpPr>
        <p:spPr/>
        <p:txBody>
          <a:bodyPr/>
          <a:lstStyle/>
          <a:p>
            <a:fld id="{340E598B-9913-4E4A-9FC4-B5FE769CE9C9}" type="slidenum">
              <a:rPr lang="en-US" smtClean="0"/>
              <a:t>‹#›</a:t>
            </a:fld>
            <a:endParaRPr lang="en-US"/>
          </a:p>
        </p:txBody>
      </p:sp>
    </p:spTree>
    <p:extLst>
      <p:ext uri="{BB962C8B-B14F-4D97-AF65-F5344CB8AC3E}">
        <p14:creationId xmlns:p14="http://schemas.microsoft.com/office/powerpoint/2010/main" val="3498292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E0609F-6510-3343-B4DE-7ECB03DC22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AA6E53E-F80E-CA46-813A-D438C340676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32216-ED42-AD4E-9F74-6E3CD385C3E2}"/>
              </a:ext>
            </a:extLst>
          </p:cNvPr>
          <p:cNvSpPr>
            <a:spLocks noGrp="1"/>
          </p:cNvSpPr>
          <p:nvPr>
            <p:ph type="dt" sz="half" idx="10"/>
          </p:nvPr>
        </p:nvSpPr>
        <p:spPr/>
        <p:txBody>
          <a:bodyPr/>
          <a:lstStyle/>
          <a:p>
            <a:fld id="{ED15E950-F34B-4C41-9601-A4D34660B058}" type="datetimeFigureOut">
              <a:rPr lang="en-US" smtClean="0"/>
              <a:t>9/12/25</a:t>
            </a:fld>
            <a:endParaRPr lang="en-US"/>
          </a:p>
        </p:txBody>
      </p:sp>
      <p:sp>
        <p:nvSpPr>
          <p:cNvPr id="5" name="Footer Placeholder 4">
            <a:extLst>
              <a:ext uri="{FF2B5EF4-FFF2-40B4-BE49-F238E27FC236}">
                <a16:creationId xmlns:a16="http://schemas.microsoft.com/office/drawing/2014/main" id="{B8C988F3-0F74-E248-880F-C30F9CE962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3E851F-633B-6247-9656-B916C008D588}"/>
              </a:ext>
            </a:extLst>
          </p:cNvPr>
          <p:cNvSpPr>
            <a:spLocks noGrp="1"/>
          </p:cNvSpPr>
          <p:nvPr>
            <p:ph type="sldNum" sz="quarter" idx="12"/>
          </p:nvPr>
        </p:nvSpPr>
        <p:spPr/>
        <p:txBody>
          <a:bodyPr/>
          <a:lstStyle/>
          <a:p>
            <a:fld id="{340E598B-9913-4E4A-9FC4-B5FE769CE9C9}" type="slidenum">
              <a:rPr lang="en-US" smtClean="0"/>
              <a:t>‹#›</a:t>
            </a:fld>
            <a:endParaRPr lang="en-US"/>
          </a:p>
        </p:txBody>
      </p:sp>
    </p:spTree>
    <p:extLst>
      <p:ext uri="{BB962C8B-B14F-4D97-AF65-F5344CB8AC3E}">
        <p14:creationId xmlns:p14="http://schemas.microsoft.com/office/powerpoint/2010/main" val="378047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52683-59A8-8541-9572-398DA34047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FC7C81-7E7B-3840-B54F-2938F3C8CB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3247C2-FFC1-0843-9EBA-D6FCA02921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15E950-F34B-4C41-9601-A4D34660B058}" type="datetimeFigureOut">
              <a:rPr lang="en-US" smtClean="0"/>
              <a:t>9/12/25</a:t>
            </a:fld>
            <a:endParaRPr lang="en-US"/>
          </a:p>
        </p:txBody>
      </p:sp>
      <p:sp>
        <p:nvSpPr>
          <p:cNvPr id="5" name="Footer Placeholder 4">
            <a:extLst>
              <a:ext uri="{FF2B5EF4-FFF2-40B4-BE49-F238E27FC236}">
                <a16:creationId xmlns:a16="http://schemas.microsoft.com/office/drawing/2014/main" id="{3566B235-D7C4-1A4E-A5BE-A1BD8C9E5E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F3D73AE-8E09-2746-AA16-5921736A36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0E598B-9913-4E4A-9FC4-B5FE769CE9C9}" type="slidenum">
              <a:rPr lang="en-US" smtClean="0"/>
              <a:t>‹#›</a:t>
            </a:fld>
            <a:endParaRPr lang="en-US"/>
          </a:p>
        </p:txBody>
      </p:sp>
    </p:spTree>
    <p:extLst>
      <p:ext uri="{BB962C8B-B14F-4D97-AF65-F5344CB8AC3E}">
        <p14:creationId xmlns:p14="http://schemas.microsoft.com/office/powerpoint/2010/main" val="6067502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33_24214D4D.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image" Target="../media/image12.emf"/></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34_A28395F3.xm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1.emf"/></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microsoft.com/office/2018/10/relationships/comments" Target="../comments/modernComment_100_3D0E651B.xml"/><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0F9C65CF-5B6F-EE4E-9917-A670AC8435AF}"/>
              </a:ext>
            </a:extLst>
          </p:cNvPr>
          <p:cNvPicPr>
            <a:picLocks noChangeAspect="1"/>
          </p:cNvPicPr>
          <p:nvPr/>
        </p:nvPicPr>
        <p:blipFill>
          <a:blip r:embed="rId3"/>
          <a:stretch>
            <a:fillRect/>
          </a:stretch>
        </p:blipFill>
        <p:spPr>
          <a:xfrm>
            <a:off x="336103" y="684135"/>
            <a:ext cx="445123" cy="914400"/>
          </a:xfrm>
          <a:prstGeom prst="rect">
            <a:avLst/>
          </a:prstGeom>
        </p:spPr>
      </p:pic>
      <p:pic>
        <p:nvPicPr>
          <p:cNvPr id="33" name="Content Placeholder 4">
            <a:extLst>
              <a:ext uri="{FF2B5EF4-FFF2-40B4-BE49-F238E27FC236}">
                <a16:creationId xmlns:a16="http://schemas.microsoft.com/office/drawing/2014/main" id="{276D872B-032B-3F44-A95A-1E68AB5AC86B}"/>
              </a:ext>
            </a:extLst>
          </p:cNvPr>
          <p:cNvPicPr>
            <a:picLocks noChangeAspect="1"/>
          </p:cNvPicPr>
          <p:nvPr/>
        </p:nvPicPr>
        <p:blipFill>
          <a:blip r:embed="rId4"/>
          <a:stretch>
            <a:fillRect/>
          </a:stretch>
        </p:blipFill>
        <p:spPr>
          <a:xfrm>
            <a:off x="333555" y="530642"/>
            <a:ext cx="4283624" cy="2387228"/>
          </a:xfrm>
          <a:prstGeom prst="rect">
            <a:avLst/>
          </a:prstGeom>
        </p:spPr>
      </p:pic>
      <p:sp>
        <p:nvSpPr>
          <p:cNvPr id="41" name="Rectangle 40">
            <a:extLst>
              <a:ext uri="{FF2B5EF4-FFF2-40B4-BE49-F238E27FC236}">
                <a16:creationId xmlns:a16="http://schemas.microsoft.com/office/drawing/2014/main" id="{1FE34FC8-1EFF-B74D-8BE0-552E860F5F63}"/>
              </a:ext>
            </a:extLst>
          </p:cNvPr>
          <p:cNvSpPr/>
          <p:nvPr/>
        </p:nvSpPr>
        <p:spPr>
          <a:xfrm>
            <a:off x="343536" y="2908645"/>
            <a:ext cx="4200469" cy="71017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0FBD5613-3F1D-4C44-8F57-AB5F6CD108E9}"/>
              </a:ext>
            </a:extLst>
          </p:cNvPr>
          <p:cNvSpPr/>
          <p:nvPr/>
        </p:nvSpPr>
        <p:spPr>
          <a:xfrm>
            <a:off x="339067" y="537177"/>
            <a:ext cx="4272203" cy="457019"/>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They will say something….</a:t>
            </a:r>
          </a:p>
        </p:txBody>
      </p:sp>
      <p:sp>
        <p:nvSpPr>
          <p:cNvPr id="45" name="Rounded Rectangle 44">
            <a:extLst>
              <a:ext uri="{FF2B5EF4-FFF2-40B4-BE49-F238E27FC236}">
                <a16:creationId xmlns:a16="http://schemas.microsoft.com/office/drawing/2014/main" id="{7ADB5B9F-4B95-5544-AEA1-B5590F80366F}"/>
              </a:ext>
            </a:extLst>
          </p:cNvPr>
          <p:cNvSpPr/>
          <p:nvPr/>
        </p:nvSpPr>
        <p:spPr>
          <a:xfrm>
            <a:off x="1118881" y="3019509"/>
            <a:ext cx="867094" cy="494495"/>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rPr>
              <a:t>Mean</a:t>
            </a:r>
            <a:endParaRPr lang="en-US" sz="2000" b="1" dirty="0">
              <a:solidFill>
                <a:schemeClr val="tx1"/>
              </a:solidFill>
            </a:endParaRPr>
          </a:p>
        </p:txBody>
      </p:sp>
      <p:sp>
        <p:nvSpPr>
          <p:cNvPr id="46" name="Rounded Rectangle 45">
            <a:extLst>
              <a:ext uri="{FF2B5EF4-FFF2-40B4-BE49-F238E27FC236}">
                <a16:creationId xmlns:a16="http://schemas.microsoft.com/office/drawing/2014/main" id="{18EEFCDA-DEB4-B445-A3EE-0D43BBDCE82B}"/>
              </a:ext>
            </a:extLst>
          </p:cNvPr>
          <p:cNvSpPr/>
          <p:nvPr/>
        </p:nvSpPr>
        <p:spPr>
          <a:xfrm>
            <a:off x="2797463" y="2998482"/>
            <a:ext cx="867094" cy="494495"/>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rPr>
              <a:t>Nice</a:t>
            </a:r>
            <a:endParaRPr lang="en-US" sz="2000" b="1" dirty="0">
              <a:solidFill>
                <a:schemeClr val="tx1"/>
              </a:solidFill>
            </a:endParaRPr>
          </a:p>
        </p:txBody>
      </p:sp>
      <p:sp>
        <p:nvSpPr>
          <p:cNvPr id="103" name="TextBox 102">
            <a:extLst>
              <a:ext uri="{FF2B5EF4-FFF2-40B4-BE49-F238E27FC236}">
                <a16:creationId xmlns:a16="http://schemas.microsoft.com/office/drawing/2014/main" id="{873935CF-1C1D-E94B-98BE-96201B712C6F}"/>
              </a:ext>
            </a:extLst>
          </p:cNvPr>
          <p:cNvSpPr txBox="1"/>
          <p:nvPr/>
        </p:nvSpPr>
        <p:spPr>
          <a:xfrm>
            <a:off x="1055905" y="3666808"/>
            <a:ext cx="2569738" cy="584775"/>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Prediction</a:t>
            </a:r>
          </a:p>
          <a:p>
            <a:pPr algn="ctr"/>
            <a:r>
              <a:rPr lang="en-US" sz="1400" b="1" dirty="0">
                <a:latin typeface="Arial" panose="020B0604020202020204" pitchFamily="34" charset="0"/>
                <a:cs typeface="Arial" panose="020B0604020202020204" pitchFamily="34" charset="0"/>
              </a:rPr>
              <a:t>4 seconds</a:t>
            </a:r>
          </a:p>
        </p:txBody>
      </p:sp>
      <p:sp>
        <p:nvSpPr>
          <p:cNvPr id="105" name="TextBox 104">
            <a:extLst>
              <a:ext uri="{FF2B5EF4-FFF2-40B4-BE49-F238E27FC236}">
                <a16:creationId xmlns:a16="http://schemas.microsoft.com/office/drawing/2014/main" id="{6E343A60-53EF-954D-AC05-BDE8C343CF1E}"/>
              </a:ext>
            </a:extLst>
          </p:cNvPr>
          <p:cNvSpPr txBox="1"/>
          <p:nvPr/>
        </p:nvSpPr>
        <p:spPr>
          <a:xfrm>
            <a:off x="4931907" y="4933178"/>
            <a:ext cx="2569738" cy="584775"/>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Feedback</a:t>
            </a:r>
          </a:p>
          <a:p>
            <a:pPr algn="ctr"/>
            <a:r>
              <a:rPr lang="en-US" sz="1400" b="1" dirty="0">
                <a:latin typeface="Arial" panose="020B0604020202020204" pitchFamily="34" charset="0"/>
                <a:cs typeface="Arial" panose="020B0604020202020204" pitchFamily="34" charset="0"/>
              </a:rPr>
              <a:t>3 seconds</a:t>
            </a:r>
          </a:p>
        </p:txBody>
      </p:sp>
      <p:sp>
        <p:nvSpPr>
          <p:cNvPr id="70" name="TextBox 69">
            <a:extLst>
              <a:ext uri="{FF2B5EF4-FFF2-40B4-BE49-F238E27FC236}">
                <a16:creationId xmlns:a16="http://schemas.microsoft.com/office/drawing/2014/main" id="{DCECB8D8-15A8-354C-B2CA-0296E138CB32}"/>
              </a:ext>
            </a:extLst>
          </p:cNvPr>
          <p:cNvSpPr txBox="1"/>
          <p:nvPr/>
        </p:nvSpPr>
        <p:spPr>
          <a:xfrm>
            <a:off x="328265" y="482216"/>
            <a:ext cx="324128" cy="369332"/>
          </a:xfrm>
          <a:prstGeom prst="rect">
            <a:avLst/>
          </a:prstGeom>
          <a:noFill/>
        </p:spPr>
        <p:txBody>
          <a:bodyPr wrap="none" rtlCol="0">
            <a:spAutoFit/>
          </a:bodyPr>
          <a:lstStyle/>
          <a:p>
            <a:r>
              <a:rPr lang="en-US" b="1" dirty="0">
                <a:solidFill>
                  <a:schemeClr val="bg1"/>
                </a:solidFill>
              </a:rPr>
              <a:t>A</a:t>
            </a:r>
          </a:p>
        </p:txBody>
      </p:sp>
      <p:pic>
        <p:nvPicPr>
          <p:cNvPr id="47" name="Content Placeholder 4">
            <a:extLst>
              <a:ext uri="{FF2B5EF4-FFF2-40B4-BE49-F238E27FC236}">
                <a16:creationId xmlns:a16="http://schemas.microsoft.com/office/drawing/2014/main" id="{857A1F42-166B-8F4C-AC5B-8B8E0E7C3640}"/>
              </a:ext>
            </a:extLst>
          </p:cNvPr>
          <p:cNvPicPr>
            <a:picLocks noChangeAspect="1"/>
          </p:cNvPicPr>
          <p:nvPr/>
        </p:nvPicPr>
        <p:blipFill>
          <a:blip r:embed="rId4"/>
          <a:stretch>
            <a:fillRect/>
          </a:stretch>
        </p:blipFill>
        <p:spPr>
          <a:xfrm>
            <a:off x="4048805" y="1806106"/>
            <a:ext cx="4283624" cy="2387228"/>
          </a:xfrm>
          <a:prstGeom prst="rect">
            <a:avLst/>
          </a:prstGeom>
          <a:ln w="111125">
            <a:noFill/>
          </a:ln>
          <a:effectLst/>
        </p:spPr>
      </p:pic>
      <p:pic>
        <p:nvPicPr>
          <p:cNvPr id="48" name="Picture 47">
            <a:extLst>
              <a:ext uri="{FF2B5EF4-FFF2-40B4-BE49-F238E27FC236}">
                <a16:creationId xmlns:a16="http://schemas.microsoft.com/office/drawing/2014/main" id="{110E3AAF-8410-9643-8095-B22069E40689}"/>
              </a:ext>
            </a:extLst>
          </p:cNvPr>
          <p:cNvPicPr>
            <a:picLocks/>
          </p:cNvPicPr>
          <p:nvPr/>
        </p:nvPicPr>
        <p:blipFill>
          <a:blip r:embed="rId5"/>
          <a:stretch>
            <a:fillRect/>
          </a:stretch>
        </p:blipFill>
        <p:spPr>
          <a:xfrm>
            <a:off x="5678173" y="2470861"/>
            <a:ext cx="691214" cy="440604"/>
          </a:xfrm>
          <a:prstGeom prst="rect">
            <a:avLst/>
          </a:prstGeom>
        </p:spPr>
      </p:pic>
      <p:pic>
        <p:nvPicPr>
          <p:cNvPr id="49" name="Picture 48">
            <a:extLst>
              <a:ext uri="{FF2B5EF4-FFF2-40B4-BE49-F238E27FC236}">
                <a16:creationId xmlns:a16="http://schemas.microsoft.com/office/drawing/2014/main" id="{BB4778CA-01EE-6B42-8CE8-D2D725230A16}"/>
              </a:ext>
            </a:extLst>
          </p:cNvPr>
          <p:cNvPicPr>
            <a:picLocks/>
          </p:cNvPicPr>
          <p:nvPr/>
        </p:nvPicPr>
        <p:blipFill>
          <a:blip r:embed="rId6"/>
          <a:stretch>
            <a:fillRect/>
          </a:stretch>
        </p:blipFill>
        <p:spPr>
          <a:xfrm>
            <a:off x="5144110" y="2492531"/>
            <a:ext cx="565558" cy="415201"/>
          </a:xfrm>
          <a:prstGeom prst="rect">
            <a:avLst/>
          </a:prstGeom>
        </p:spPr>
      </p:pic>
      <p:pic>
        <p:nvPicPr>
          <p:cNvPr id="50" name="Picture 49">
            <a:extLst>
              <a:ext uri="{FF2B5EF4-FFF2-40B4-BE49-F238E27FC236}">
                <a16:creationId xmlns:a16="http://schemas.microsoft.com/office/drawing/2014/main" id="{59074EC3-6D19-1049-849B-A3E8E2D32784}"/>
              </a:ext>
            </a:extLst>
          </p:cNvPr>
          <p:cNvPicPr>
            <a:picLocks/>
          </p:cNvPicPr>
          <p:nvPr/>
        </p:nvPicPr>
        <p:blipFill>
          <a:blip r:embed="rId7"/>
          <a:stretch>
            <a:fillRect/>
          </a:stretch>
        </p:blipFill>
        <p:spPr>
          <a:xfrm>
            <a:off x="4346969" y="2492509"/>
            <a:ext cx="769381" cy="415201"/>
          </a:xfrm>
          <a:prstGeom prst="rect">
            <a:avLst/>
          </a:prstGeom>
        </p:spPr>
      </p:pic>
      <p:sp>
        <p:nvSpPr>
          <p:cNvPr id="55" name="Rectangle 54">
            <a:extLst>
              <a:ext uri="{FF2B5EF4-FFF2-40B4-BE49-F238E27FC236}">
                <a16:creationId xmlns:a16="http://schemas.microsoft.com/office/drawing/2014/main" id="{6998A6D4-73C8-BC4A-A569-A043A4385E73}"/>
              </a:ext>
            </a:extLst>
          </p:cNvPr>
          <p:cNvSpPr/>
          <p:nvPr/>
        </p:nvSpPr>
        <p:spPr>
          <a:xfrm>
            <a:off x="4042877" y="4183115"/>
            <a:ext cx="4358367" cy="710170"/>
          </a:xfrm>
          <a:prstGeom prst="rect">
            <a:avLst/>
          </a:prstGeom>
          <a:solidFill>
            <a:schemeClr val="tx1"/>
          </a:solidFill>
          <a:ln w="952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6" name="TextBox 115">
            <a:extLst>
              <a:ext uri="{FF2B5EF4-FFF2-40B4-BE49-F238E27FC236}">
                <a16:creationId xmlns:a16="http://schemas.microsoft.com/office/drawing/2014/main" id="{C512E611-567D-764A-9BB8-762E57E2C9C5}"/>
              </a:ext>
            </a:extLst>
          </p:cNvPr>
          <p:cNvSpPr txBox="1"/>
          <p:nvPr/>
        </p:nvSpPr>
        <p:spPr>
          <a:xfrm>
            <a:off x="4070729" y="1872336"/>
            <a:ext cx="324128" cy="369332"/>
          </a:xfrm>
          <a:prstGeom prst="rect">
            <a:avLst/>
          </a:prstGeom>
          <a:noFill/>
        </p:spPr>
        <p:txBody>
          <a:bodyPr wrap="none" rtlCol="0">
            <a:spAutoFit/>
          </a:bodyPr>
          <a:lstStyle/>
          <a:p>
            <a:r>
              <a:rPr lang="en-US" b="1" dirty="0"/>
              <a:t>B</a:t>
            </a:r>
          </a:p>
        </p:txBody>
      </p:sp>
      <p:sp>
        <p:nvSpPr>
          <p:cNvPr id="118" name="Frame 117">
            <a:extLst>
              <a:ext uri="{FF2B5EF4-FFF2-40B4-BE49-F238E27FC236}">
                <a16:creationId xmlns:a16="http://schemas.microsoft.com/office/drawing/2014/main" id="{EE57E045-8CBB-C542-B3F7-4A777C700CCF}"/>
              </a:ext>
            </a:extLst>
          </p:cNvPr>
          <p:cNvSpPr/>
          <p:nvPr/>
        </p:nvSpPr>
        <p:spPr>
          <a:xfrm>
            <a:off x="3939469" y="1761197"/>
            <a:ext cx="4497858" cy="3150544"/>
          </a:xfrm>
          <a:prstGeom prst="frame">
            <a:avLst>
              <a:gd name="adj1" fmla="val 3971"/>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43" name="Group 142">
            <a:extLst>
              <a:ext uri="{FF2B5EF4-FFF2-40B4-BE49-F238E27FC236}">
                <a16:creationId xmlns:a16="http://schemas.microsoft.com/office/drawing/2014/main" id="{A79C0460-ABB7-994C-A20C-C86F421C7B1D}"/>
              </a:ext>
            </a:extLst>
          </p:cNvPr>
          <p:cNvGrpSpPr/>
          <p:nvPr/>
        </p:nvGrpSpPr>
        <p:grpSpPr>
          <a:xfrm>
            <a:off x="7550901" y="3070649"/>
            <a:ext cx="4323048" cy="3105802"/>
            <a:chOff x="1142371" y="816521"/>
            <a:chExt cx="4323048" cy="3105802"/>
          </a:xfrm>
        </p:grpSpPr>
        <p:grpSp>
          <p:nvGrpSpPr>
            <p:cNvPr id="144" name="Group 143">
              <a:extLst>
                <a:ext uri="{FF2B5EF4-FFF2-40B4-BE49-F238E27FC236}">
                  <a16:creationId xmlns:a16="http://schemas.microsoft.com/office/drawing/2014/main" id="{F0A12C96-C9DC-A340-B09D-592A78DE6BDA}"/>
                </a:ext>
              </a:extLst>
            </p:cNvPr>
            <p:cNvGrpSpPr/>
            <p:nvPr/>
          </p:nvGrpSpPr>
          <p:grpSpPr>
            <a:xfrm>
              <a:off x="1142371" y="816521"/>
              <a:ext cx="4323048" cy="3105802"/>
              <a:chOff x="4779485" y="1368548"/>
              <a:chExt cx="4323048" cy="3105802"/>
            </a:xfrm>
          </p:grpSpPr>
          <p:grpSp>
            <p:nvGrpSpPr>
              <p:cNvPr id="152" name="Group 151">
                <a:extLst>
                  <a:ext uri="{FF2B5EF4-FFF2-40B4-BE49-F238E27FC236}">
                    <a16:creationId xmlns:a16="http://schemas.microsoft.com/office/drawing/2014/main" id="{9B62848C-0F69-4546-B9E1-269E0760466C}"/>
                  </a:ext>
                </a:extLst>
              </p:cNvPr>
              <p:cNvGrpSpPr/>
              <p:nvPr/>
            </p:nvGrpSpPr>
            <p:grpSpPr>
              <a:xfrm>
                <a:off x="4779485" y="1368548"/>
                <a:ext cx="4323048" cy="2403665"/>
                <a:chOff x="5104022" y="-458776"/>
                <a:chExt cx="4323048" cy="2403665"/>
              </a:xfrm>
            </p:grpSpPr>
            <p:pic>
              <p:nvPicPr>
                <p:cNvPr id="154" name="Content Placeholder 4">
                  <a:extLst>
                    <a:ext uri="{FF2B5EF4-FFF2-40B4-BE49-F238E27FC236}">
                      <a16:creationId xmlns:a16="http://schemas.microsoft.com/office/drawing/2014/main" id="{7D500D2E-6F1B-4F4B-AB15-EA91B861473B}"/>
                    </a:ext>
                  </a:extLst>
                </p:cNvPr>
                <p:cNvPicPr>
                  <a:picLocks noChangeAspect="1"/>
                </p:cNvPicPr>
                <p:nvPr/>
              </p:nvPicPr>
              <p:blipFill>
                <a:blip r:embed="rId4"/>
                <a:stretch>
                  <a:fillRect/>
                </a:stretch>
              </p:blipFill>
              <p:spPr>
                <a:xfrm>
                  <a:off x="5143446" y="-442339"/>
                  <a:ext cx="4283624" cy="2387228"/>
                </a:xfrm>
                <a:prstGeom prst="rect">
                  <a:avLst/>
                </a:prstGeom>
              </p:spPr>
            </p:pic>
            <p:sp>
              <p:nvSpPr>
                <p:cNvPr id="165" name="TextBox 164">
                  <a:extLst>
                    <a:ext uri="{FF2B5EF4-FFF2-40B4-BE49-F238E27FC236}">
                      <a16:creationId xmlns:a16="http://schemas.microsoft.com/office/drawing/2014/main" id="{3F126175-09EB-DD42-825A-511A76496463}"/>
                    </a:ext>
                  </a:extLst>
                </p:cNvPr>
                <p:cNvSpPr txBox="1"/>
                <p:nvPr/>
              </p:nvSpPr>
              <p:spPr>
                <a:xfrm>
                  <a:off x="5104022" y="-458776"/>
                  <a:ext cx="306494" cy="369332"/>
                </a:xfrm>
                <a:prstGeom prst="rect">
                  <a:avLst/>
                </a:prstGeom>
                <a:noFill/>
              </p:spPr>
              <p:txBody>
                <a:bodyPr wrap="none" rtlCol="0">
                  <a:spAutoFit/>
                </a:bodyPr>
                <a:lstStyle/>
                <a:p>
                  <a:r>
                    <a:rPr lang="en-US" b="1" dirty="0"/>
                    <a:t>C</a:t>
                  </a:r>
                </a:p>
              </p:txBody>
            </p:sp>
          </p:grpSp>
          <p:sp>
            <p:nvSpPr>
              <p:cNvPr id="151" name="Rectangle 150">
                <a:extLst>
                  <a:ext uri="{FF2B5EF4-FFF2-40B4-BE49-F238E27FC236}">
                    <a16:creationId xmlns:a16="http://schemas.microsoft.com/office/drawing/2014/main" id="{85FDF855-061E-3343-A1CD-BC86EBC59E32}"/>
                  </a:ext>
                </a:extLst>
              </p:cNvPr>
              <p:cNvSpPr/>
              <p:nvPr/>
            </p:nvSpPr>
            <p:spPr>
              <a:xfrm>
                <a:off x="4826461" y="3764180"/>
                <a:ext cx="4264040" cy="71017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45" name="Rounded Rectangle 144">
              <a:extLst>
                <a:ext uri="{FF2B5EF4-FFF2-40B4-BE49-F238E27FC236}">
                  <a16:creationId xmlns:a16="http://schemas.microsoft.com/office/drawing/2014/main" id="{0ABA5577-FD93-BF48-8A75-747A24D0B5FB}"/>
                </a:ext>
              </a:extLst>
            </p:cNvPr>
            <p:cNvSpPr/>
            <p:nvPr/>
          </p:nvSpPr>
          <p:spPr>
            <a:xfrm>
              <a:off x="1505671" y="3324244"/>
              <a:ext cx="867094" cy="494495"/>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800"/>
                </a:lnSpc>
              </a:pPr>
              <a:r>
                <a:rPr lang="en-US" sz="1600" b="1" dirty="0">
                  <a:solidFill>
                    <a:schemeClr val="tx1"/>
                  </a:solidFill>
                </a:rPr>
                <a:t>You’re Mean</a:t>
              </a:r>
            </a:p>
          </p:txBody>
        </p:sp>
        <p:sp>
          <p:nvSpPr>
            <p:cNvPr id="147" name="Rounded Rectangle 146">
              <a:extLst>
                <a:ext uri="{FF2B5EF4-FFF2-40B4-BE49-F238E27FC236}">
                  <a16:creationId xmlns:a16="http://schemas.microsoft.com/office/drawing/2014/main" id="{D4B32855-4F86-1343-AF95-20486A1FA08A}"/>
                </a:ext>
              </a:extLst>
            </p:cNvPr>
            <p:cNvSpPr/>
            <p:nvPr/>
          </p:nvSpPr>
          <p:spPr>
            <a:xfrm>
              <a:off x="2476478" y="3321337"/>
              <a:ext cx="867094" cy="494495"/>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800"/>
                </a:lnSpc>
              </a:pPr>
              <a:r>
                <a:rPr lang="en-US" sz="1600" b="1" dirty="0">
                  <a:solidFill>
                    <a:schemeClr val="tx1"/>
                  </a:solidFill>
                </a:rPr>
                <a:t>You’re Wrong</a:t>
              </a:r>
            </a:p>
          </p:txBody>
        </p:sp>
        <p:sp>
          <p:nvSpPr>
            <p:cNvPr id="148" name="Rounded Rectangle 147">
              <a:extLst>
                <a:ext uri="{FF2B5EF4-FFF2-40B4-BE49-F238E27FC236}">
                  <a16:creationId xmlns:a16="http://schemas.microsoft.com/office/drawing/2014/main" id="{42BE5CF0-92F6-0044-86FE-B1213AB2D632}"/>
                </a:ext>
              </a:extLst>
            </p:cNvPr>
            <p:cNvSpPr/>
            <p:nvPr/>
          </p:nvSpPr>
          <p:spPr>
            <a:xfrm>
              <a:off x="3390411" y="3331019"/>
              <a:ext cx="867094" cy="494495"/>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800"/>
                </a:lnSpc>
              </a:pPr>
              <a:r>
                <a:rPr lang="en-US" sz="1600" b="1" dirty="0">
                  <a:solidFill>
                    <a:schemeClr val="tx1"/>
                  </a:solidFill>
                </a:rPr>
                <a:t>You’re Right</a:t>
              </a:r>
            </a:p>
          </p:txBody>
        </p:sp>
        <p:sp>
          <p:nvSpPr>
            <p:cNvPr id="149" name="Rounded Rectangle 148">
              <a:extLst>
                <a:ext uri="{FF2B5EF4-FFF2-40B4-BE49-F238E27FC236}">
                  <a16:creationId xmlns:a16="http://schemas.microsoft.com/office/drawing/2014/main" id="{EC791D72-89B6-7345-A26A-A2E0EB6E6CB5}"/>
                </a:ext>
              </a:extLst>
            </p:cNvPr>
            <p:cNvSpPr/>
            <p:nvPr/>
          </p:nvSpPr>
          <p:spPr>
            <a:xfrm>
              <a:off x="4304344" y="3331019"/>
              <a:ext cx="867094" cy="494495"/>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800"/>
                </a:lnSpc>
              </a:pPr>
              <a:r>
                <a:rPr lang="en-US" sz="1600" b="1" dirty="0">
                  <a:solidFill>
                    <a:schemeClr val="tx1"/>
                  </a:solidFill>
                </a:rPr>
                <a:t>You’re Nice</a:t>
              </a:r>
            </a:p>
          </p:txBody>
        </p:sp>
      </p:grpSp>
      <p:sp>
        <p:nvSpPr>
          <p:cNvPr id="166" name="TextBox 165">
            <a:extLst>
              <a:ext uri="{FF2B5EF4-FFF2-40B4-BE49-F238E27FC236}">
                <a16:creationId xmlns:a16="http://schemas.microsoft.com/office/drawing/2014/main" id="{608F8EFB-35A1-9946-BA3C-66DF5D9C9C8C}"/>
              </a:ext>
            </a:extLst>
          </p:cNvPr>
          <p:cNvSpPr txBox="1"/>
          <p:nvPr/>
        </p:nvSpPr>
        <p:spPr>
          <a:xfrm>
            <a:off x="8648094" y="6234892"/>
            <a:ext cx="2569738" cy="584775"/>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Response</a:t>
            </a:r>
          </a:p>
          <a:p>
            <a:pPr algn="ctr"/>
            <a:r>
              <a:rPr lang="en-US" sz="1400" b="1" dirty="0">
                <a:latin typeface="Arial" panose="020B0604020202020204" pitchFamily="34" charset="0"/>
                <a:cs typeface="Arial" panose="020B0604020202020204" pitchFamily="34" charset="0"/>
              </a:rPr>
              <a:t>4 seconds</a:t>
            </a:r>
          </a:p>
        </p:txBody>
      </p:sp>
      <p:sp>
        <p:nvSpPr>
          <p:cNvPr id="2" name="Rectangle 1">
            <a:extLst>
              <a:ext uri="{FF2B5EF4-FFF2-40B4-BE49-F238E27FC236}">
                <a16:creationId xmlns:a16="http://schemas.microsoft.com/office/drawing/2014/main" id="{B274C739-988F-B435-3269-B54178A0EFA0}"/>
              </a:ext>
            </a:extLst>
          </p:cNvPr>
          <p:cNvSpPr/>
          <p:nvPr/>
        </p:nvSpPr>
        <p:spPr>
          <a:xfrm>
            <a:off x="221790" y="78108"/>
            <a:ext cx="11737075" cy="369332"/>
          </a:xfrm>
          <a:prstGeom prst="rect">
            <a:avLst/>
          </a:prstGeom>
        </p:spPr>
        <p:txBody>
          <a:bodyPr wrap="square">
            <a:spAutoFit/>
          </a:bodyPr>
          <a:lstStyle/>
          <a:p>
            <a:pPr algn="just"/>
            <a:r>
              <a:rPr lang="en-US" b="1" dirty="0">
                <a:latin typeface="Arial" panose="020B0604020202020204" pitchFamily="34" charset="0"/>
                <a:ea typeface="Times New Roman" panose="02020603050405020304" pitchFamily="18" charset="0"/>
                <a:cs typeface="Arial" panose="020B0604020202020204" pitchFamily="34" charset="0"/>
              </a:rPr>
              <a:t>Figure 1. LEARN Task.</a:t>
            </a:r>
            <a:r>
              <a:rPr lang="en-US" dirty="0">
                <a:latin typeface="Arial" panose="020B0604020202020204" pitchFamily="34" charset="0"/>
                <a:ea typeface="Times New Roman" panose="02020603050405020304" pitchFamily="18" charset="0"/>
                <a:cs typeface="Arial" panose="020B0604020202020204" pitchFamily="34" charset="0"/>
              </a:rPr>
              <a:t> </a:t>
            </a:r>
            <a:endParaRPr lang="en-US" sz="28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14" name="Rounded Rectangle 13">
            <a:extLst>
              <a:ext uri="{FF2B5EF4-FFF2-40B4-BE49-F238E27FC236}">
                <a16:creationId xmlns:a16="http://schemas.microsoft.com/office/drawing/2014/main" id="{618AC9BE-D480-5698-F168-19475721D27A}"/>
              </a:ext>
            </a:extLst>
          </p:cNvPr>
          <p:cNvSpPr/>
          <p:nvPr/>
        </p:nvSpPr>
        <p:spPr>
          <a:xfrm>
            <a:off x="2810241" y="2989466"/>
            <a:ext cx="867094" cy="494495"/>
          </a:xfrm>
          <a:prstGeom prst="roundRect">
            <a:avLst/>
          </a:prstGeom>
          <a:noFill/>
          <a:ln w="76200">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1" dirty="0">
              <a:solidFill>
                <a:schemeClr val="tx1"/>
              </a:solidFill>
            </a:endParaRPr>
          </a:p>
        </p:txBody>
      </p:sp>
      <p:sp>
        <p:nvSpPr>
          <p:cNvPr id="15" name="Rounded Rectangle 14">
            <a:extLst>
              <a:ext uri="{FF2B5EF4-FFF2-40B4-BE49-F238E27FC236}">
                <a16:creationId xmlns:a16="http://schemas.microsoft.com/office/drawing/2014/main" id="{72599E5F-2804-6ACD-CD00-14D138FE4A61}"/>
              </a:ext>
            </a:extLst>
          </p:cNvPr>
          <p:cNvSpPr/>
          <p:nvPr/>
        </p:nvSpPr>
        <p:spPr>
          <a:xfrm>
            <a:off x="7916930" y="5575448"/>
            <a:ext cx="867094" cy="494495"/>
          </a:xfrm>
          <a:prstGeom prst="roundRect">
            <a:avLst/>
          </a:prstGeom>
          <a:noFill/>
          <a:ln w="76200">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1" dirty="0">
              <a:solidFill>
                <a:schemeClr val="tx1"/>
              </a:solidFill>
            </a:endParaRPr>
          </a:p>
        </p:txBody>
      </p:sp>
      <p:pic>
        <p:nvPicPr>
          <p:cNvPr id="16" name="Picture 15" descr="A picture containing text&#10;&#10;Description automatically generated">
            <a:extLst>
              <a:ext uri="{FF2B5EF4-FFF2-40B4-BE49-F238E27FC236}">
                <a16:creationId xmlns:a16="http://schemas.microsoft.com/office/drawing/2014/main" id="{4103923B-BD73-89C4-42FA-F2A26DA746D9}"/>
              </a:ext>
            </a:extLst>
          </p:cNvPr>
          <p:cNvPicPr>
            <a:picLocks noChangeAspect="1"/>
          </p:cNvPicPr>
          <p:nvPr/>
        </p:nvPicPr>
        <p:blipFill>
          <a:blip r:embed="rId8"/>
          <a:stretch>
            <a:fillRect/>
          </a:stretch>
        </p:blipFill>
        <p:spPr>
          <a:xfrm>
            <a:off x="4115187" y="3076430"/>
            <a:ext cx="548640" cy="1097280"/>
          </a:xfrm>
          <a:prstGeom prst="rect">
            <a:avLst/>
          </a:prstGeom>
        </p:spPr>
      </p:pic>
      <p:pic>
        <p:nvPicPr>
          <p:cNvPr id="17" name="Picture 16" descr="A close-up of a toy&#10;&#10;Description automatically generated with low confidence">
            <a:extLst>
              <a:ext uri="{FF2B5EF4-FFF2-40B4-BE49-F238E27FC236}">
                <a16:creationId xmlns:a16="http://schemas.microsoft.com/office/drawing/2014/main" id="{9A4872CE-13B4-4526-ACB6-9113BB176200}"/>
              </a:ext>
            </a:extLst>
          </p:cNvPr>
          <p:cNvPicPr>
            <a:picLocks noChangeAspect="1"/>
          </p:cNvPicPr>
          <p:nvPr/>
        </p:nvPicPr>
        <p:blipFill>
          <a:blip r:embed="rId9"/>
          <a:stretch>
            <a:fillRect/>
          </a:stretch>
        </p:blipFill>
        <p:spPr>
          <a:xfrm>
            <a:off x="4692531" y="2785493"/>
            <a:ext cx="548640" cy="1097280"/>
          </a:xfrm>
          <a:prstGeom prst="rect">
            <a:avLst/>
          </a:prstGeom>
        </p:spPr>
      </p:pic>
      <p:pic>
        <p:nvPicPr>
          <p:cNvPr id="18" name="Picture 17" descr="A picture containing text&#10;&#10;Description automatically generated">
            <a:extLst>
              <a:ext uri="{FF2B5EF4-FFF2-40B4-BE49-F238E27FC236}">
                <a16:creationId xmlns:a16="http://schemas.microsoft.com/office/drawing/2014/main" id="{0DA2862C-5FD1-B7AD-6968-EAA89840B98E}"/>
              </a:ext>
            </a:extLst>
          </p:cNvPr>
          <p:cNvPicPr>
            <a:picLocks/>
          </p:cNvPicPr>
          <p:nvPr/>
        </p:nvPicPr>
        <p:blipFill>
          <a:blip r:embed="rId10"/>
          <a:stretch>
            <a:fillRect/>
          </a:stretch>
        </p:blipFill>
        <p:spPr>
          <a:xfrm>
            <a:off x="5235578" y="3080366"/>
            <a:ext cx="539496" cy="1097280"/>
          </a:xfrm>
          <a:prstGeom prst="rect">
            <a:avLst/>
          </a:prstGeom>
        </p:spPr>
      </p:pic>
      <p:pic>
        <p:nvPicPr>
          <p:cNvPr id="20" name="Picture 19">
            <a:extLst>
              <a:ext uri="{FF2B5EF4-FFF2-40B4-BE49-F238E27FC236}">
                <a16:creationId xmlns:a16="http://schemas.microsoft.com/office/drawing/2014/main" id="{DEE7A89B-DA3D-D003-D8F3-8514D0510903}"/>
              </a:ext>
            </a:extLst>
          </p:cNvPr>
          <p:cNvPicPr>
            <a:picLocks noChangeAspect="1"/>
          </p:cNvPicPr>
          <p:nvPr/>
        </p:nvPicPr>
        <p:blipFill>
          <a:blip r:embed="rId11"/>
          <a:stretch>
            <a:fillRect/>
          </a:stretch>
        </p:blipFill>
        <p:spPr>
          <a:xfrm>
            <a:off x="5773133" y="2795127"/>
            <a:ext cx="548640" cy="1097280"/>
          </a:xfrm>
          <a:prstGeom prst="rect">
            <a:avLst/>
          </a:prstGeom>
        </p:spPr>
      </p:pic>
      <p:grpSp>
        <p:nvGrpSpPr>
          <p:cNvPr id="21" name="Group 20">
            <a:extLst>
              <a:ext uri="{FF2B5EF4-FFF2-40B4-BE49-F238E27FC236}">
                <a16:creationId xmlns:a16="http://schemas.microsoft.com/office/drawing/2014/main" id="{CCAF95BA-4D82-BC3C-DC06-58F0796F050B}"/>
              </a:ext>
            </a:extLst>
          </p:cNvPr>
          <p:cNvGrpSpPr/>
          <p:nvPr/>
        </p:nvGrpSpPr>
        <p:grpSpPr>
          <a:xfrm>
            <a:off x="4623355" y="2371250"/>
            <a:ext cx="1393244" cy="505548"/>
            <a:chOff x="4623355" y="1916308"/>
            <a:chExt cx="1393244" cy="505548"/>
          </a:xfrm>
        </p:grpSpPr>
        <p:pic>
          <p:nvPicPr>
            <p:cNvPr id="56" name="Picture 55">
              <a:extLst>
                <a:ext uri="{FF2B5EF4-FFF2-40B4-BE49-F238E27FC236}">
                  <a16:creationId xmlns:a16="http://schemas.microsoft.com/office/drawing/2014/main" id="{6332BE62-3C3A-7441-8A46-B7F6CDCD975A}"/>
                </a:ext>
              </a:extLst>
            </p:cNvPr>
            <p:cNvPicPr>
              <a:picLocks noChangeAspect="1"/>
            </p:cNvPicPr>
            <p:nvPr/>
          </p:nvPicPr>
          <p:blipFill>
            <a:blip r:embed="rId12"/>
            <a:stretch>
              <a:fillRect/>
            </a:stretch>
          </p:blipFill>
          <p:spPr>
            <a:xfrm>
              <a:off x="4626554" y="1921530"/>
              <a:ext cx="1330243" cy="500326"/>
            </a:xfrm>
            <a:prstGeom prst="rect">
              <a:avLst/>
            </a:prstGeom>
          </p:spPr>
        </p:pic>
        <p:sp>
          <p:nvSpPr>
            <p:cNvPr id="57" name="TextBox 56">
              <a:extLst>
                <a:ext uri="{FF2B5EF4-FFF2-40B4-BE49-F238E27FC236}">
                  <a16:creationId xmlns:a16="http://schemas.microsoft.com/office/drawing/2014/main" id="{22F0FB86-C386-F145-87A0-F8B818492782}"/>
                </a:ext>
              </a:extLst>
            </p:cNvPr>
            <p:cNvSpPr txBox="1"/>
            <p:nvPr/>
          </p:nvSpPr>
          <p:spPr>
            <a:xfrm>
              <a:off x="4623355" y="1916308"/>
              <a:ext cx="1393244" cy="276999"/>
            </a:xfrm>
            <a:prstGeom prst="rect">
              <a:avLst/>
            </a:prstGeom>
            <a:noFill/>
          </p:spPr>
          <p:txBody>
            <a:bodyPr wrap="square" rtlCol="0">
              <a:spAutoFit/>
            </a:bodyPr>
            <a:lstStyle/>
            <a:p>
              <a:r>
                <a:rPr lang="en-US" sz="1200" dirty="0"/>
                <a:t>Your avatar sucks!</a:t>
              </a:r>
            </a:p>
          </p:txBody>
        </p:sp>
      </p:grpSp>
      <p:pic>
        <p:nvPicPr>
          <p:cNvPr id="22" name="Picture 21" descr="A picture containing text&#10;&#10;Description automatically generated">
            <a:extLst>
              <a:ext uri="{FF2B5EF4-FFF2-40B4-BE49-F238E27FC236}">
                <a16:creationId xmlns:a16="http://schemas.microsoft.com/office/drawing/2014/main" id="{40F98708-1058-6A9D-6703-33C39D413724}"/>
              </a:ext>
            </a:extLst>
          </p:cNvPr>
          <p:cNvPicPr>
            <a:picLocks noChangeAspect="1"/>
          </p:cNvPicPr>
          <p:nvPr/>
        </p:nvPicPr>
        <p:blipFill>
          <a:blip r:embed="rId8"/>
          <a:stretch>
            <a:fillRect/>
          </a:stretch>
        </p:blipFill>
        <p:spPr>
          <a:xfrm>
            <a:off x="7622201" y="4363383"/>
            <a:ext cx="548640" cy="1097280"/>
          </a:xfrm>
          <a:prstGeom prst="rect">
            <a:avLst/>
          </a:prstGeom>
        </p:spPr>
      </p:pic>
      <p:pic>
        <p:nvPicPr>
          <p:cNvPr id="24" name="Picture 23" descr="A picture containing text&#10;&#10;Description automatically generated">
            <a:extLst>
              <a:ext uri="{FF2B5EF4-FFF2-40B4-BE49-F238E27FC236}">
                <a16:creationId xmlns:a16="http://schemas.microsoft.com/office/drawing/2014/main" id="{1144D6BA-F9DF-96D3-50E8-6CD8F25B04D9}"/>
              </a:ext>
            </a:extLst>
          </p:cNvPr>
          <p:cNvPicPr>
            <a:picLocks/>
          </p:cNvPicPr>
          <p:nvPr/>
        </p:nvPicPr>
        <p:blipFill>
          <a:blip r:embed="rId10"/>
          <a:stretch>
            <a:fillRect/>
          </a:stretch>
        </p:blipFill>
        <p:spPr>
          <a:xfrm>
            <a:off x="8742592" y="4367319"/>
            <a:ext cx="539496" cy="1097280"/>
          </a:xfrm>
          <a:prstGeom prst="rect">
            <a:avLst/>
          </a:prstGeom>
        </p:spPr>
      </p:pic>
      <p:pic>
        <p:nvPicPr>
          <p:cNvPr id="29" name="Picture 28">
            <a:extLst>
              <a:ext uri="{FF2B5EF4-FFF2-40B4-BE49-F238E27FC236}">
                <a16:creationId xmlns:a16="http://schemas.microsoft.com/office/drawing/2014/main" id="{C364536C-6408-1726-D644-D01BA3747436}"/>
              </a:ext>
            </a:extLst>
          </p:cNvPr>
          <p:cNvPicPr>
            <a:picLocks/>
          </p:cNvPicPr>
          <p:nvPr/>
        </p:nvPicPr>
        <p:blipFill>
          <a:blip r:embed="rId5"/>
          <a:stretch>
            <a:fillRect/>
          </a:stretch>
        </p:blipFill>
        <p:spPr>
          <a:xfrm>
            <a:off x="9192330" y="3757127"/>
            <a:ext cx="691214" cy="440604"/>
          </a:xfrm>
          <a:prstGeom prst="rect">
            <a:avLst/>
          </a:prstGeom>
        </p:spPr>
      </p:pic>
      <p:pic>
        <p:nvPicPr>
          <p:cNvPr id="30" name="Picture 29">
            <a:extLst>
              <a:ext uri="{FF2B5EF4-FFF2-40B4-BE49-F238E27FC236}">
                <a16:creationId xmlns:a16="http://schemas.microsoft.com/office/drawing/2014/main" id="{5FA8891F-6879-E13A-0069-0B8F474DC1A7}"/>
              </a:ext>
            </a:extLst>
          </p:cNvPr>
          <p:cNvPicPr>
            <a:picLocks/>
          </p:cNvPicPr>
          <p:nvPr/>
        </p:nvPicPr>
        <p:blipFill>
          <a:blip r:embed="rId6"/>
          <a:stretch>
            <a:fillRect/>
          </a:stretch>
        </p:blipFill>
        <p:spPr>
          <a:xfrm>
            <a:off x="8658267" y="3778797"/>
            <a:ext cx="565558" cy="415201"/>
          </a:xfrm>
          <a:prstGeom prst="rect">
            <a:avLst/>
          </a:prstGeom>
        </p:spPr>
      </p:pic>
      <p:pic>
        <p:nvPicPr>
          <p:cNvPr id="31" name="Picture 30">
            <a:extLst>
              <a:ext uri="{FF2B5EF4-FFF2-40B4-BE49-F238E27FC236}">
                <a16:creationId xmlns:a16="http://schemas.microsoft.com/office/drawing/2014/main" id="{46D39F0F-CAA9-6B91-52F0-99F7B2305624}"/>
              </a:ext>
            </a:extLst>
          </p:cNvPr>
          <p:cNvPicPr>
            <a:picLocks/>
          </p:cNvPicPr>
          <p:nvPr/>
        </p:nvPicPr>
        <p:blipFill>
          <a:blip r:embed="rId7"/>
          <a:stretch>
            <a:fillRect/>
          </a:stretch>
        </p:blipFill>
        <p:spPr>
          <a:xfrm>
            <a:off x="7861126" y="3778775"/>
            <a:ext cx="769381" cy="415201"/>
          </a:xfrm>
          <a:prstGeom prst="rect">
            <a:avLst/>
          </a:prstGeom>
        </p:spPr>
      </p:pic>
      <p:pic>
        <p:nvPicPr>
          <p:cNvPr id="23" name="Picture 22" descr="A close-up of a toy&#10;&#10;Description automatically generated with low confidence">
            <a:extLst>
              <a:ext uri="{FF2B5EF4-FFF2-40B4-BE49-F238E27FC236}">
                <a16:creationId xmlns:a16="http://schemas.microsoft.com/office/drawing/2014/main" id="{BF7E3255-A489-0E6E-D06B-EFA8A85DC630}"/>
              </a:ext>
            </a:extLst>
          </p:cNvPr>
          <p:cNvPicPr>
            <a:picLocks noChangeAspect="1"/>
          </p:cNvPicPr>
          <p:nvPr/>
        </p:nvPicPr>
        <p:blipFill>
          <a:blip r:embed="rId9"/>
          <a:stretch>
            <a:fillRect/>
          </a:stretch>
        </p:blipFill>
        <p:spPr>
          <a:xfrm>
            <a:off x="8199545" y="4072446"/>
            <a:ext cx="548640" cy="1097280"/>
          </a:xfrm>
          <a:prstGeom prst="rect">
            <a:avLst/>
          </a:prstGeom>
        </p:spPr>
      </p:pic>
      <p:grpSp>
        <p:nvGrpSpPr>
          <p:cNvPr id="32" name="Group 31">
            <a:extLst>
              <a:ext uri="{FF2B5EF4-FFF2-40B4-BE49-F238E27FC236}">
                <a16:creationId xmlns:a16="http://schemas.microsoft.com/office/drawing/2014/main" id="{F63A071E-440E-D6E9-7B97-B1D7540C297E}"/>
              </a:ext>
            </a:extLst>
          </p:cNvPr>
          <p:cNvGrpSpPr/>
          <p:nvPr/>
        </p:nvGrpSpPr>
        <p:grpSpPr>
          <a:xfrm>
            <a:off x="8137512" y="3657516"/>
            <a:ext cx="1393244" cy="505548"/>
            <a:chOff x="4623355" y="1916308"/>
            <a:chExt cx="1393244" cy="505548"/>
          </a:xfrm>
        </p:grpSpPr>
        <p:pic>
          <p:nvPicPr>
            <p:cNvPr id="58" name="Picture 57">
              <a:extLst>
                <a:ext uri="{FF2B5EF4-FFF2-40B4-BE49-F238E27FC236}">
                  <a16:creationId xmlns:a16="http://schemas.microsoft.com/office/drawing/2014/main" id="{BAAFD59B-F520-D0E7-E860-9075C9A609A5}"/>
                </a:ext>
              </a:extLst>
            </p:cNvPr>
            <p:cNvPicPr>
              <a:picLocks noChangeAspect="1"/>
            </p:cNvPicPr>
            <p:nvPr/>
          </p:nvPicPr>
          <p:blipFill>
            <a:blip r:embed="rId12"/>
            <a:stretch>
              <a:fillRect/>
            </a:stretch>
          </p:blipFill>
          <p:spPr>
            <a:xfrm>
              <a:off x="4626554" y="1921530"/>
              <a:ext cx="1330243" cy="500326"/>
            </a:xfrm>
            <a:prstGeom prst="rect">
              <a:avLst/>
            </a:prstGeom>
          </p:spPr>
        </p:pic>
        <p:sp>
          <p:nvSpPr>
            <p:cNvPr id="60" name="TextBox 59">
              <a:extLst>
                <a:ext uri="{FF2B5EF4-FFF2-40B4-BE49-F238E27FC236}">
                  <a16:creationId xmlns:a16="http://schemas.microsoft.com/office/drawing/2014/main" id="{C04CF10D-2339-3CD5-0DF0-E01713EB0F47}"/>
                </a:ext>
              </a:extLst>
            </p:cNvPr>
            <p:cNvSpPr txBox="1"/>
            <p:nvPr/>
          </p:nvSpPr>
          <p:spPr>
            <a:xfrm>
              <a:off x="4623355" y="1916308"/>
              <a:ext cx="1393244" cy="276999"/>
            </a:xfrm>
            <a:prstGeom prst="rect">
              <a:avLst/>
            </a:prstGeom>
            <a:noFill/>
          </p:spPr>
          <p:txBody>
            <a:bodyPr wrap="square" rtlCol="0">
              <a:spAutoFit/>
            </a:bodyPr>
            <a:lstStyle/>
            <a:p>
              <a:r>
                <a:rPr lang="en-US" sz="1200" dirty="0"/>
                <a:t>Your avatar sucks!</a:t>
              </a:r>
            </a:p>
          </p:txBody>
        </p:sp>
      </p:grpSp>
      <p:pic>
        <p:nvPicPr>
          <p:cNvPr id="25" name="Picture 24">
            <a:extLst>
              <a:ext uri="{FF2B5EF4-FFF2-40B4-BE49-F238E27FC236}">
                <a16:creationId xmlns:a16="http://schemas.microsoft.com/office/drawing/2014/main" id="{6BA10572-344E-B067-485B-226172D5FCD6}"/>
              </a:ext>
            </a:extLst>
          </p:cNvPr>
          <p:cNvPicPr>
            <a:picLocks noChangeAspect="1"/>
          </p:cNvPicPr>
          <p:nvPr/>
        </p:nvPicPr>
        <p:blipFill>
          <a:blip r:embed="rId11"/>
          <a:stretch>
            <a:fillRect/>
          </a:stretch>
        </p:blipFill>
        <p:spPr>
          <a:xfrm>
            <a:off x="9280147" y="4082080"/>
            <a:ext cx="548640" cy="1097280"/>
          </a:xfrm>
          <a:prstGeom prst="rect">
            <a:avLst/>
          </a:prstGeom>
        </p:spPr>
      </p:pic>
      <p:pic>
        <p:nvPicPr>
          <p:cNvPr id="64" name="Picture 63">
            <a:extLst>
              <a:ext uri="{FF2B5EF4-FFF2-40B4-BE49-F238E27FC236}">
                <a16:creationId xmlns:a16="http://schemas.microsoft.com/office/drawing/2014/main" id="{0F7F7DF5-4E09-F768-EEF3-E63556205696}"/>
              </a:ext>
            </a:extLst>
          </p:cNvPr>
          <p:cNvPicPr>
            <a:picLocks/>
          </p:cNvPicPr>
          <p:nvPr/>
        </p:nvPicPr>
        <p:blipFill>
          <a:blip r:embed="rId5"/>
          <a:stretch>
            <a:fillRect/>
          </a:stretch>
        </p:blipFill>
        <p:spPr>
          <a:xfrm>
            <a:off x="1916502" y="1195605"/>
            <a:ext cx="691214" cy="440604"/>
          </a:xfrm>
          <a:prstGeom prst="rect">
            <a:avLst/>
          </a:prstGeom>
        </p:spPr>
      </p:pic>
      <p:pic>
        <p:nvPicPr>
          <p:cNvPr id="65" name="Picture 64">
            <a:extLst>
              <a:ext uri="{FF2B5EF4-FFF2-40B4-BE49-F238E27FC236}">
                <a16:creationId xmlns:a16="http://schemas.microsoft.com/office/drawing/2014/main" id="{880A162F-288E-B34F-BD82-86650969AF96}"/>
              </a:ext>
            </a:extLst>
          </p:cNvPr>
          <p:cNvPicPr>
            <a:picLocks/>
          </p:cNvPicPr>
          <p:nvPr/>
        </p:nvPicPr>
        <p:blipFill>
          <a:blip r:embed="rId6"/>
          <a:stretch>
            <a:fillRect/>
          </a:stretch>
        </p:blipFill>
        <p:spPr>
          <a:xfrm>
            <a:off x="1382439" y="1217275"/>
            <a:ext cx="565558" cy="415201"/>
          </a:xfrm>
          <a:prstGeom prst="rect">
            <a:avLst/>
          </a:prstGeom>
        </p:spPr>
      </p:pic>
      <p:pic>
        <p:nvPicPr>
          <p:cNvPr id="66" name="Picture 65">
            <a:extLst>
              <a:ext uri="{FF2B5EF4-FFF2-40B4-BE49-F238E27FC236}">
                <a16:creationId xmlns:a16="http://schemas.microsoft.com/office/drawing/2014/main" id="{2ECE1D6C-10AC-18D0-FF28-24DDE89062E9}"/>
              </a:ext>
            </a:extLst>
          </p:cNvPr>
          <p:cNvPicPr>
            <a:picLocks/>
          </p:cNvPicPr>
          <p:nvPr/>
        </p:nvPicPr>
        <p:blipFill>
          <a:blip r:embed="rId7"/>
          <a:stretch>
            <a:fillRect/>
          </a:stretch>
        </p:blipFill>
        <p:spPr>
          <a:xfrm>
            <a:off x="585298" y="1217253"/>
            <a:ext cx="769381" cy="415201"/>
          </a:xfrm>
          <a:prstGeom prst="rect">
            <a:avLst/>
          </a:prstGeom>
        </p:spPr>
      </p:pic>
      <p:pic>
        <p:nvPicPr>
          <p:cNvPr id="67" name="Picture 66" descr="A picture containing text&#10;&#10;Description automatically generated">
            <a:extLst>
              <a:ext uri="{FF2B5EF4-FFF2-40B4-BE49-F238E27FC236}">
                <a16:creationId xmlns:a16="http://schemas.microsoft.com/office/drawing/2014/main" id="{B8CDEAFB-DD98-4F69-F2CB-591352BC0EFD}"/>
              </a:ext>
            </a:extLst>
          </p:cNvPr>
          <p:cNvPicPr>
            <a:picLocks noChangeAspect="1"/>
          </p:cNvPicPr>
          <p:nvPr/>
        </p:nvPicPr>
        <p:blipFill>
          <a:blip r:embed="rId8"/>
          <a:stretch>
            <a:fillRect/>
          </a:stretch>
        </p:blipFill>
        <p:spPr>
          <a:xfrm>
            <a:off x="353516" y="1801174"/>
            <a:ext cx="548640" cy="1097280"/>
          </a:xfrm>
          <a:prstGeom prst="rect">
            <a:avLst/>
          </a:prstGeom>
        </p:spPr>
      </p:pic>
      <p:pic>
        <p:nvPicPr>
          <p:cNvPr id="68" name="Picture 67" descr="A close-up of a toy&#10;&#10;Description automatically generated with low confidence">
            <a:extLst>
              <a:ext uri="{FF2B5EF4-FFF2-40B4-BE49-F238E27FC236}">
                <a16:creationId xmlns:a16="http://schemas.microsoft.com/office/drawing/2014/main" id="{61A84B88-99FA-75B7-9216-D3EB4399BE5D}"/>
              </a:ext>
            </a:extLst>
          </p:cNvPr>
          <p:cNvPicPr>
            <a:picLocks noChangeAspect="1"/>
          </p:cNvPicPr>
          <p:nvPr/>
        </p:nvPicPr>
        <p:blipFill>
          <a:blip r:embed="rId9"/>
          <a:stretch>
            <a:fillRect/>
          </a:stretch>
        </p:blipFill>
        <p:spPr>
          <a:xfrm>
            <a:off x="930860" y="1510237"/>
            <a:ext cx="548640" cy="1097280"/>
          </a:xfrm>
          <a:prstGeom prst="rect">
            <a:avLst/>
          </a:prstGeom>
        </p:spPr>
      </p:pic>
      <p:pic>
        <p:nvPicPr>
          <p:cNvPr id="69" name="Picture 68" descr="A picture containing text&#10;&#10;Description automatically generated">
            <a:extLst>
              <a:ext uri="{FF2B5EF4-FFF2-40B4-BE49-F238E27FC236}">
                <a16:creationId xmlns:a16="http://schemas.microsoft.com/office/drawing/2014/main" id="{889F4CA4-4863-8B3E-346A-66D1769565F5}"/>
              </a:ext>
            </a:extLst>
          </p:cNvPr>
          <p:cNvPicPr>
            <a:picLocks/>
          </p:cNvPicPr>
          <p:nvPr/>
        </p:nvPicPr>
        <p:blipFill>
          <a:blip r:embed="rId10"/>
          <a:stretch>
            <a:fillRect/>
          </a:stretch>
        </p:blipFill>
        <p:spPr>
          <a:xfrm>
            <a:off x="1473907" y="1805110"/>
            <a:ext cx="539496" cy="1097280"/>
          </a:xfrm>
          <a:prstGeom prst="rect">
            <a:avLst/>
          </a:prstGeom>
        </p:spPr>
      </p:pic>
      <p:pic>
        <p:nvPicPr>
          <p:cNvPr id="71" name="Picture 70">
            <a:extLst>
              <a:ext uri="{FF2B5EF4-FFF2-40B4-BE49-F238E27FC236}">
                <a16:creationId xmlns:a16="http://schemas.microsoft.com/office/drawing/2014/main" id="{609713E2-BC7F-502E-8866-61EBD74F527C}"/>
              </a:ext>
            </a:extLst>
          </p:cNvPr>
          <p:cNvPicPr>
            <a:picLocks noChangeAspect="1"/>
          </p:cNvPicPr>
          <p:nvPr/>
        </p:nvPicPr>
        <p:blipFill>
          <a:blip r:embed="rId11"/>
          <a:stretch>
            <a:fillRect/>
          </a:stretch>
        </p:blipFill>
        <p:spPr>
          <a:xfrm>
            <a:off x="2011462" y="1519871"/>
            <a:ext cx="548640" cy="1097280"/>
          </a:xfrm>
          <a:prstGeom prst="rect">
            <a:avLst/>
          </a:prstGeom>
        </p:spPr>
      </p:pic>
      <p:grpSp>
        <p:nvGrpSpPr>
          <p:cNvPr id="72" name="Group 71">
            <a:extLst>
              <a:ext uri="{FF2B5EF4-FFF2-40B4-BE49-F238E27FC236}">
                <a16:creationId xmlns:a16="http://schemas.microsoft.com/office/drawing/2014/main" id="{B02CE404-DB95-EA32-61E8-8DAACAE960B7}"/>
              </a:ext>
            </a:extLst>
          </p:cNvPr>
          <p:cNvGrpSpPr/>
          <p:nvPr/>
        </p:nvGrpSpPr>
        <p:grpSpPr>
          <a:xfrm>
            <a:off x="861684" y="1095994"/>
            <a:ext cx="1393244" cy="505548"/>
            <a:chOff x="4623355" y="1916308"/>
            <a:chExt cx="1393244" cy="505548"/>
          </a:xfrm>
        </p:grpSpPr>
        <p:pic>
          <p:nvPicPr>
            <p:cNvPr id="73" name="Picture 72">
              <a:extLst>
                <a:ext uri="{FF2B5EF4-FFF2-40B4-BE49-F238E27FC236}">
                  <a16:creationId xmlns:a16="http://schemas.microsoft.com/office/drawing/2014/main" id="{B31918B9-696D-BFEB-F574-21959EB67DDB}"/>
                </a:ext>
              </a:extLst>
            </p:cNvPr>
            <p:cNvPicPr>
              <a:picLocks noChangeAspect="1"/>
            </p:cNvPicPr>
            <p:nvPr/>
          </p:nvPicPr>
          <p:blipFill>
            <a:blip r:embed="rId12"/>
            <a:stretch>
              <a:fillRect/>
            </a:stretch>
          </p:blipFill>
          <p:spPr>
            <a:xfrm>
              <a:off x="4626554" y="1921530"/>
              <a:ext cx="1330243" cy="500326"/>
            </a:xfrm>
            <a:prstGeom prst="rect">
              <a:avLst/>
            </a:prstGeom>
          </p:spPr>
        </p:pic>
        <p:sp>
          <p:nvSpPr>
            <p:cNvPr id="74" name="TextBox 73">
              <a:extLst>
                <a:ext uri="{FF2B5EF4-FFF2-40B4-BE49-F238E27FC236}">
                  <a16:creationId xmlns:a16="http://schemas.microsoft.com/office/drawing/2014/main" id="{F5A6B8A6-F060-D5B9-40B7-14547E81070B}"/>
                </a:ext>
              </a:extLst>
            </p:cNvPr>
            <p:cNvSpPr txBox="1"/>
            <p:nvPr/>
          </p:nvSpPr>
          <p:spPr>
            <a:xfrm>
              <a:off x="4623355" y="1916308"/>
              <a:ext cx="1393244" cy="276999"/>
            </a:xfrm>
            <a:prstGeom prst="rect">
              <a:avLst/>
            </a:prstGeom>
            <a:noFill/>
          </p:spPr>
          <p:txBody>
            <a:bodyPr wrap="square" rtlCol="0">
              <a:spAutoFit/>
            </a:bodyPr>
            <a:lstStyle/>
            <a:p>
              <a:r>
                <a:rPr lang="en-US" sz="1200" dirty="0"/>
                <a:t>Typing…</a:t>
              </a:r>
            </a:p>
          </p:txBody>
        </p:sp>
      </p:grpSp>
    </p:spTree>
    <p:extLst>
      <p:ext uri="{BB962C8B-B14F-4D97-AF65-F5344CB8AC3E}">
        <p14:creationId xmlns:p14="http://schemas.microsoft.com/office/powerpoint/2010/main" val="3181482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A85136E-9730-344E-9682-5ED7E115B7E2}"/>
              </a:ext>
            </a:extLst>
          </p:cNvPr>
          <p:cNvSpPr/>
          <p:nvPr/>
        </p:nvSpPr>
        <p:spPr>
          <a:xfrm>
            <a:off x="454925" y="166149"/>
            <a:ext cx="11737075" cy="369332"/>
          </a:xfrm>
          <a:prstGeom prst="rect">
            <a:avLst/>
          </a:prstGeom>
        </p:spPr>
        <p:txBody>
          <a:bodyPr wrap="square">
            <a:spAutoFit/>
          </a:bodyPr>
          <a:lstStyle/>
          <a:p>
            <a:pPr algn="just"/>
            <a:r>
              <a:rPr lang="en-US" b="1" dirty="0">
                <a:latin typeface="Arial" panose="020B0604020202020204" pitchFamily="34" charset="0"/>
                <a:ea typeface="Times New Roman" panose="02020603050405020304" pitchFamily="18" charset="0"/>
                <a:cs typeface="Arial" panose="020B0604020202020204" pitchFamily="34" charset="0"/>
              </a:rPr>
              <a:t>Figure 2. </a:t>
            </a:r>
            <a:r>
              <a:rPr lang="en-US" b="1" dirty="0">
                <a:latin typeface="Arial" panose="020B0604020202020204" pitchFamily="34" charset="0"/>
                <a:cs typeface="Arial" panose="020B0604020202020204" pitchFamily="34" charset="0"/>
              </a:rPr>
              <a:t>Model Validation of M10a</a:t>
            </a:r>
            <a:endParaRPr lang="en-US" sz="28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11" name="TextBox 10">
            <a:extLst>
              <a:ext uri="{FF2B5EF4-FFF2-40B4-BE49-F238E27FC236}">
                <a16:creationId xmlns:a16="http://schemas.microsoft.com/office/drawing/2014/main" id="{682BCA31-D458-7334-BEB9-C75AADF6E4C6}"/>
              </a:ext>
            </a:extLst>
          </p:cNvPr>
          <p:cNvSpPr txBox="1"/>
          <p:nvPr/>
        </p:nvSpPr>
        <p:spPr>
          <a:xfrm>
            <a:off x="9982200" y="2971842"/>
            <a:ext cx="2130777"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Model Predicted Value</a:t>
            </a:r>
          </a:p>
        </p:txBody>
      </p:sp>
      <p:sp>
        <p:nvSpPr>
          <p:cNvPr id="12" name="Oval 11">
            <a:extLst>
              <a:ext uri="{FF2B5EF4-FFF2-40B4-BE49-F238E27FC236}">
                <a16:creationId xmlns:a16="http://schemas.microsoft.com/office/drawing/2014/main" id="{2D498A0A-29BC-80C9-C296-6CDAB15D35EA}"/>
              </a:ext>
            </a:extLst>
          </p:cNvPr>
          <p:cNvSpPr/>
          <p:nvPr/>
        </p:nvSpPr>
        <p:spPr>
          <a:xfrm>
            <a:off x="9709574" y="3034290"/>
            <a:ext cx="182880" cy="182880"/>
          </a:xfrm>
          <a:prstGeom prst="ellipse">
            <a:avLst/>
          </a:prstGeom>
          <a:noFill/>
          <a:ln w="19050">
            <a:solidFill>
              <a:srgbClr val="4445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F2A434A-F982-B425-8F12-AC4C3E78CB3D}"/>
              </a:ext>
            </a:extLst>
          </p:cNvPr>
          <p:cNvSpPr txBox="1"/>
          <p:nvPr/>
        </p:nvSpPr>
        <p:spPr>
          <a:xfrm>
            <a:off x="2215488" y="5886613"/>
            <a:ext cx="775411"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Nice</a:t>
            </a:r>
          </a:p>
        </p:txBody>
      </p:sp>
      <p:sp>
        <p:nvSpPr>
          <p:cNvPr id="6" name="TextBox 5">
            <a:extLst>
              <a:ext uri="{FF2B5EF4-FFF2-40B4-BE49-F238E27FC236}">
                <a16:creationId xmlns:a16="http://schemas.microsoft.com/office/drawing/2014/main" id="{066FC693-B057-3AC1-5CB9-93930D4E9680}"/>
              </a:ext>
            </a:extLst>
          </p:cNvPr>
          <p:cNvSpPr txBox="1"/>
          <p:nvPr/>
        </p:nvSpPr>
        <p:spPr>
          <a:xfrm>
            <a:off x="3028069" y="5886613"/>
            <a:ext cx="775411"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Mean</a:t>
            </a:r>
          </a:p>
        </p:txBody>
      </p:sp>
      <p:sp>
        <p:nvSpPr>
          <p:cNvPr id="13" name="TextBox 12">
            <a:extLst>
              <a:ext uri="{FF2B5EF4-FFF2-40B4-BE49-F238E27FC236}">
                <a16:creationId xmlns:a16="http://schemas.microsoft.com/office/drawing/2014/main" id="{3E1468F8-C390-14DD-2788-2027DA6C0DFD}"/>
              </a:ext>
            </a:extLst>
          </p:cNvPr>
          <p:cNvSpPr txBox="1"/>
          <p:nvPr/>
        </p:nvSpPr>
        <p:spPr>
          <a:xfrm>
            <a:off x="4090008" y="5886613"/>
            <a:ext cx="775411"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Nice</a:t>
            </a:r>
          </a:p>
        </p:txBody>
      </p:sp>
      <p:sp>
        <p:nvSpPr>
          <p:cNvPr id="14" name="TextBox 13">
            <a:extLst>
              <a:ext uri="{FF2B5EF4-FFF2-40B4-BE49-F238E27FC236}">
                <a16:creationId xmlns:a16="http://schemas.microsoft.com/office/drawing/2014/main" id="{7031933B-7432-3A1F-F82C-9C7D55CD7256}"/>
              </a:ext>
            </a:extLst>
          </p:cNvPr>
          <p:cNvSpPr txBox="1"/>
          <p:nvPr/>
        </p:nvSpPr>
        <p:spPr>
          <a:xfrm>
            <a:off x="4902589" y="5886613"/>
            <a:ext cx="775411"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Mean</a:t>
            </a:r>
          </a:p>
        </p:txBody>
      </p:sp>
      <p:sp>
        <p:nvSpPr>
          <p:cNvPr id="16" name="TextBox 15">
            <a:extLst>
              <a:ext uri="{FF2B5EF4-FFF2-40B4-BE49-F238E27FC236}">
                <a16:creationId xmlns:a16="http://schemas.microsoft.com/office/drawing/2014/main" id="{9B4E8BF8-A942-742E-C579-29BB480A5D7A}"/>
              </a:ext>
            </a:extLst>
          </p:cNvPr>
          <p:cNvSpPr txBox="1"/>
          <p:nvPr/>
        </p:nvSpPr>
        <p:spPr>
          <a:xfrm>
            <a:off x="5964528" y="5886613"/>
            <a:ext cx="775411"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Nice</a:t>
            </a:r>
          </a:p>
        </p:txBody>
      </p:sp>
      <p:sp>
        <p:nvSpPr>
          <p:cNvPr id="17" name="TextBox 16">
            <a:extLst>
              <a:ext uri="{FF2B5EF4-FFF2-40B4-BE49-F238E27FC236}">
                <a16:creationId xmlns:a16="http://schemas.microsoft.com/office/drawing/2014/main" id="{6DC95EFC-F54B-647A-C0B8-A31833203176}"/>
              </a:ext>
            </a:extLst>
          </p:cNvPr>
          <p:cNvSpPr txBox="1"/>
          <p:nvPr/>
        </p:nvSpPr>
        <p:spPr>
          <a:xfrm>
            <a:off x="6777109" y="5886613"/>
            <a:ext cx="775411"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Mean</a:t>
            </a:r>
          </a:p>
        </p:txBody>
      </p:sp>
      <p:sp>
        <p:nvSpPr>
          <p:cNvPr id="18" name="TextBox 17">
            <a:extLst>
              <a:ext uri="{FF2B5EF4-FFF2-40B4-BE49-F238E27FC236}">
                <a16:creationId xmlns:a16="http://schemas.microsoft.com/office/drawing/2014/main" id="{D1BF3BC9-AFD4-BE01-E26A-4F457C6843EF}"/>
              </a:ext>
            </a:extLst>
          </p:cNvPr>
          <p:cNvSpPr txBox="1"/>
          <p:nvPr/>
        </p:nvSpPr>
        <p:spPr>
          <a:xfrm>
            <a:off x="7834764" y="5886613"/>
            <a:ext cx="775411"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Nice</a:t>
            </a:r>
          </a:p>
        </p:txBody>
      </p:sp>
      <p:sp>
        <p:nvSpPr>
          <p:cNvPr id="19" name="TextBox 18">
            <a:extLst>
              <a:ext uri="{FF2B5EF4-FFF2-40B4-BE49-F238E27FC236}">
                <a16:creationId xmlns:a16="http://schemas.microsoft.com/office/drawing/2014/main" id="{BBC92656-7EE6-D8D1-782F-B23A7283C675}"/>
              </a:ext>
            </a:extLst>
          </p:cNvPr>
          <p:cNvSpPr txBox="1"/>
          <p:nvPr/>
        </p:nvSpPr>
        <p:spPr>
          <a:xfrm>
            <a:off x="8647345" y="5886613"/>
            <a:ext cx="775411"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Mean</a:t>
            </a:r>
          </a:p>
        </p:txBody>
      </p:sp>
      <p:sp>
        <p:nvSpPr>
          <p:cNvPr id="20" name="TextBox 19">
            <a:extLst>
              <a:ext uri="{FF2B5EF4-FFF2-40B4-BE49-F238E27FC236}">
                <a16:creationId xmlns:a16="http://schemas.microsoft.com/office/drawing/2014/main" id="{EFC25791-5CC6-949E-C9C0-4F80194EDC59}"/>
              </a:ext>
            </a:extLst>
          </p:cNvPr>
          <p:cNvSpPr txBox="1"/>
          <p:nvPr/>
        </p:nvSpPr>
        <p:spPr>
          <a:xfrm>
            <a:off x="5103613" y="6104214"/>
            <a:ext cx="1419350"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Prediction</a:t>
            </a:r>
          </a:p>
        </p:txBody>
      </p:sp>
      <p:sp>
        <p:nvSpPr>
          <p:cNvPr id="21" name="TextBox 20">
            <a:extLst>
              <a:ext uri="{FF2B5EF4-FFF2-40B4-BE49-F238E27FC236}">
                <a16:creationId xmlns:a16="http://schemas.microsoft.com/office/drawing/2014/main" id="{0BC0F1E5-DB1C-2B03-D390-D0FD2E3AC5FF}"/>
              </a:ext>
            </a:extLst>
          </p:cNvPr>
          <p:cNvSpPr txBox="1"/>
          <p:nvPr/>
        </p:nvSpPr>
        <p:spPr>
          <a:xfrm rot="16200000">
            <a:off x="-339434" y="3234855"/>
            <a:ext cx="3750587"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Average Prediction Proportion</a:t>
            </a:r>
          </a:p>
        </p:txBody>
      </p:sp>
      <p:sp>
        <p:nvSpPr>
          <p:cNvPr id="22" name="TextBox 21">
            <a:extLst>
              <a:ext uri="{FF2B5EF4-FFF2-40B4-BE49-F238E27FC236}">
                <a16:creationId xmlns:a16="http://schemas.microsoft.com/office/drawing/2014/main" id="{6DFBFD55-02C6-CC2C-64C2-BBBCF67EBE44}"/>
              </a:ext>
            </a:extLst>
          </p:cNvPr>
          <p:cNvSpPr txBox="1"/>
          <p:nvPr/>
        </p:nvSpPr>
        <p:spPr>
          <a:xfrm>
            <a:off x="1482623" y="5409211"/>
            <a:ext cx="775411"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0.00</a:t>
            </a:r>
          </a:p>
        </p:txBody>
      </p:sp>
      <p:sp>
        <p:nvSpPr>
          <p:cNvPr id="23" name="TextBox 22">
            <a:extLst>
              <a:ext uri="{FF2B5EF4-FFF2-40B4-BE49-F238E27FC236}">
                <a16:creationId xmlns:a16="http://schemas.microsoft.com/office/drawing/2014/main" id="{05BE4AB8-90D0-75CC-B8CE-8222B883C84C}"/>
              </a:ext>
            </a:extLst>
          </p:cNvPr>
          <p:cNvSpPr txBox="1"/>
          <p:nvPr/>
        </p:nvSpPr>
        <p:spPr>
          <a:xfrm>
            <a:off x="1482624" y="4351327"/>
            <a:ext cx="775411"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0.25</a:t>
            </a:r>
          </a:p>
        </p:txBody>
      </p:sp>
      <p:sp>
        <p:nvSpPr>
          <p:cNvPr id="24" name="TextBox 23">
            <a:extLst>
              <a:ext uri="{FF2B5EF4-FFF2-40B4-BE49-F238E27FC236}">
                <a16:creationId xmlns:a16="http://schemas.microsoft.com/office/drawing/2014/main" id="{E93D5E7F-C1B9-4707-54FF-BF697B2122C5}"/>
              </a:ext>
            </a:extLst>
          </p:cNvPr>
          <p:cNvSpPr txBox="1"/>
          <p:nvPr/>
        </p:nvSpPr>
        <p:spPr>
          <a:xfrm>
            <a:off x="1482623" y="3305952"/>
            <a:ext cx="775411"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0.50</a:t>
            </a:r>
          </a:p>
        </p:txBody>
      </p:sp>
      <p:sp>
        <p:nvSpPr>
          <p:cNvPr id="25" name="TextBox 24">
            <a:extLst>
              <a:ext uri="{FF2B5EF4-FFF2-40B4-BE49-F238E27FC236}">
                <a16:creationId xmlns:a16="http://schemas.microsoft.com/office/drawing/2014/main" id="{A4604FF2-9A1E-5C0C-9DDC-C4A6CE910AF2}"/>
              </a:ext>
            </a:extLst>
          </p:cNvPr>
          <p:cNvSpPr txBox="1"/>
          <p:nvPr/>
        </p:nvSpPr>
        <p:spPr>
          <a:xfrm>
            <a:off x="1482622" y="2205895"/>
            <a:ext cx="775411"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0.75</a:t>
            </a:r>
          </a:p>
        </p:txBody>
      </p:sp>
      <p:sp>
        <p:nvSpPr>
          <p:cNvPr id="26" name="TextBox 25">
            <a:extLst>
              <a:ext uri="{FF2B5EF4-FFF2-40B4-BE49-F238E27FC236}">
                <a16:creationId xmlns:a16="http://schemas.microsoft.com/office/drawing/2014/main" id="{9B5EB75C-F8D5-C0B4-FED7-0FB0C28D7124}"/>
              </a:ext>
            </a:extLst>
          </p:cNvPr>
          <p:cNvSpPr txBox="1"/>
          <p:nvPr/>
        </p:nvSpPr>
        <p:spPr>
          <a:xfrm>
            <a:off x="1477902" y="1133179"/>
            <a:ext cx="775411" cy="276999"/>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1.00</a:t>
            </a:r>
          </a:p>
        </p:txBody>
      </p:sp>
      <p:grpSp>
        <p:nvGrpSpPr>
          <p:cNvPr id="34" name="Group 33">
            <a:extLst>
              <a:ext uri="{FF2B5EF4-FFF2-40B4-BE49-F238E27FC236}">
                <a16:creationId xmlns:a16="http://schemas.microsoft.com/office/drawing/2014/main" id="{0B1E8B57-E346-7CF8-A2C2-5D8BB2CD0003}"/>
              </a:ext>
            </a:extLst>
          </p:cNvPr>
          <p:cNvGrpSpPr/>
          <p:nvPr/>
        </p:nvGrpSpPr>
        <p:grpSpPr>
          <a:xfrm>
            <a:off x="2045776" y="648274"/>
            <a:ext cx="7550345" cy="5177643"/>
            <a:chOff x="2045776" y="648274"/>
            <a:chExt cx="7550345" cy="5177643"/>
          </a:xfrm>
        </p:grpSpPr>
        <p:grpSp>
          <p:nvGrpSpPr>
            <p:cNvPr id="29" name="Group 28">
              <a:extLst>
                <a:ext uri="{FF2B5EF4-FFF2-40B4-BE49-F238E27FC236}">
                  <a16:creationId xmlns:a16="http://schemas.microsoft.com/office/drawing/2014/main" id="{A5ABF93B-D543-E699-21D3-1B0A60C664CD}"/>
                </a:ext>
              </a:extLst>
            </p:cNvPr>
            <p:cNvGrpSpPr/>
            <p:nvPr/>
          </p:nvGrpSpPr>
          <p:grpSpPr>
            <a:xfrm>
              <a:off x="2045776" y="648274"/>
              <a:ext cx="7550345" cy="5177643"/>
              <a:chOff x="2045776" y="708970"/>
              <a:chExt cx="7550345" cy="5177643"/>
            </a:xfrm>
          </p:grpSpPr>
          <p:pic>
            <p:nvPicPr>
              <p:cNvPr id="3" name="Picture 2">
                <a:extLst>
                  <a:ext uri="{FF2B5EF4-FFF2-40B4-BE49-F238E27FC236}">
                    <a16:creationId xmlns:a16="http://schemas.microsoft.com/office/drawing/2014/main" id="{D184F3E6-F18D-A873-2ADB-CD3EA8E2FEF4}"/>
                  </a:ext>
                </a:extLst>
              </p:cNvPr>
              <p:cNvPicPr>
                <a:picLocks noChangeAspect="1"/>
              </p:cNvPicPr>
              <p:nvPr/>
            </p:nvPicPr>
            <p:blipFill rotWithShape="1">
              <a:blip r:embed="rId3"/>
              <a:srcRect l="6358" b="7100"/>
              <a:stretch/>
            </p:blipFill>
            <p:spPr>
              <a:xfrm>
                <a:off x="2045776" y="708970"/>
                <a:ext cx="7550345" cy="5177643"/>
              </a:xfrm>
              <a:prstGeom prst="rect">
                <a:avLst/>
              </a:prstGeom>
            </p:spPr>
          </p:pic>
          <p:sp>
            <p:nvSpPr>
              <p:cNvPr id="2" name="Rectangle 1">
                <a:extLst>
                  <a:ext uri="{FF2B5EF4-FFF2-40B4-BE49-F238E27FC236}">
                    <a16:creationId xmlns:a16="http://schemas.microsoft.com/office/drawing/2014/main" id="{C97F9C7A-8C32-91B0-5136-7D7D1318042B}"/>
                  </a:ext>
                </a:extLst>
              </p:cNvPr>
              <p:cNvSpPr/>
              <p:nvPr/>
            </p:nvSpPr>
            <p:spPr>
              <a:xfrm>
                <a:off x="2609017" y="823549"/>
                <a:ext cx="821893" cy="1763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7F2376D-CA20-702E-4BFB-2FF57A5ED281}"/>
                  </a:ext>
                </a:extLst>
              </p:cNvPr>
              <p:cNvSpPr/>
              <p:nvPr/>
            </p:nvSpPr>
            <p:spPr>
              <a:xfrm>
                <a:off x="4571818" y="823549"/>
                <a:ext cx="572145" cy="1763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B18B270-4961-86F5-C7FD-22D309277E5B}"/>
                  </a:ext>
                </a:extLst>
              </p:cNvPr>
              <p:cNvSpPr/>
              <p:nvPr/>
            </p:nvSpPr>
            <p:spPr>
              <a:xfrm>
                <a:off x="6483207" y="812955"/>
                <a:ext cx="499113" cy="157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40C45AA-E7A8-D833-0660-61B02EC4034E}"/>
                  </a:ext>
                </a:extLst>
              </p:cNvPr>
              <p:cNvSpPr/>
              <p:nvPr/>
            </p:nvSpPr>
            <p:spPr>
              <a:xfrm>
                <a:off x="8321506" y="807372"/>
                <a:ext cx="651678" cy="189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TextBox 29">
              <a:extLst>
                <a:ext uri="{FF2B5EF4-FFF2-40B4-BE49-F238E27FC236}">
                  <a16:creationId xmlns:a16="http://schemas.microsoft.com/office/drawing/2014/main" id="{F79C942A-7E03-31F7-4580-F62052F12B29}"/>
                </a:ext>
              </a:extLst>
            </p:cNvPr>
            <p:cNvSpPr txBox="1"/>
            <p:nvPr/>
          </p:nvSpPr>
          <p:spPr>
            <a:xfrm>
              <a:off x="2688797" y="712508"/>
              <a:ext cx="604204" cy="276999"/>
            </a:xfrm>
            <a:prstGeom prst="rect">
              <a:avLst/>
            </a:prstGeom>
            <a:noFill/>
          </p:spPr>
          <p:txBody>
            <a:bodyPr wrap="none" rtlCol="0">
              <a:spAutoFit/>
            </a:bodyPr>
            <a:lstStyle/>
            <a:p>
              <a:r>
                <a:rPr lang="en-US" sz="1200" dirty="0"/>
                <a:t>Mpred</a:t>
              </a:r>
            </a:p>
          </p:txBody>
        </p:sp>
        <p:sp>
          <p:nvSpPr>
            <p:cNvPr id="31" name="TextBox 30">
              <a:extLst>
                <a:ext uri="{FF2B5EF4-FFF2-40B4-BE49-F238E27FC236}">
                  <a16:creationId xmlns:a16="http://schemas.microsoft.com/office/drawing/2014/main" id="{321505C8-9F12-7865-2C8F-A161FD44A7C7}"/>
                </a:ext>
              </a:extLst>
            </p:cNvPr>
            <p:cNvSpPr txBox="1"/>
            <p:nvPr/>
          </p:nvSpPr>
          <p:spPr>
            <a:xfrm>
              <a:off x="4445177" y="703277"/>
              <a:ext cx="764505" cy="276999"/>
            </a:xfrm>
            <a:prstGeom prst="rect">
              <a:avLst/>
            </a:prstGeom>
            <a:noFill/>
          </p:spPr>
          <p:txBody>
            <a:bodyPr wrap="none" rtlCol="0">
              <a:spAutoFit/>
            </a:bodyPr>
            <a:lstStyle/>
            <a:p>
              <a:r>
                <a:rPr lang="en-US" sz="1200" dirty="0"/>
                <a:t>Munpred</a:t>
              </a:r>
            </a:p>
          </p:txBody>
        </p:sp>
        <p:sp>
          <p:nvSpPr>
            <p:cNvPr id="32" name="TextBox 31">
              <a:extLst>
                <a:ext uri="{FF2B5EF4-FFF2-40B4-BE49-F238E27FC236}">
                  <a16:creationId xmlns:a16="http://schemas.microsoft.com/office/drawing/2014/main" id="{954A235E-ADFE-9778-DCEA-7AC4C68FEE91}"/>
                </a:ext>
              </a:extLst>
            </p:cNvPr>
            <p:cNvSpPr txBox="1"/>
            <p:nvPr/>
          </p:nvSpPr>
          <p:spPr>
            <a:xfrm>
              <a:off x="6373716" y="694388"/>
              <a:ext cx="732445" cy="276999"/>
            </a:xfrm>
            <a:prstGeom prst="rect">
              <a:avLst/>
            </a:prstGeom>
            <a:noFill/>
          </p:spPr>
          <p:txBody>
            <a:bodyPr wrap="none" rtlCol="0">
              <a:spAutoFit/>
            </a:bodyPr>
            <a:lstStyle/>
            <a:p>
              <a:r>
                <a:rPr lang="en-US" sz="1200" dirty="0"/>
                <a:t>Nunpred</a:t>
              </a:r>
            </a:p>
          </p:txBody>
        </p:sp>
        <p:sp>
          <p:nvSpPr>
            <p:cNvPr id="33" name="TextBox 32">
              <a:extLst>
                <a:ext uri="{FF2B5EF4-FFF2-40B4-BE49-F238E27FC236}">
                  <a16:creationId xmlns:a16="http://schemas.microsoft.com/office/drawing/2014/main" id="{D73A1C27-5C40-0241-323E-B6EF712A08AE}"/>
                </a:ext>
              </a:extLst>
            </p:cNvPr>
            <p:cNvSpPr txBox="1"/>
            <p:nvPr/>
          </p:nvSpPr>
          <p:spPr>
            <a:xfrm>
              <a:off x="8361273" y="703277"/>
              <a:ext cx="572144" cy="276999"/>
            </a:xfrm>
            <a:prstGeom prst="rect">
              <a:avLst/>
            </a:prstGeom>
            <a:noFill/>
          </p:spPr>
          <p:txBody>
            <a:bodyPr wrap="none" rtlCol="0">
              <a:spAutoFit/>
            </a:bodyPr>
            <a:lstStyle/>
            <a:p>
              <a:r>
                <a:rPr lang="en-US" sz="1200" dirty="0"/>
                <a:t>Npred</a:t>
              </a:r>
            </a:p>
          </p:txBody>
        </p:sp>
      </p:grpSp>
      <p:sp>
        <p:nvSpPr>
          <p:cNvPr id="35" name="Rectangle 34">
            <a:extLst>
              <a:ext uri="{FF2B5EF4-FFF2-40B4-BE49-F238E27FC236}">
                <a16:creationId xmlns:a16="http://schemas.microsoft.com/office/drawing/2014/main" id="{C88F2BCF-3641-6171-A346-E61A233E7AD2}"/>
              </a:ext>
            </a:extLst>
          </p:cNvPr>
          <p:cNvSpPr/>
          <p:nvPr/>
        </p:nvSpPr>
        <p:spPr>
          <a:xfrm>
            <a:off x="9685866" y="2320751"/>
            <a:ext cx="228600" cy="228600"/>
          </a:xfrm>
          <a:prstGeom prst="rect">
            <a:avLst/>
          </a:prstGeom>
          <a:solidFill>
            <a:srgbClr val="FFAC3B"/>
          </a:solidFill>
          <a:ln w="19050">
            <a:solidFill>
              <a:srgbClr val="4445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53588362-B2B6-9130-F0E8-25A3634D716F}"/>
              </a:ext>
            </a:extLst>
          </p:cNvPr>
          <p:cNvSpPr txBox="1"/>
          <p:nvPr/>
        </p:nvSpPr>
        <p:spPr>
          <a:xfrm>
            <a:off x="9982200" y="2276851"/>
            <a:ext cx="13208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Non-SA</a:t>
            </a:r>
          </a:p>
        </p:txBody>
      </p:sp>
      <p:sp>
        <p:nvSpPr>
          <p:cNvPr id="37" name="Rectangle 36">
            <a:extLst>
              <a:ext uri="{FF2B5EF4-FFF2-40B4-BE49-F238E27FC236}">
                <a16:creationId xmlns:a16="http://schemas.microsoft.com/office/drawing/2014/main" id="{3AD12787-357E-27B3-3CFD-651F6DA22A18}"/>
              </a:ext>
            </a:extLst>
          </p:cNvPr>
          <p:cNvSpPr/>
          <p:nvPr/>
        </p:nvSpPr>
        <p:spPr>
          <a:xfrm>
            <a:off x="9685866" y="2695159"/>
            <a:ext cx="228600" cy="228600"/>
          </a:xfrm>
          <a:prstGeom prst="rect">
            <a:avLst/>
          </a:prstGeom>
          <a:solidFill>
            <a:srgbClr val="005FCC"/>
          </a:solidFill>
          <a:ln w="19050">
            <a:solidFill>
              <a:srgbClr val="4445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F6913991-1D30-D5DF-7021-25917A8CDA3E}"/>
              </a:ext>
            </a:extLst>
          </p:cNvPr>
          <p:cNvSpPr txBox="1"/>
          <p:nvPr/>
        </p:nvSpPr>
        <p:spPr>
          <a:xfrm>
            <a:off x="9982200" y="2655570"/>
            <a:ext cx="13208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Clinical SA</a:t>
            </a:r>
          </a:p>
        </p:txBody>
      </p:sp>
    </p:spTree>
    <p:extLst>
      <p:ext uri="{BB962C8B-B14F-4D97-AF65-F5344CB8AC3E}">
        <p14:creationId xmlns:p14="http://schemas.microsoft.com/office/powerpoint/2010/main" val="4043598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A06241C-FDFD-9D4C-AD35-A376EE65146F}"/>
              </a:ext>
            </a:extLst>
          </p:cNvPr>
          <p:cNvSpPr/>
          <p:nvPr/>
        </p:nvSpPr>
        <p:spPr>
          <a:xfrm>
            <a:off x="216988" y="92230"/>
            <a:ext cx="11737075" cy="369332"/>
          </a:xfrm>
          <a:prstGeom prst="rect">
            <a:avLst/>
          </a:prstGeom>
        </p:spPr>
        <p:txBody>
          <a:bodyPr wrap="square">
            <a:spAutoFit/>
          </a:bodyPr>
          <a:lstStyle/>
          <a:p>
            <a:pPr algn="just"/>
            <a:r>
              <a:rPr lang="en-US" b="1" dirty="0">
                <a:latin typeface="Arial" panose="020B0604020202020204" pitchFamily="34" charset="0"/>
                <a:ea typeface="Times New Roman" panose="02020603050405020304" pitchFamily="18" charset="0"/>
                <a:cs typeface="Arial" panose="020B0604020202020204" pitchFamily="34" charset="0"/>
              </a:rPr>
              <a:t>Figure 3. Parameters of Social Learning Across Contexts and SA</a:t>
            </a:r>
            <a:endParaRPr lang="en-US"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8" name="TextBox 7">
            <a:extLst>
              <a:ext uri="{FF2B5EF4-FFF2-40B4-BE49-F238E27FC236}">
                <a16:creationId xmlns:a16="http://schemas.microsoft.com/office/drawing/2014/main" id="{918E16CE-B85A-A445-9421-6443F81A984B}"/>
              </a:ext>
            </a:extLst>
          </p:cNvPr>
          <p:cNvSpPr txBox="1"/>
          <p:nvPr/>
        </p:nvSpPr>
        <p:spPr>
          <a:xfrm>
            <a:off x="176401" y="627720"/>
            <a:ext cx="351378"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A</a:t>
            </a:r>
          </a:p>
        </p:txBody>
      </p:sp>
      <p:sp>
        <p:nvSpPr>
          <p:cNvPr id="9" name="TextBox 8">
            <a:extLst>
              <a:ext uri="{FF2B5EF4-FFF2-40B4-BE49-F238E27FC236}">
                <a16:creationId xmlns:a16="http://schemas.microsoft.com/office/drawing/2014/main" id="{0F6B07E7-9E13-D148-AA2B-260905C411C5}"/>
              </a:ext>
            </a:extLst>
          </p:cNvPr>
          <p:cNvSpPr txBox="1"/>
          <p:nvPr/>
        </p:nvSpPr>
        <p:spPr>
          <a:xfrm>
            <a:off x="6144216" y="627720"/>
            <a:ext cx="351378"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B</a:t>
            </a:r>
          </a:p>
        </p:txBody>
      </p:sp>
      <p:sp>
        <p:nvSpPr>
          <p:cNvPr id="13" name="TextBox 12">
            <a:extLst>
              <a:ext uri="{FF2B5EF4-FFF2-40B4-BE49-F238E27FC236}">
                <a16:creationId xmlns:a16="http://schemas.microsoft.com/office/drawing/2014/main" id="{752B69F3-49D6-D546-B54D-79F48B1382F5}"/>
              </a:ext>
            </a:extLst>
          </p:cNvPr>
          <p:cNvSpPr txBox="1"/>
          <p:nvPr/>
        </p:nvSpPr>
        <p:spPr>
          <a:xfrm>
            <a:off x="9340564" y="3649840"/>
            <a:ext cx="1613712"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Low SA</a:t>
            </a:r>
          </a:p>
        </p:txBody>
      </p:sp>
      <p:sp>
        <p:nvSpPr>
          <p:cNvPr id="14" name="TextBox 13">
            <a:extLst>
              <a:ext uri="{FF2B5EF4-FFF2-40B4-BE49-F238E27FC236}">
                <a16:creationId xmlns:a16="http://schemas.microsoft.com/office/drawing/2014/main" id="{6F39D1D9-965F-18B7-6B81-94025985FFBF}"/>
              </a:ext>
            </a:extLst>
          </p:cNvPr>
          <p:cNvSpPr txBox="1"/>
          <p:nvPr/>
        </p:nvSpPr>
        <p:spPr>
          <a:xfrm>
            <a:off x="9340564" y="3941363"/>
            <a:ext cx="13208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High SA</a:t>
            </a:r>
          </a:p>
        </p:txBody>
      </p:sp>
      <p:cxnSp>
        <p:nvCxnSpPr>
          <p:cNvPr id="16" name="Straight Connector 15">
            <a:extLst>
              <a:ext uri="{FF2B5EF4-FFF2-40B4-BE49-F238E27FC236}">
                <a16:creationId xmlns:a16="http://schemas.microsoft.com/office/drawing/2014/main" id="{32EE503C-A9D3-9EF1-EFFA-D61D78CCFA31}"/>
              </a:ext>
            </a:extLst>
          </p:cNvPr>
          <p:cNvCxnSpPr>
            <a:cxnSpLocks/>
          </p:cNvCxnSpPr>
          <p:nvPr/>
        </p:nvCxnSpPr>
        <p:spPr>
          <a:xfrm flipH="1">
            <a:off x="9065070" y="3803729"/>
            <a:ext cx="275492"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CABBCEB-BFEE-8F80-32AF-E5C42C203D21}"/>
              </a:ext>
            </a:extLst>
          </p:cNvPr>
          <p:cNvCxnSpPr>
            <a:cxnSpLocks/>
          </p:cNvCxnSpPr>
          <p:nvPr/>
        </p:nvCxnSpPr>
        <p:spPr>
          <a:xfrm flipH="1">
            <a:off x="9065070" y="4103378"/>
            <a:ext cx="275493" cy="0"/>
          </a:xfrm>
          <a:prstGeom prst="line">
            <a:avLst/>
          </a:prstGeom>
          <a:ln w="38100">
            <a:solidFill>
              <a:srgbClr val="FFAC3B"/>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A226BF8-2C33-7DFE-1FC3-AAB3D1771F84}"/>
              </a:ext>
            </a:extLst>
          </p:cNvPr>
          <p:cNvSpPr txBox="1"/>
          <p:nvPr/>
        </p:nvSpPr>
        <p:spPr>
          <a:xfrm>
            <a:off x="3005561" y="4795210"/>
            <a:ext cx="1419350"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Reputation</a:t>
            </a:r>
          </a:p>
        </p:txBody>
      </p:sp>
      <p:sp>
        <p:nvSpPr>
          <p:cNvPr id="20" name="TextBox 19">
            <a:extLst>
              <a:ext uri="{FF2B5EF4-FFF2-40B4-BE49-F238E27FC236}">
                <a16:creationId xmlns:a16="http://schemas.microsoft.com/office/drawing/2014/main" id="{2BC82BC4-F5C4-B16B-CA18-76ED541348CC}"/>
              </a:ext>
            </a:extLst>
          </p:cNvPr>
          <p:cNvSpPr txBox="1"/>
          <p:nvPr/>
        </p:nvSpPr>
        <p:spPr>
          <a:xfrm rot="16200000">
            <a:off x="-1648867" y="2692958"/>
            <a:ext cx="4204682"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Average Simulated Learning Rate</a:t>
            </a:r>
          </a:p>
        </p:txBody>
      </p:sp>
      <p:sp>
        <p:nvSpPr>
          <p:cNvPr id="21" name="TextBox 20">
            <a:extLst>
              <a:ext uri="{FF2B5EF4-FFF2-40B4-BE49-F238E27FC236}">
                <a16:creationId xmlns:a16="http://schemas.microsoft.com/office/drawing/2014/main" id="{B66A0F2C-BB36-9094-6EA3-82E33AD293B9}"/>
              </a:ext>
            </a:extLst>
          </p:cNvPr>
          <p:cNvSpPr txBox="1"/>
          <p:nvPr/>
        </p:nvSpPr>
        <p:spPr>
          <a:xfrm>
            <a:off x="9065070" y="4795210"/>
            <a:ext cx="1419350"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Reputation</a:t>
            </a:r>
          </a:p>
        </p:txBody>
      </p:sp>
      <p:sp>
        <p:nvSpPr>
          <p:cNvPr id="22" name="TextBox 21">
            <a:extLst>
              <a:ext uri="{FF2B5EF4-FFF2-40B4-BE49-F238E27FC236}">
                <a16:creationId xmlns:a16="http://schemas.microsoft.com/office/drawing/2014/main" id="{FC841E20-97BE-862D-B469-97ADCA905EA2}"/>
              </a:ext>
            </a:extLst>
          </p:cNvPr>
          <p:cNvSpPr txBox="1"/>
          <p:nvPr/>
        </p:nvSpPr>
        <p:spPr>
          <a:xfrm rot="16200000">
            <a:off x="4322793" y="2692958"/>
            <a:ext cx="4204682"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Average Simulated Associative Value</a:t>
            </a:r>
          </a:p>
        </p:txBody>
      </p:sp>
      <p:sp>
        <p:nvSpPr>
          <p:cNvPr id="23" name="TextBox 22">
            <a:extLst>
              <a:ext uri="{FF2B5EF4-FFF2-40B4-BE49-F238E27FC236}">
                <a16:creationId xmlns:a16="http://schemas.microsoft.com/office/drawing/2014/main" id="{CC6D24EA-1E50-D326-11A1-69103FF3E8EA}"/>
              </a:ext>
            </a:extLst>
          </p:cNvPr>
          <p:cNvSpPr txBox="1"/>
          <p:nvPr/>
        </p:nvSpPr>
        <p:spPr>
          <a:xfrm>
            <a:off x="1103586" y="775983"/>
            <a:ext cx="4926424" cy="400110"/>
          </a:xfrm>
          <a:prstGeom prst="rect">
            <a:avLst/>
          </a:prstGeom>
          <a:solidFill>
            <a:schemeClr val="bg1"/>
          </a:solidFill>
        </p:spPr>
        <p:txBody>
          <a:bodyPr wrap="square" rtlCol="0">
            <a:spAutoFit/>
          </a:bodyPr>
          <a:lstStyle/>
          <a:p>
            <a:pPr algn="ctr"/>
            <a:r>
              <a:rPr lang="en-US" sz="2000" b="1" dirty="0">
                <a:latin typeface="Arial" panose="020B0604020202020204" pitchFamily="34" charset="0"/>
                <a:cs typeface="Arial" panose="020B0604020202020204" pitchFamily="34" charset="0"/>
              </a:rPr>
              <a:t>Learning Rate</a:t>
            </a:r>
          </a:p>
        </p:txBody>
      </p:sp>
      <p:sp>
        <p:nvSpPr>
          <p:cNvPr id="24" name="TextBox 23">
            <a:extLst>
              <a:ext uri="{FF2B5EF4-FFF2-40B4-BE49-F238E27FC236}">
                <a16:creationId xmlns:a16="http://schemas.microsoft.com/office/drawing/2014/main" id="{5AB72DDD-83E1-9CB1-7178-9A79F00BE2F9}"/>
              </a:ext>
            </a:extLst>
          </p:cNvPr>
          <p:cNvSpPr txBox="1"/>
          <p:nvPr/>
        </p:nvSpPr>
        <p:spPr>
          <a:xfrm>
            <a:off x="7078717" y="775983"/>
            <a:ext cx="4922952" cy="400110"/>
          </a:xfrm>
          <a:prstGeom prst="rect">
            <a:avLst/>
          </a:prstGeom>
          <a:solidFill>
            <a:schemeClr val="bg1"/>
          </a:solidFill>
        </p:spPr>
        <p:txBody>
          <a:bodyPr wrap="square" rtlCol="0">
            <a:spAutoFit/>
          </a:bodyPr>
          <a:lstStyle/>
          <a:p>
            <a:pPr algn="ctr"/>
            <a:r>
              <a:rPr lang="en-US" sz="2000" b="1" dirty="0">
                <a:latin typeface="Arial" panose="020B0604020202020204" pitchFamily="34" charset="0"/>
                <a:cs typeface="Arial" panose="020B0604020202020204" pitchFamily="34" charset="0"/>
              </a:rPr>
              <a:t>Associative Value</a:t>
            </a:r>
          </a:p>
        </p:txBody>
      </p:sp>
      <p:grpSp>
        <p:nvGrpSpPr>
          <p:cNvPr id="11" name="Group 10">
            <a:extLst>
              <a:ext uri="{FF2B5EF4-FFF2-40B4-BE49-F238E27FC236}">
                <a16:creationId xmlns:a16="http://schemas.microsoft.com/office/drawing/2014/main" id="{01A5FE8C-1969-7F1E-D66C-FE58DBCB1137}"/>
              </a:ext>
            </a:extLst>
          </p:cNvPr>
          <p:cNvGrpSpPr/>
          <p:nvPr/>
        </p:nvGrpSpPr>
        <p:grpSpPr>
          <a:xfrm>
            <a:off x="629606" y="1294228"/>
            <a:ext cx="5618627" cy="3568824"/>
            <a:chOff x="629606" y="1294228"/>
            <a:chExt cx="5618627" cy="3568824"/>
          </a:xfrm>
        </p:grpSpPr>
        <p:pic>
          <p:nvPicPr>
            <p:cNvPr id="3" name="Picture 2">
              <a:extLst>
                <a:ext uri="{FF2B5EF4-FFF2-40B4-BE49-F238E27FC236}">
                  <a16:creationId xmlns:a16="http://schemas.microsoft.com/office/drawing/2014/main" id="{E955489B-C947-EF2D-8B12-5C95310D4E0C}"/>
                </a:ext>
              </a:extLst>
            </p:cNvPr>
            <p:cNvPicPr>
              <a:picLocks noChangeAspect="1"/>
            </p:cNvPicPr>
            <p:nvPr/>
          </p:nvPicPr>
          <p:blipFill rotWithShape="1">
            <a:blip r:embed="rId4"/>
            <a:srcRect l="6077" t="18183" r="5625" b="8405"/>
            <a:stretch/>
          </p:blipFill>
          <p:spPr>
            <a:xfrm>
              <a:off x="629606" y="1294228"/>
              <a:ext cx="5408169" cy="3536776"/>
            </a:xfrm>
            <a:prstGeom prst="rect">
              <a:avLst/>
            </a:prstGeom>
          </p:spPr>
        </p:pic>
        <p:sp>
          <p:nvSpPr>
            <p:cNvPr id="2" name="TextBox 1">
              <a:extLst>
                <a:ext uri="{FF2B5EF4-FFF2-40B4-BE49-F238E27FC236}">
                  <a16:creationId xmlns:a16="http://schemas.microsoft.com/office/drawing/2014/main" id="{F0B7CFFC-B30B-E1FF-1435-4EB14705FFC1}"/>
                </a:ext>
              </a:extLst>
            </p:cNvPr>
            <p:cNvSpPr txBox="1"/>
            <p:nvPr/>
          </p:nvSpPr>
          <p:spPr>
            <a:xfrm>
              <a:off x="1103586" y="4582274"/>
              <a:ext cx="961940" cy="276999"/>
            </a:xfrm>
            <a:prstGeom prst="rect">
              <a:avLst/>
            </a:prstGeom>
            <a:solidFill>
              <a:schemeClr val="bg1"/>
            </a:solidFill>
          </p:spPr>
          <p:txBody>
            <a:bodyPr wrap="square" rtlCol="0">
              <a:spAutoFit/>
            </a:bodyPr>
            <a:lstStyle/>
            <a:p>
              <a:r>
                <a:rPr lang="en-US" sz="1200" dirty="0"/>
                <a:t>Mpred</a:t>
              </a:r>
            </a:p>
          </p:txBody>
        </p:sp>
        <p:sp>
          <p:nvSpPr>
            <p:cNvPr id="4" name="TextBox 3">
              <a:extLst>
                <a:ext uri="{FF2B5EF4-FFF2-40B4-BE49-F238E27FC236}">
                  <a16:creationId xmlns:a16="http://schemas.microsoft.com/office/drawing/2014/main" id="{A9015436-29D0-090A-9623-10510E4C6C8B}"/>
                </a:ext>
              </a:extLst>
            </p:cNvPr>
            <p:cNvSpPr txBox="1"/>
            <p:nvPr/>
          </p:nvSpPr>
          <p:spPr>
            <a:xfrm>
              <a:off x="2434858" y="4582274"/>
              <a:ext cx="961940" cy="276999"/>
            </a:xfrm>
            <a:prstGeom prst="rect">
              <a:avLst/>
            </a:prstGeom>
            <a:solidFill>
              <a:schemeClr val="bg1"/>
            </a:solidFill>
          </p:spPr>
          <p:txBody>
            <a:bodyPr wrap="square" rtlCol="0">
              <a:spAutoFit/>
            </a:bodyPr>
            <a:lstStyle/>
            <a:p>
              <a:r>
                <a:rPr lang="en-US" sz="1200" dirty="0"/>
                <a:t>Munpred</a:t>
              </a:r>
            </a:p>
          </p:txBody>
        </p:sp>
        <p:sp>
          <p:nvSpPr>
            <p:cNvPr id="6" name="TextBox 5">
              <a:extLst>
                <a:ext uri="{FF2B5EF4-FFF2-40B4-BE49-F238E27FC236}">
                  <a16:creationId xmlns:a16="http://schemas.microsoft.com/office/drawing/2014/main" id="{0B5CDF5B-2B28-E38F-0EEF-24C8DBD235DF}"/>
                </a:ext>
              </a:extLst>
            </p:cNvPr>
            <p:cNvSpPr txBox="1"/>
            <p:nvPr/>
          </p:nvSpPr>
          <p:spPr>
            <a:xfrm>
              <a:off x="3947529" y="4582274"/>
              <a:ext cx="961940" cy="276999"/>
            </a:xfrm>
            <a:prstGeom prst="rect">
              <a:avLst/>
            </a:prstGeom>
            <a:solidFill>
              <a:schemeClr val="bg1"/>
            </a:solidFill>
          </p:spPr>
          <p:txBody>
            <a:bodyPr wrap="square" rtlCol="0">
              <a:spAutoFit/>
            </a:bodyPr>
            <a:lstStyle/>
            <a:p>
              <a:r>
                <a:rPr lang="en-US" sz="1200" dirty="0"/>
                <a:t>Nunpred</a:t>
              </a:r>
            </a:p>
          </p:txBody>
        </p:sp>
        <p:sp>
          <p:nvSpPr>
            <p:cNvPr id="7" name="TextBox 6">
              <a:extLst>
                <a:ext uri="{FF2B5EF4-FFF2-40B4-BE49-F238E27FC236}">
                  <a16:creationId xmlns:a16="http://schemas.microsoft.com/office/drawing/2014/main" id="{C2E2B5A7-AC26-6265-5478-13EAF43F6E5B}"/>
                </a:ext>
              </a:extLst>
            </p:cNvPr>
            <p:cNvSpPr txBox="1"/>
            <p:nvPr/>
          </p:nvSpPr>
          <p:spPr>
            <a:xfrm>
              <a:off x="5430689" y="4586053"/>
              <a:ext cx="817544" cy="276999"/>
            </a:xfrm>
            <a:prstGeom prst="rect">
              <a:avLst/>
            </a:prstGeom>
            <a:solidFill>
              <a:schemeClr val="bg1"/>
            </a:solidFill>
          </p:spPr>
          <p:txBody>
            <a:bodyPr wrap="square" rtlCol="0">
              <a:spAutoFit/>
            </a:bodyPr>
            <a:lstStyle/>
            <a:p>
              <a:r>
                <a:rPr lang="en-US" sz="1200" dirty="0"/>
                <a:t>Npred</a:t>
              </a:r>
            </a:p>
          </p:txBody>
        </p:sp>
      </p:grpSp>
      <p:grpSp>
        <p:nvGrpSpPr>
          <p:cNvPr id="26" name="Group 25">
            <a:extLst>
              <a:ext uri="{FF2B5EF4-FFF2-40B4-BE49-F238E27FC236}">
                <a16:creationId xmlns:a16="http://schemas.microsoft.com/office/drawing/2014/main" id="{6734A43F-06CE-33A3-3F77-2F8AA69B1AA7}"/>
              </a:ext>
            </a:extLst>
          </p:cNvPr>
          <p:cNvGrpSpPr/>
          <p:nvPr/>
        </p:nvGrpSpPr>
        <p:grpSpPr>
          <a:xfrm>
            <a:off x="6609800" y="1262179"/>
            <a:ext cx="5601766" cy="3600873"/>
            <a:chOff x="6609800" y="1262179"/>
            <a:chExt cx="5601766" cy="3600873"/>
          </a:xfrm>
        </p:grpSpPr>
        <p:pic>
          <p:nvPicPr>
            <p:cNvPr id="10" name="Picture 9">
              <a:extLst>
                <a:ext uri="{FF2B5EF4-FFF2-40B4-BE49-F238E27FC236}">
                  <a16:creationId xmlns:a16="http://schemas.microsoft.com/office/drawing/2014/main" id="{11C08097-766F-BA40-E724-F5170377837A}"/>
                </a:ext>
              </a:extLst>
            </p:cNvPr>
            <p:cNvPicPr>
              <a:picLocks noChangeAspect="1"/>
            </p:cNvPicPr>
            <p:nvPr/>
          </p:nvPicPr>
          <p:blipFill rotWithShape="1">
            <a:blip r:embed="rId5"/>
            <a:srcRect l="6077" t="18193" r="5625" b="7064"/>
            <a:stretch/>
          </p:blipFill>
          <p:spPr>
            <a:xfrm>
              <a:off x="6609800" y="1262179"/>
              <a:ext cx="5408169" cy="3600873"/>
            </a:xfrm>
            <a:prstGeom prst="rect">
              <a:avLst/>
            </a:prstGeom>
          </p:spPr>
        </p:pic>
        <p:sp>
          <p:nvSpPr>
            <p:cNvPr id="12" name="TextBox 11">
              <a:extLst>
                <a:ext uri="{FF2B5EF4-FFF2-40B4-BE49-F238E27FC236}">
                  <a16:creationId xmlns:a16="http://schemas.microsoft.com/office/drawing/2014/main" id="{598C8E16-C605-E691-8443-59E4AFF4CAD1}"/>
                </a:ext>
              </a:extLst>
            </p:cNvPr>
            <p:cNvSpPr txBox="1"/>
            <p:nvPr/>
          </p:nvSpPr>
          <p:spPr>
            <a:xfrm>
              <a:off x="7066919" y="4554005"/>
              <a:ext cx="961940" cy="276999"/>
            </a:xfrm>
            <a:prstGeom prst="rect">
              <a:avLst/>
            </a:prstGeom>
            <a:solidFill>
              <a:schemeClr val="bg1"/>
            </a:solidFill>
          </p:spPr>
          <p:txBody>
            <a:bodyPr wrap="square" rtlCol="0">
              <a:spAutoFit/>
            </a:bodyPr>
            <a:lstStyle/>
            <a:p>
              <a:r>
                <a:rPr lang="en-US" sz="1200" dirty="0"/>
                <a:t>Mpred</a:t>
              </a:r>
            </a:p>
          </p:txBody>
        </p:sp>
        <p:sp>
          <p:nvSpPr>
            <p:cNvPr id="15" name="TextBox 14">
              <a:extLst>
                <a:ext uri="{FF2B5EF4-FFF2-40B4-BE49-F238E27FC236}">
                  <a16:creationId xmlns:a16="http://schemas.microsoft.com/office/drawing/2014/main" id="{BDEB9673-7BB6-B5CB-4282-3FDC25628614}"/>
                </a:ext>
              </a:extLst>
            </p:cNvPr>
            <p:cNvSpPr txBox="1"/>
            <p:nvPr/>
          </p:nvSpPr>
          <p:spPr>
            <a:xfrm>
              <a:off x="8398191" y="4554005"/>
              <a:ext cx="961940" cy="276999"/>
            </a:xfrm>
            <a:prstGeom prst="rect">
              <a:avLst/>
            </a:prstGeom>
            <a:solidFill>
              <a:schemeClr val="bg1"/>
            </a:solidFill>
          </p:spPr>
          <p:txBody>
            <a:bodyPr wrap="square" rtlCol="0">
              <a:spAutoFit/>
            </a:bodyPr>
            <a:lstStyle/>
            <a:p>
              <a:r>
                <a:rPr lang="en-US" sz="1200" dirty="0"/>
                <a:t>Munpred</a:t>
              </a:r>
            </a:p>
          </p:txBody>
        </p:sp>
        <p:sp>
          <p:nvSpPr>
            <p:cNvPr id="17" name="TextBox 16">
              <a:extLst>
                <a:ext uri="{FF2B5EF4-FFF2-40B4-BE49-F238E27FC236}">
                  <a16:creationId xmlns:a16="http://schemas.microsoft.com/office/drawing/2014/main" id="{A0D8D836-BA10-DC9D-CD32-2CEBB35B53B2}"/>
                </a:ext>
              </a:extLst>
            </p:cNvPr>
            <p:cNvSpPr txBox="1"/>
            <p:nvPr/>
          </p:nvSpPr>
          <p:spPr>
            <a:xfrm>
              <a:off x="9910862" y="4554005"/>
              <a:ext cx="961940" cy="276999"/>
            </a:xfrm>
            <a:prstGeom prst="rect">
              <a:avLst/>
            </a:prstGeom>
            <a:solidFill>
              <a:schemeClr val="bg1"/>
            </a:solidFill>
          </p:spPr>
          <p:txBody>
            <a:bodyPr wrap="square" rtlCol="0">
              <a:spAutoFit/>
            </a:bodyPr>
            <a:lstStyle/>
            <a:p>
              <a:r>
                <a:rPr lang="en-US" sz="1200" dirty="0"/>
                <a:t>Nunpred</a:t>
              </a:r>
            </a:p>
          </p:txBody>
        </p:sp>
        <p:sp>
          <p:nvSpPr>
            <p:cNvPr id="25" name="TextBox 24">
              <a:extLst>
                <a:ext uri="{FF2B5EF4-FFF2-40B4-BE49-F238E27FC236}">
                  <a16:creationId xmlns:a16="http://schemas.microsoft.com/office/drawing/2014/main" id="{9E107BD5-635A-5B05-6AB9-593EB2F1D1BF}"/>
                </a:ext>
              </a:extLst>
            </p:cNvPr>
            <p:cNvSpPr txBox="1"/>
            <p:nvPr/>
          </p:nvSpPr>
          <p:spPr>
            <a:xfrm>
              <a:off x="11394022" y="4557784"/>
              <a:ext cx="817544" cy="276999"/>
            </a:xfrm>
            <a:prstGeom prst="rect">
              <a:avLst/>
            </a:prstGeom>
            <a:solidFill>
              <a:schemeClr val="bg1"/>
            </a:solidFill>
          </p:spPr>
          <p:txBody>
            <a:bodyPr wrap="square" rtlCol="0">
              <a:spAutoFit/>
            </a:bodyPr>
            <a:lstStyle/>
            <a:p>
              <a:r>
                <a:rPr lang="en-US" sz="1200" dirty="0"/>
                <a:t>Npred</a:t>
              </a:r>
            </a:p>
          </p:txBody>
        </p:sp>
      </p:grpSp>
      <p:grpSp>
        <p:nvGrpSpPr>
          <p:cNvPr id="29" name="Group 28">
            <a:extLst>
              <a:ext uri="{FF2B5EF4-FFF2-40B4-BE49-F238E27FC236}">
                <a16:creationId xmlns:a16="http://schemas.microsoft.com/office/drawing/2014/main" id="{18CF125B-E037-5CCA-C2DC-C94AC5DAF1CC}"/>
              </a:ext>
            </a:extLst>
          </p:cNvPr>
          <p:cNvGrpSpPr/>
          <p:nvPr/>
        </p:nvGrpSpPr>
        <p:grpSpPr>
          <a:xfrm>
            <a:off x="9360131" y="3630429"/>
            <a:ext cx="1320800" cy="633509"/>
            <a:chOff x="9360131" y="3630429"/>
            <a:chExt cx="1320800" cy="633509"/>
          </a:xfrm>
        </p:grpSpPr>
        <p:sp>
          <p:nvSpPr>
            <p:cNvPr id="27" name="TextBox 26">
              <a:extLst>
                <a:ext uri="{FF2B5EF4-FFF2-40B4-BE49-F238E27FC236}">
                  <a16:creationId xmlns:a16="http://schemas.microsoft.com/office/drawing/2014/main" id="{90AAFB48-0227-2514-D61B-6BD65FB85304}"/>
                </a:ext>
              </a:extLst>
            </p:cNvPr>
            <p:cNvSpPr txBox="1"/>
            <p:nvPr/>
          </p:nvSpPr>
          <p:spPr>
            <a:xfrm>
              <a:off x="9360131" y="3630429"/>
              <a:ext cx="1320800" cy="307777"/>
            </a:xfrm>
            <a:prstGeom prst="rect">
              <a:avLst/>
            </a:prstGeom>
            <a:solidFill>
              <a:schemeClr val="bg1"/>
            </a:solidFill>
          </p:spPr>
          <p:txBody>
            <a:bodyPr wrap="square" rtlCol="0">
              <a:spAutoFit/>
            </a:bodyPr>
            <a:lstStyle/>
            <a:p>
              <a:r>
                <a:rPr lang="en-US" sz="1400" dirty="0">
                  <a:latin typeface="Arial" panose="020B0604020202020204" pitchFamily="34" charset="0"/>
                  <a:cs typeface="Arial" panose="020B0604020202020204" pitchFamily="34" charset="0"/>
                </a:rPr>
                <a:t>Non SA</a:t>
              </a:r>
            </a:p>
          </p:txBody>
        </p:sp>
        <p:sp>
          <p:nvSpPr>
            <p:cNvPr id="28" name="TextBox 27">
              <a:extLst>
                <a:ext uri="{FF2B5EF4-FFF2-40B4-BE49-F238E27FC236}">
                  <a16:creationId xmlns:a16="http://schemas.microsoft.com/office/drawing/2014/main" id="{ECDCF6F1-E9B4-9FF1-08C0-662949F0D25A}"/>
                </a:ext>
              </a:extLst>
            </p:cNvPr>
            <p:cNvSpPr txBox="1"/>
            <p:nvPr/>
          </p:nvSpPr>
          <p:spPr>
            <a:xfrm>
              <a:off x="9360131" y="3956161"/>
              <a:ext cx="1320800" cy="307777"/>
            </a:xfrm>
            <a:prstGeom prst="rect">
              <a:avLst/>
            </a:prstGeom>
            <a:solidFill>
              <a:schemeClr val="bg1"/>
            </a:solidFill>
          </p:spPr>
          <p:txBody>
            <a:bodyPr wrap="square" rtlCol="0">
              <a:spAutoFit/>
            </a:bodyPr>
            <a:lstStyle/>
            <a:p>
              <a:r>
                <a:rPr lang="en-US" sz="1400" dirty="0">
                  <a:latin typeface="Arial" panose="020B0604020202020204" pitchFamily="34" charset="0"/>
                  <a:cs typeface="Arial" panose="020B0604020202020204" pitchFamily="34" charset="0"/>
                </a:rPr>
                <a:t>Clinical SA</a:t>
              </a:r>
            </a:p>
          </p:txBody>
        </p:sp>
      </p:grpSp>
      <p:sp>
        <p:nvSpPr>
          <p:cNvPr id="30" name="TextBox 29">
            <a:extLst>
              <a:ext uri="{FF2B5EF4-FFF2-40B4-BE49-F238E27FC236}">
                <a16:creationId xmlns:a16="http://schemas.microsoft.com/office/drawing/2014/main" id="{457C6F29-6F01-B1EE-3169-AEFAC330603D}"/>
              </a:ext>
            </a:extLst>
          </p:cNvPr>
          <p:cNvSpPr txBox="1"/>
          <p:nvPr/>
        </p:nvSpPr>
        <p:spPr>
          <a:xfrm>
            <a:off x="7203913" y="2508292"/>
            <a:ext cx="300082" cy="369332"/>
          </a:xfrm>
          <a:prstGeom prst="rect">
            <a:avLst/>
          </a:prstGeom>
          <a:noFill/>
        </p:spPr>
        <p:txBody>
          <a:bodyPr wrap="none" rtlCol="0">
            <a:spAutoFit/>
          </a:bodyPr>
          <a:lstStyle/>
          <a:p>
            <a:r>
              <a:rPr lang="en-US" dirty="0"/>
              <a:t>*</a:t>
            </a:r>
          </a:p>
        </p:txBody>
      </p:sp>
      <p:sp>
        <p:nvSpPr>
          <p:cNvPr id="31" name="TextBox 30">
            <a:extLst>
              <a:ext uri="{FF2B5EF4-FFF2-40B4-BE49-F238E27FC236}">
                <a16:creationId xmlns:a16="http://schemas.microsoft.com/office/drawing/2014/main" id="{A8C5B046-9F28-6EB6-606B-C6C81F0BFA49}"/>
              </a:ext>
            </a:extLst>
          </p:cNvPr>
          <p:cNvSpPr txBox="1"/>
          <p:nvPr/>
        </p:nvSpPr>
        <p:spPr>
          <a:xfrm>
            <a:off x="11574878" y="1478323"/>
            <a:ext cx="300082" cy="369332"/>
          </a:xfrm>
          <a:prstGeom prst="rect">
            <a:avLst/>
          </a:prstGeom>
          <a:noFill/>
        </p:spPr>
        <p:txBody>
          <a:bodyPr wrap="none" rtlCol="0">
            <a:spAutoFit/>
          </a:bodyPr>
          <a:lstStyle/>
          <a:p>
            <a:r>
              <a:rPr lang="en-US" dirty="0"/>
              <a:t>*</a:t>
            </a:r>
          </a:p>
        </p:txBody>
      </p:sp>
      <p:sp>
        <p:nvSpPr>
          <p:cNvPr id="32" name="TextBox 31">
            <a:extLst>
              <a:ext uri="{FF2B5EF4-FFF2-40B4-BE49-F238E27FC236}">
                <a16:creationId xmlns:a16="http://schemas.microsoft.com/office/drawing/2014/main" id="{5BB2C954-21B4-8719-6CC8-1B08C6C2EBC4}"/>
              </a:ext>
            </a:extLst>
          </p:cNvPr>
          <p:cNvSpPr txBox="1"/>
          <p:nvPr/>
        </p:nvSpPr>
        <p:spPr>
          <a:xfrm>
            <a:off x="1275390" y="2974513"/>
            <a:ext cx="300082" cy="369332"/>
          </a:xfrm>
          <a:prstGeom prst="rect">
            <a:avLst/>
          </a:prstGeom>
          <a:noFill/>
        </p:spPr>
        <p:txBody>
          <a:bodyPr wrap="none" rtlCol="0">
            <a:spAutoFit/>
          </a:bodyPr>
          <a:lstStyle/>
          <a:p>
            <a:r>
              <a:rPr lang="en-US" dirty="0"/>
              <a:t>*</a:t>
            </a:r>
          </a:p>
        </p:txBody>
      </p:sp>
      <p:sp>
        <p:nvSpPr>
          <p:cNvPr id="33" name="TextBox 32">
            <a:extLst>
              <a:ext uri="{FF2B5EF4-FFF2-40B4-BE49-F238E27FC236}">
                <a16:creationId xmlns:a16="http://schemas.microsoft.com/office/drawing/2014/main" id="{D7F2AF3D-5F2B-109C-39E2-7E703CCC4FE6}"/>
              </a:ext>
            </a:extLst>
          </p:cNvPr>
          <p:cNvSpPr txBox="1"/>
          <p:nvPr/>
        </p:nvSpPr>
        <p:spPr>
          <a:xfrm>
            <a:off x="2705479" y="1050495"/>
            <a:ext cx="300082" cy="369332"/>
          </a:xfrm>
          <a:prstGeom prst="rect">
            <a:avLst/>
          </a:prstGeom>
          <a:noFill/>
        </p:spPr>
        <p:txBody>
          <a:bodyPr wrap="none" rtlCol="0">
            <a:spAutoFit/>
          </a:bodyPr>
          <a:lstStyle/>
          <a:p>
            <a:r>
              <a:rPr lang="en-US" dirty="0"/>
              <a:t>*</a:t>
            </a:r>
          </a:p>
        </p:txBody>
      </p:sp>
      <p:sp>
        <p:nvSpPr>
          <p:cNvPr id="34" name="TextBox 33">
            <a:extLst>
              <a:ext uri="{FF2B5EF4-FFF2-40B4-BE49-F238E27FC236}">
                <a16:creationId xmlns:a16="http://schemas.microsoft.com/office/drawing/2014/main" id="{7B5B0820-3582-1961-E0C6-E87E810B5EB6}"/>
              </a:ext>
            </a:extLst>
          </p:cNvPr>
          <p:cNvSpPr txBox="1"/>
          <p:nvPr/>
        </p:nvSpPr>
        <p:spPr>
          <a:xfrm>
            <a:off x="4151995" y="2154475"/>
            <a:ext cx="300082" cy="369332"/>
          </a:xfrm>
          <a:prstGeom prst="rect">
            <a:avLst/>
          </a:prstGeom>
          <a:noFill/>
        </p:spPr>
        <p:txBody>
          <a:bodyPr wrap="none" rtlCol="0">
            <a:spAutoFit/>
          </a:bodyPr>
          <a:lstStyle/>
          <a:p>
            <a:r>
              <a:rPr lang="en-US" dirty="0"/>
              <a:t>*</a:t>
            </a:r>
          </a:p>
        </p:txBody>
      </p:sp>
      <p:sp>
        <p:nvSpPr>
          <p:cNvPr id="35" name="TextBox 34">
            <a:extLst>
              <a:ext uri="{FF2B5EF4-FFF2-40B4-BE49-F238E27FC236}">
                <a16:creationId xmlns:a16="http://schemas.microsoft.com/office/drawing/2014/main" id="{C4087B36-1873-4674-314D-B8A5EA0A901B}"/>
              </a:ext>
            </a:extLst>
          </p:cNvPr>
          <p:cNvSpPr txBox="1"/>
          <p:nvPr/>
        </p:nvSpPr>
        <p:spPr>
          <a:xfrm>
            <a:off x="5605679" y="1847655"/>
            <a:ext cx="300082"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606162253"/>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774703-5036-B24D-AAE0-50A1FBE41C46}"/>
              </a:ext>
            </a:extLst>
          </p:cNvPr>
          <p:cNvPicPr>
            <a:picLocks noChangeAspect="1"/>
          </p:cNvPicPr>
          <p:nvPr/>
        </p:nvPicPr>
        <p:blipFill>
          <a:blip r:embed="rId3"/>
          <a:stretch>
            <a:fillRect/>
          </a:stretch>
        </p:blipFill>
        <p:spPr>
          <a:xfrm>
            <a:off x="499861" y="619704"/>
            <a:ext cx="2249624" cy="2725949"/>
          </a:xfrm>
          <a:prstGeom prst="rect">
            <a:avLst/>
          </a:prstGeom>
        </p:spPr>
      </p:pic>
      <p:sp>
        <p:nvSpPr>
          <p:cNvPr id="17" name="TextBox 16">
            <a:extLst>
              <a:ext uri="{FF2B5EF4-FFF2-40B4-BE49-F238E27FC236}">
                <a16:creationId xmlns:a16="http://schemas.microsoft.com/office/drawing/2014/main" id="{1F597269-8B8D-8C41-8DE9-BB0064B89CA4}"/>
              </a:ext>
            </a:extLst>
          </p:cNvPr>
          <p:cNvSpPr txBox="1"/>
          <p:nvPr/>
        </p:nvSpPr>
        <p:spPr>
          <a:xfrm>
            <a:off x="317619" y="780574"/>
            <a:ext cx="364483" cy="369332"/>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A</a:t>
            </a:r>
          </a:p>
        </p:txBody>
      </p:sp>
      <p:cxnSp>
        <p:nvCxnSpPr>
          <p:cNvPr id="32" name="Straight Arrow Connector 31">
            <a:extLst>
              <a:ext uri="{FF2B5EF4-FFF2-40B4-BE49-F238E27FC236}">
                <a16:creationId xmlns:a16="http://schemas.microsoft.com/office/drawing/2014/main" id="{942BB295-9A92-9E42-B691-6CE9B40DD9C7}"/>
              </a:ext>
            </a:extLst>
          </p:cNvPr>
          <p:cNvCxnSpPr/>
          <p:nvPr/>
        </p:nvCxnSpPr>
        <p:spPr>
          <a:xfrm flipH="1">
            <a:off x="1824626" y="697979"/>
            <a:ext cx="386782" cy="267261"/>
          </a:xfrm>
          <a:prstGeom prst="straightConnector1">
            <a:avLst/>
          </a:prstGeom>
          <a:ln w="698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4" name="Picture 33">
            <a:extLst>
              <a:ext uri="{FF2B5EF4-FFF2-40B4-BE49-F238E27FC236}">
                <a16:creationId xmlns:a16="http://schemas.microsoft.com/office/drawing/2014/main" id="{58CA43A2-EF6E-4B42-B41F-4430E979318A}"/>
              </a:ext>
            </a:extLst>
          </p:cNvPr>
          <p:cNvPicPr>
            <a:picLocks noChangeAspect="1"/>
          </p:cNvPicPr>
          <p:nvPr/>
        </p:nvPicPr>
        <p:blipFill>
          <a:blip r:embed="rId4"/>
          <a:stretch>
            <a:fillRect/>
          </a:stretch>
        </p:blipFill>
        <p:spPr>
          <a:xfrm>
            <a:off x="2951147" y="690857"/>
            <a:ext cx="3048225" cy="2513336"/>
          </a:xfrm>
          <a:prstGeom prst="rect">
            <a:avLst/>
          </a:prstGeom>
        </p:spPr>
      </p:pic>
      <p:cxnSp>
        <p:nvCxnSpPr>
          <p:cNvPr id="36" name="Straight Arrow Connector 35">
            <a:extLst>
              <a:ext uri="{FF2B5EF4-FFF2-40B4-BE49-F238E27FC236}">
                <a16:creationId xmlns:a16="http://schemas.microsoft.com/office/drawing/2014/main" id="{CCC9BFBB-76E4-A748-B47B-5194CD7193B0}"/>
              </a:ext>
            </a:extLst>
          </p:cNvPr>
          <p:cNvCxnSpPr>
            <a:cxnSpLocks/>
          </p:cNvCxnSpPr>
          <p:nvPr/>
        </p:nvCxnSpPr>
        <p:spPr>
          <a:xfrm>
            <a:off x="3042927" y="2084008"/>
            <a:ext cx="355973" cy="267261"/>
          </a:xfrm>
          <a:prstGeom prst="straightConnector1">
            <a:avLst/>
          </a:prstGeom>
          <a:ln w="698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431B9AE-2480-3848-AB12-149FAB5BB9E4}"/>
              </a:ext>
            </a:extLst>
          </p:cNvPr>
          <p:cNvSpPr txBox="1"/>
          <p:nvPr/>
        </p:nvSpPr>
        <p:spPr>
          <a:xfrm>
            <a:off x="2824852" y="780574"/>
            <a:ext cx="364483" cy="369332"/>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B</a:t>
            </a:r>
          </a:p>
        </p:txBody>
      </p:sp>
      <p:pic>
        <p:nvPicPr>
          <p:cNvPr id="40" name="Picture 39">
            <a:extLst>
              <a:ext uri="{FF2B5EF4-FFF2-40B4-BE49-F238E27FC236}">
                <a16:creationId xmlns:a16="http://schemas.microsoft.com/office/drawing/2014/main" id="{37EF23BA-775A-9C4A-AF9D-AB47CB217935}"/>
              </a:ext>
            </a:extLst>
          </p:cNvPr>
          <p:cNvPicPr>
            <a:picLocks noChangeAspect="1"/>
          </p:cNvPicPr>
          <p:nvPr/>
        </p:nvPicPr>
        <p:blipFill>
          <a:blip r:embed="rId5"/>
          <a:stretch>
            <a:fillRect/>
          </a:stretch>
        </p:blipFill>
        <p:spPr>
          <a:xfrm>
            <a:off x="6053964" y="841119"/>
            <a:ext cx="3090032" cy="2300002"/>
          </a:xfrm>
          <a:prstGeom prst="rect">
            <a:avLst/>
          </a:prstGeom>
        </p:spPr>
      </p:pic>
      <p:cxnSp>
        <p:nvCxnSpPr>
          <p:cNvPr id="41" name="Straight Arrow Connector 40">
            <a:extLst>
              <a:ext uri="{FF2B5EF4-FFF2-40B4-BE49-F238E27FC236}">
                <a16:creationId xmlns:a16="http://schemas.microsoft.com/office/drawing/2014/main" id="{8B78CEB1-8238-B94C-8951-076EA3FF8067}"/>
              </a:ext>
            </a:extLst>
          </p:cNvPr>
          <p:cNvCxnSpPr>
            <a:cxnSpLocks/>
          </p:cNvCxnSpPr>
          <p:nvPr/>
        </p:nvCxnSpPr>
        <p:spPr>
          <a:xfrm>
            <a:off x="6595364" y="965240"/>
            <a:ext cx="270111" cy="429781"/>
          </a:xfrm>
          <a:prstGeom prst="straightConnector1">
            <a:avLst/>
          </a:prstGeom>
          <a:ln w="698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FDAD5A7-0B27-294F-A1A1-1180108F946D}"/>
              </a:ext>
            </a:extLst>
          </p:cNvPr>
          <p:cNvSpPr txBox="1"/>
          <p:nvPr/>
        </p:nvSpPr>
        <p:spPr>
          <a:xfrm>
            <a:off x="6062976" y="780574"/>
            <a:ext cx="364483" cy="369332"/>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C</a:t>
            </a:r>
          </a:p>
        </p:txBody>
      </p:sp>
      <p:pic>
        <p:nvPicPr>
          <p:cNvPr id="43" name="Picture 42">
            <a:extLst>
              <a:ext uri="{FF2B5EF4-FFF2-40B4-BE49-F238E27FC236}">
                <a16:creationId xmlns:a16="http://schemas.microsoft.com/office/drawing/2014/main" id="{B4AC1469-B5C0-3340-A220-6186B00F3B01}"/>
              </a:ext>
            </a:extLst>
          </p:cNvPr>
          <p:cNvPicPr>
            <a:picLocks noChangeAspect="1"/>
          </p:cNvPicPr>
          <p:nvPr/>
        </p:nvPicPr>
        <p:blipFill rotWithShape="1">
          <a:blip r:embed="rId6"/>
          <a:srcRect r="1256"/>
          <a:stretch/>
        </p:blipFill>
        <p:spPr>
          <a:xfrm>
            <a:off x="9014129" y="725037"/>
            <a:ext cx="3123279" cy="2448788"/>
          </a:xfrm>
          <a:prstGeom prst="rect">
            <a:avLst/>
          </a:prstGeom>
        </p:spPr>
      </p:pic>
      <p:cxnSp>
        <p:nvCxnSpPr>
          <p:cNvPr id="44" name="Straight Arrow Connector 43">
            <a:extLst>
              <a:ext uri="{FF2B5EF4-FFF2-40B4-BE49-F238E27FC236}">
                <a16:creationId xmlns:a16="http://schemas.microsoft.com/office/drawing/2014/main" id="{C4DF547E-E3C1-AD44-A1B7-F2A998AAF6D1}"/>
              </a:ext>
            </a:extLst>
          </p:cNvPr>
          <p:cNvCxnSpPr>
            <a:cxnSpLocks/>
          </p:cNvCxnSpPr>
          <p:nvPr/>
        </p:nvCxnSpPr>
        <p:spPr>
          <a:xfrm>
            <a:off x="9943678" y="1076529"/>
            <a:ext cx="355973" cy="267261"/>
          </a:xfrm>
          <a:prstGeom prst="straightConnector1">
            <a:avLst/>
          </a:prstGeom>
          <a:ln w="698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43121E94-3C9C-FB45-A7AC-7EE80E80BC26}"/>
              </a:ext>
            </a:extLst>
          </p:cNvPr>
          <p:cNvSpPr txBox="1"/>
          <p:nvPr/>
        </p:nvSpPr>
        <p:spPr>
          <a:xfrm>
            <a:off x="8970766" y="780574"/>
            <a:ext cx="364483" cy="369332"/>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D</a:t>
            </a:r>
          </a:p>
        </p:txBody>
      </p:sp>
      <p:pic>
        <p:nvPicPr>
          <p:cNvPr id="50" name="Picture 49">
            <a:extLst>
              <a:ext uri="{FF2B5EF4-FFF2-40B4-BE49-F238E27FC236}">
                <a16:creationId xmlns:a16="http://schemas.microsoft.com/office/drawing/2014/main" id="{C3CF2632-FFB1-CB4E-AB1E-F84909E5CCC4}"/>
              </a:ext>
            </a:extLst>
          </p:cNvPr>
          <p:cNvPicPr>
            <a:picLocks noChangeAspect="1"/>
          </p:cNvPicPr>
          <p:nvPr/>
        </p:nvPicPr>
        <p:blipFill>
          <a:blip r:embed="rId7"/>
          <a:stretch>
            <a:fillRect/>
          </a:stretch>
        </p:blipFill>
        <p:spPr>
          <a:xfrm>
            <a:off x="343748" y="3506523"/>
            <a:ext cx="2553279" cy="2931313"/>
          </a:xfrm>
          <a:prstGeom prst="rect">
            <a:avLst/>
          </a:prstGeom>
        </p:spPr>
      </p:pic>
      <p:sp>
        <p:nvSpPr>
          <p:cNvPr id="48" name="TextBox 47">
            <a:extLst>
              <a:ext uri="{FF2B5EF4-FFF2-40B4-BE49-F238E27FC236}">
                <a16:creationId xmlns:a16="http://schemas.microsoft.com/office/drawing/2014/main" id="{813BFABA-BC6E-1145-8CF5-1E9E3C2059D0}"/>
              </a:ext>
            </a:extLst>
          </p:cNvPr>
          <p:cNvSpPr txBox="1"/>
          <p:nvPr/>
        </p:nvSpPr>
        <p:spPr>
          <a:xfrm>
            <a:off x="317619" y="3550537"/>
            <a:ext cx="364483" cy="369332"/>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E</a:t>
            </a:r>
          </a:p>
        </p:txBody>
      </p:sp>
      <p:cxnSp>
        <p:nvCxnSpPr>
          <p:cNvPr id="51" name="Straight Arrow Connector 50">
            <a:extLst>
              <a:ext uri="{FF2B5EF4-FFF2-40B4-BE49-F238E27FC236}">
                <a16:creationId xmlns:a16="http://schemas.microsoft.com/office/drawing/2014/main" id="{5119A71E-C00B-AD4A-A9D7-4ADA676C77A8}"/>
              </a:ext>
            </a:extLst>
          </p:cNvPr>
          <p:cNvCxnSpPr>
            <a:cxnSpLocks/>
          </p:cNvCxnSpPr>
          <p:nvPr/>
        </p:nvCxnSpPr>
        <p:spPr>
          <a:xfrm flipV="1">
            <a:off x="412974" y="4431273"/>
            <a:ext cx="538255" cy="13310"/>
          </a:xfrm>
          <a:prstGeom prst="straightConnector1">
            <a:avLst/>
          </a:prstGeom>
          <a:ln w="698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2" name="Picture 51">
            <a:extLst>
              <a:ext uri="{FF2B5EF4-FFF2-40B4-BE49-F238E27FC236}">
                <a16:creationId xmlns:a16="http://schemas.microsoft.com/office/drawing/2014/main" id="{6C5515C1-09FC-E541-9FBE-F494E935827E}"/>
              </a:ext>
            </a:extLst>
          </p:cNvPr>
          <p:cNvPicPr>
            <a:picLocks noChangeAspect="1"/>
          </p:cNvPicPr>
          <p:nvPr/>
        </p:nvPicPr>
        <p:blipFill>
          <a:blip r:embed="rId8"/>
          <a:stretch>
            <a:fillRect/>
          </a:stretch>
        </p:blipFill>
        <p:spPr>
          <a:xfrm>
            <a:off x="3042927" y="3506523"/>
            <a:ext cx="2823102" cy="2830922"/>
          </a:xfrm>
          <a:prstGeom prst="rect">
            <a:avLst/>
          </a:prstGeom>
        </p:spPr>
      </p:pic>
      <p:pic>
        <p:nvPicPr>
          <p:cNvPr id="53" name="Picture 52">
            <a:extLst>
              <a:ext uri="{FF2B5EF4-FFF2-40B4-BE49-F238E27FC236}">
                <a16:creationId xmlns:a16="http://schemas.microsoft.com/office/drawing/2014/main" id="{ACED965F-C519-164B-B6C3-33AE56C8825B}"/>
              </a:ext>
            </a:extLst>
          </p:cNvPr>
          <p:cNvPicPr>
            <a:picLocks noChangeAspect="1"/>
          </p:cNvPicPr>
          <p:nvPr/>
        </p:nvPicPr>
        <p:blipFill>
          <a:blip r:embed="rId9"/>
          <a:stretch>
            <a:fillRect/>
          </a:stretch>
        </p:blipFill>
        <p:spPr>
          <a:xfrm>
            <a:off x="6249473" y="3543157"/>
            <a:ext cx="2903534" cy="2856194"/>
          </a:xfrm>
          <a:prstGeom prst="rect">
            <a:avLst/>
          </a:prstGeom>
        </p:spPr>
      </p:pic>
      <p:sp>
        <p:nvSpPr>
          <p:cNvPr id="54" name="TextBox 53">
            <a:extLst>
              <a:ext uri="{FF2B5EF4-FFF2-40B4-BE49-F238E27FC236}">
                <a16:creationId xmlns:a16="http://schemas.microsoft.com/office/drawing/2014/main" id="{80072565-7417-7E43-8570-C0623A5C625C}"/>
              </a:ext>
            </a:extLst>
          </p:cNvPr>
          <p:cNvSpPr txBox="1"/>
          <p:nvPr/>
        </p:nvSpPr>
        <p:spPr>
          <a:xfrm>
            <a:off x="3011349" y="3550537"/>
            <a:ext cx="364483" cy="369332"/>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F</a:t>
            </a:r>
          </a:p>
        </p:txBody>
      </p:sp>
      <p:sp>
        <p:nvSpPr>
          <p:cNvPr id="55" name="TextBox 54">
            <a:extLst>
              <a:ext uri="{FF2B5EF4-FFF2-40B4-BE49-F238E27FC236}">
                <a16:creationId xmlns:a16="http://schemas.microsoft.com/office/drawing/2014/main" id="{254FF101-8F06-8349-86C0-18F43C25B621}"/>
              </a:ext>
            </a:extLst>
          </p:cNvPr>
          <p:cNvSpPr txBox="1"/>
          <p:nvPr/>
        </p:nvSpPr>
        <p:spPr>
          <a:xfrm>
            <a:off x="6249473" y="3550537"/>
            <a:ext cx="364483" cy="369332"/>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G</a:t>
            </a:r>
          </a:p>
        </p:txBody>
      </p:sp>
      <p:cxnSp>
        <p:nvCxnSpPr>
          <p:cNvPr id="56" name="Straight Arrow Connector 55">
            <a:extLst>
              <a:ext uri="{FF2B5EF4-FFF2-40B4-BE49-F238E27FC236}">
                <a16:creationId xmlns:a16="http://schemas.microsoft.com/office/drawing/2014/main" id="{D4CF028A-ABF6-F543-AD33-2F79B6D6F594}"/>
              </a:ext>
            </a:extLst>
          </p:cNvPr>
          <p:cNvCxnSpPr>
            <a:cxnSpLocks/>
          </p:cNvCxnSpPr>
          <p:nvPr/>
        </p:nvCxnSpPr>
        <p:spPr>
          <a:xfrm>
            <a:off x="3782068" y="4971254"/>
            <a:ext cx="355973" cy="267261"/>
          </a:xfrm>
          <a:prstGeom prst="straightConnector1">
            <a:avLst/>
          </a:prstGeom>
          <a:ln w="698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3418514C-68A5-7443-8702-603C7EA322B0}"/>
              </a:ext>
            </a:extLst>
          </p:cNvPr>
          <p:cNvCxnSpPr>
            <a:cxnSpLocks/>
          </p:cNvCxnSpPr>
          <p:nvPr/>
        </p:nvCxnSpPr>
        <p:spPr>
          <a:xfrm flipH="1">
            <a:off x="7988985" y="4971254"/>
            <a:ext cx="404388" cy="311725"/>
          </a:xfrm>
          <a:prstGeom prst="straightConnector1">
            <a:avLst/>
          </a:prstGeom>
          <a:ln w="698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F97D5729-9383-0742-80D3-BBA860E1ED7B}"/>
              </a:ext>
            </a:extLst>
          </p:cNvPr>
          <p:cNvSpPr/>
          <p:nvPr/>
        </p:nvSpPr>
        <p:spPr>
          <a:xfrm>
            <a:off x="218663" y="77991"/>
            <a:ext cx="11737075" cy="369332"/>
          </a:xfrm>
          <a:prstGeom prst="rect">
            <a:avLst/>
          </a:prstGeom>
        </p:spPr>
        <p:txBody>
          <a:bodyPr wrap="square">
            <a:spAutoFit/>
          </a:bodyPr>
          <a:lstStyle/>
          <a:p>
            <a:pPr algn="just"/>
            <a:r>
              <a:rPr lang="en-US" b="1" dirty="0">
                <a:solidFill>
                  <a:schemeClr val="bg1"/>
                </a:solidFill>
                <a:latin typeface="Arial" panose="020B0604020202020204" pitchFamily="34" charset="0"/>
                <a:ea typeface="Times New Roman" panose="02020603050405020304" pitchFamily="18" charset="0"/>
                <a:cs typeface="Arial" panose="020B0604020202020204" pitchFamily="34" charset="0"/>
              </a:rPr>
              <a:t>Figure 4. </a:t>
            </a:r>
            <a:r>
              <a:rPr lang="en-US" b="1" i="1" dirty="0">
                <a:solidFill>
                  <a:schemeClr val="bg1"/>
                </a:solidFill>
                <a:latin typeface="Arial" panose="020B0604020202020204" pitchFamily="34" charset="0"/>
                <a:cs typeface="Arial" panose="020B0604020202020204" pitchFamily="34" charset="0"/>
              </a:rPr>
              <a:t>Reputation-Based Prediction Error: Valence by Predictability by SA.</a:t>
            </a:r>
            <a:endParaRPr lang="en-US" sz="2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3" name="TextBox 2">
            <a:extLst>
              <a:ext uri="{FF2B5EF4-FFF2-40B4-BE49-F238E27FC236}">
                <a16:creationId xmlns:a16="http://schemas.microsoft.com/office/drawing/2014/main" id="{A190A0BF-F718-C149-A71B-2F7756F7FB04}"/>
              </a:ext>
            </a:extLst>
          </p:cNvPr>
          <p:cNvSpPr txBox="1"/>
          <p:nvPr/>
        </p:nvSpPr>
        <p:spPr>
          <a:xfrm>
            <a:off x="114177" y="1129185"/>
            <a:ext cx="686406" cy="307777"/>
          </a:xfrm>
          <a:prstGeom prst="rect">
            <a:avLst/>
          </a:prstGeom>
          <a:noFill/>
        </p:spPr>
        <p:txBody>
          <a:bodyPr wrap="none" rtlCol="0">
            <a:spAutoFit/>
          </a:bodyPr>
          <a:lstStyle/>
          <a:p>
            <a:r>
              <a:rPr lang="en-US" sz="1400" dirty="0">
                <a:solidFill>
                  <a:schemeClr val="bg1"/>
                </a:solidFill>
                <a:latin typeface="Arial" panose="020B0604020202020204" pitchFamily="34" charset="0"/>
                <a:cs typeface="Arial" panose="020B0604020202020204" pitchFamily="34" charset="0"/>
              </a:rPr>
              <a:t>z= -10</a:t>
            </a:r>
          </a:p>
        </p:txBody>
      </p:sp>
      <p:sp>
        <p:nvSpPr>
          <p:cNvPr id="25" name="TextBox 24">
            <a:extLst>
              <a:ext uri="{FF2B5EF4-FFF2-40B4-BE49-F238E27FC236}">
                <a16:creationId xmlns:a16="http://schemas.microsoft.com/office/drawing/2014/main" id="{4915EB87-9B55-E840-9260-0FFE115F9373}"/>
              </a:ext>
            </a:extLst>
          </p:cNvPr>
          <p:cNvSpPr txBox="1"/>
          <p:nvPr/>
        </p:nvSpPr>
        <p:spPr>
          <a:xfrm>
            <a:off x="150424" y="3892663"/>
            <a:ext cx="735118" cy="307777"/>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z= -7</a:t>
            </a:r>
          </a:p>
        </p:txBody>
      </p:sp>
      <p:sp>
        <p:nvSpPr>
          <p:cNvPr id="26" name="TextBox 25">
            <a:extLst>
              <a:ext uri="{FF2B5EF4-FFF2-40B4-BE49-F238E27FC236}">
                <a16:creationId xmlns:a16="http://schemas.microsoft.com/office/drawing/2014/main" id="{B4AC0875-E254-4E48-9620-FBAB1899BD58}"/>
              </a:ext>
            </a:extLst>
          </p:cNvPr>
          <p:cNvSpPr txBox="1"/>
          <p:nvPr/>
        </p:nvSpPr>
        <p:spPr>
          <a:xfrm>
            <a:off x="2691637" y="1129185"/>
            <a:ext cx="587020" cy="307777"/>
          </a:xfrm>
          <a:prstGeom prst="rect">
            <a:avLst/>
          </a:prstGeom>
          <a:noFill/>
        </p:spPr>
        <p:txBody>
          <a:bodyPr wrap="none" rtlCol="0">
            <a:spAutoFit/>
          </a:bodyPr>
          <a:lstStyle/>
          <a:p>
            <a:r>
              <a:rPr lang="en-US" sz="1400" dirty="0">
                <a:solidFill>
                  <a:schemeClr val="bg1"/>
                </a:solidFill>
                <a:latin typeface="Arial" panose="020B0604020202020204" pitchFamily="34" charset="0"/>
                <a:cs typeface="Arial" panose="020B0604020202020204" pitchFamily="34" charset="0"/>
              </a:rPr>
              <a:t>x= -7</a:t>
            </a:r>
          </a:p>
        </p:txBody>
      </p:sp>
      <p:sp>
        <p:nvSpPr>
          <p:cNvPr id="27" name="TextBox 26">
            <a:extLst>
              <a:ext uri="{FF2B5EF4-FFF2-40B4-BE49-F238E27FC236}">
                <a16:creationId xmlns:a16="http://schemas.microsoft.com/office/drawing/2014/main" id="{E27FD43E-40C9-3A40-96F3-033CEA8FC1A5}"/>
              </a:ext>
            </a:extLst>
          </p:cNvPr>
          <p:cNvSpPr txBox="1"/>
          <p:nvPr/>
        </p:nvSpPr>
        <p:spPr>
          <a:xfrm>
            <a:off x="2808708" y="3892663"/>
            <a:ext cx="686406" cy="307777"/>
          </a:xfrm>
          <a:prstGeom prst="rect">
            <a:avLst/>
          </a:prstGeom>
          <a:noFill/>
        </p:spPr>
        <p:txBody>
          <a:bodyPr wrap="none" rtlCol="0">
            <a:spAutoFit/>
          </a:bodyPr>
          <a:lstStyle/>
          <a:p>
            <a:r>
              <a:rPr lang="en-US" sz="1400" dirty="0">
                <a:solidFill>
                  <a:schemeClr val="bg1"/>
                </a:solidFill>
                <a:latin typeface="Arial" panose="020B0604020202020204" pitchFamily="34" charset="0"/>
                <a:cs typeface="Arial" panose="020B0604020202020204" pitchFamily="34" charset="0"/>
              </a:rPr>
              <a:t>y= -13</a:t>
            </a:r>
          </a:p>
        </p:txBody>
      </p:sp>
      <p:sp>
        <p:nvSpPr>
          <p:cNvPr id="28" name="TextBox 27">
            <a:extLst>
              <a:ext uri="{FF2B5EF4-FFF2-40B4-BE49-F238E27FC236}">
                <a16:creationId xmlns:a16="http://schemas.microsoft.com/office/drawing/2014/main" id="{D2B6FB4E-AEEF-0344-93F0-89BF684AC1EF}"/>
              </a:ext>
            </a:extLst>
          </p:cNvPr>
          <p:cNvSpPr txBox="1"/>
          <p:nvPr/>
        </p:nvSpPr>
        <p:spPr>
          <a:xfrm>
            <a:off x="6002886" y="3892663"/>
            <a:ext cx="686406" cy="307777"/>
          </a:xfrm>
          <a:prstGeom prst="rect">
            <a:avLst/>
          </a:prstGeom>
          <a:noFill/>
        </p:spPr>
        <p:txBody>
          <a:bodyPr wrap="none" rtlCol="0">
            <a:spAutoFit/>
          </a:bodyPr>
          <a:lstStyle/>
          <a:p>
            <a:r>
              <a:rPr lang="en-US" sz="1400" dirty="0">
                <a:solidFill>
                  <a:schemeClr val="bg1"/>
                </a:solidFill>
                <a:latin typeface="Arial" panose="020B0604020202020204" pitchFamily="34" charset="0"/>
                <a:cs typeface="Arial" panose="020B0604020202020204" pitchFamily="34" charset="0"/>
              </a:rPr>
              <a:t>y= -16</a:t>
            </a:r>
          </a:p>
        </p:txBody>
      </p:sp>
      <p:sp>
        <p:nvSpPr>
          <p:cNvPr id="29" name="TextBox 28">
            <a:extLst>
              <a:ext uri="{FF2B5EF4-FFF2-40B4-BE49-F238E27FC236}">
                <a16:creationId xmlns:a16="http://schemas.microsoft.com/office/drawing/2014/main" id="{F3FD0521-4756-2A4E-A831-1FD82D7C5F12}"/>
              </a:ext>
            </a:extLst>
          </p:cNvPr>
          <p:cNvSpPr txBox="1"/>
          <p:nvPr/>
        </p:nvSpPr>
        <p:spPr>
          <a:xfrm>
            <a:off x="5856033" y="1129185"/>
            <a:ext cx="627095" cy="307777"/>
          </a:xfrm>
          <a:prstGeom prst="rect">
            <a:avLst/>
          </a:prstGeom>
          <a:noFill/>
        </p:spPr>
        <p:txBody>
          <a:bodyPr wrap="none" rtlCol="0">
            <a:spAutoFit/>
          </a:bodyPr>
          <a:lstStyle/>
          <a:p>
            <a:r>
              <a:rPr lang="en-US" sz="1400" dirty="0">
                <a:solidFill>
                  <a:schemeClr val="bg1"/>
                </a:solidFill>
                <a:latin typeface="Arial" panose="020B0604020202020204" pitchFamily="34" charset="0"/>
                <a:cs typeface="Arial" panose="020B0604020202020204" pitchFamily="34" charset="0"/>
              </a:rPr>
              <a:t>x= 10</a:t>
            </a:r>
          </a:p>
        </p:txBody>
      </p:sp>
      <p:sp>
        <p:nvSpPr>
          <p:cNvPr id="30" name="TextBox 29">
            <a:extLst>
              <a:ext uri="{FF2B5EF4-FFF2-40B4-BE49-F238E27FC236}">
                <a16:creationId xmlns:a16="http://schemas.microsoft.com/office/drawing/2014/main" id="{7D0FD8C2-5A94-B34A-80F3-D24525B04417}"/>
              </a:ext>
            </a:extLst>
          </p:cNvPr>
          <p:cNvSpPr txBox="1"/>
          <p:nvPr/>
        </p:nvSpPr>
        <p:spPr>
          <a:xfrm>
            <a:off x="8815414" y="1129185"/>
            <a:ext cx="587020" cy="307777"/>
          </a:xfrm>
          <a:prstGeom prst="rect">
            <a:avLst/>
          </a:prstGeom>
          <a:noFill/>
        </p:spPr>
        <p:txBody>
          <a:bodyPr wrap="none" rtlCol="0">
            <a:spAutoFit/>
          </a:bodyPr>
          <a:lstStyle/>
          <a:p>
            <a:r>
              <a:rPr lang="en-US" sz="1400" dirty="0">
                <a:solidFill>
                  <a:schemeClr val="bg1"/>
                </a:solidFill>
                <a:latin typeface="Arial" panose="020B0604020202020204" pitchFamily="34" charset="0"/>
                <a:cs typeface="Arial" panose="020B0604020202020204" pitchFamily="34" charset="0"/>
              </a:rPr>
              <a:t>x= -7</a:t>
            </a:r>
          </a:p>
        </p:txBody>
      </p:sp>
    </p:spTree>
    <p:extLst>
      <p:ext uri="{BB962C8B-B14F-4D97-AF65-F5344CB8AC3E}">
        <p14:creationId xmlns:p14="http://schemas.microsoft.com/office/powerpoint/2010/main" val="969829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Box 59">
            <a:extLst>
              <a:ext uri="{FF2B5EF4-FFF2-40B4-BE49-F238E27FC236}">
                <a16:creationId xmlns:a16="http://schemas.microsoft.com/office/drawing/2014/main" id="{2DC868F8-5F31-104C-AB9A-4E73BF3EA669}"/>
              </a:ext>
            </a:extLst>
          </p:cNvPr>
          <p:cNvSpPr txBox="1"/>
          <p:nvPr/>
        </p:nvSpPr>
        <p:spPr>
          <a:xfrm rot="16200000">
            <a:off x="-309636" y="2988055"/>
            <a:ext cx="4454154" cy="646331"/>
          </a:xfrm>
          <a:prstGeom prst="rect">
            <a:avLst/>
          </a:prstGeom>
          <a:solidFill>
            <a:schemeClr val="bg1"/>
          </a:solidFill>
        </p:spPr>
        <p:txBody>
          <a:bodyPr wrap="square" rtlCol="0">
            <a:spAutoFit/>
          </a:bodyPr>
          <a:lstStyle/>
          <a:p>
            <a:pPr algn="ctr"/>
            <a:r>
              <a:rPr lang="en-US" dirty="0">
                <a:latin typeface="Arial" panose="020B0604020202020204" pitchFamily="34" charset="0"/>
                <a:cs typeface="Arial" panose="020B0604020202020204" pitchFamily="34" charset="0"/>
              </a:rPr>
              <a:t>Effect Size of Reputation-Based Prediction-Error on Activation</a:t>
            </a:r>
          </a:p>
        </p:txBody>
      </p:sp>
      <p:sp>
        <p:nvSpPr>
          <p:cNvPr id="61" name="TextBox 60">
            <a:extLst>
              <a:ext uri="{FF2B5EF4-FFF2-40B4-BE49-F238E27FC236}">
                <a16:creationId xmlns:a16="http://schemas.microsoft.com/office/drawing/2014/main" id="{8181E190-C7EE-DC44-BEBB-6881436AB561}"/>
              </a:ext>
            </a:extLst>
          </p:cNvPr>
          <p:cNvSpPr txBox="1"/>
          <p:nvPr/>
        </p:nvSpPr>
        <p:spPr>
          <a:xfrm>
            <a:off x="4684962" y="5598465"/>
            <a:ext cx="2775183" cy="369332"/>
          </a:xfrm>
          <a:prstGeom prst="rect">
            <a:avLst/>
          </a:prstGeom>
          <a:solidFill>
            <a:schemeClr val="bg1"/>
          </a:solidFill>
        </p:spPr>
        <p:txBody>
          <a:bodyPr wrap="none" rtlCol="0">
            <a:spAutoFit/>
          </a:bodyPr>
          <a:lstStyle/>
          <a:p>
            <a:r>
              <a:rPr lang="en-US" dirty="0">
                <a:latin typeface="Arial" panose="020B0604020202020204" pitchFamily="34" charset="0"/>
                <a:cs typeface="Arial" panose="020B0604020202020204" pitchFamily="34" charset="0"/>
              </a:rPr>
              <a:t>Social Anxiety Symptoms</a:t>
            </a:r>
          </a:p>
        </p:txBody>
      </p:sp>
      <p:sp>
        <p:nvSpPr>
          <p:cNvPr id="13" name="TextBox 12">
            <a:extLst>
              <a:ext uri="{FF2B5EF4-FFF2-40B4-BE49-F238E27FC236}">
                <a16:creationId xmlns:a16="http://schemas.microsoft.com/office/drawing/2014/main" id="{49E4545E-10F8-0F4A-9948-DFD441C47A9D}"/>
              </a:ext>
            </a:extLst>
          </p:cNvPr>
          <p:cNvSpPr txBox="1"/>
          <p:nvPr/>
        </p:nvSpPr>
        <p:spPr>
          <a:xfrm>
            <a:off x="133250" y="116731"/>
            <a:ext cx="9645846" cy="338554"/>
          </a:xfrm>
          <a:prstGeom prst="rect">
            <a:avLst/>
          </a:prstGeom>
          <a:noFill/>
        </p:spPr>
        <p:txBody>
          <a:bodyPr wrap="none" rtlCol="0">
            <a:spAutoFit/>
          </a:bodyPr>
          <a:lstStyle/>
          <a:p>
            <a:r>
              <a:rPr lang="en-US" sz="1600" b="1" dirty="0">
                <a:latin typeface="Arial" panose="020B0604020202020204" pitchFamily="34" charset="0"/>
                <a:ea typeface="Times New Roman" panose="02020603050405020304" pitchFamily="18" charset="0"/>
              </a:rPr>
              <a:t>Figure 5. Decomposition of Reputation-Based Prediction Error: Valence by Predictability by SA</a:t>
            </a:r>
            <a:endParaRPr lang="en-US" sz="1600" dirty="0"/>
          </a:p>
        </p:txBody>
      </p:sp>
      <p:pic>
        <p:nvPicPr>
          <p:cNvPr id="4" name="Picture 3">
            <a:extLst>
              <a:ext uri="{FF2B5EF4-FFF2-40B4-BE49-F238E27FC236}">
                <a16:creationId xmlns:a16="http://schemas.microsoft.com/office/drawing/2014/main" id="{9710F78D-76B0-B57E-0098-46F7A44A02E8}"/>
              </a:ext>
            </a:extLst>
          </p:cNvPr>
          <p:cNvPicPr>
            <a:picLocks noChangeAspect="1"/>
          </p:cNvPicPr>
          <p:nvPr/>
        </p:nvPicPr>
        <p:blipFill rotWithShape="1">
          <a:blip r:embed="rId4"/>
          <a:srcRect l="4988" t="21269" r="5293" b="7281"/>
          <a:stretch/>
        </p:blipFill>
        <p:spPr>
          <a:xfrm>
            <a:off x="2164450" y="1401315"/>
            <a:ext cx="7264286" cy="4264524"/>
          </a:xfrm>
          <a:prstGeom prst="rect">
            <a:avLst/>
          </a:prstGeom>
        </p:spPr>
      </p:pic>
      <p:sp>
        <p:nvSpPr>
          <p:cNvPr id="5" name="TextBox 4">
            <a:extLst>
              <a:ext uri="{FF2B5EF4-FFF2-40B4-BE49-F238E27FC236}">
                <a16:creationId xmlns:a16="http://schemas.microsoft.com/office/drawing/2014/main" id="{FDFB79E9-9B4A-4F98-5EFB-52EE0E62FF24}"/>
              </a:ext>
            </a:extLst>
          </p:cNvPr>
          <p:cNvSpPr txBox="1"/>
          <p:nvPr/>
        </p:nvSpPr>
        <p:spPr>
          <a:xfrm>
            <a:off x="4948391" y="805085"/>
            <a:ext cx="2149948" cy="400110"/>
          </a:xfrm>
          <a:prstGeom prst="rect">
            <a:avLst/>
          </a:prstGeom>
          <a:solidFill>
            <a:schemeClr val="bg1"/>
          </a:solidFill>
        </p:spPr>
        <p:txBody>
          <a:bodyPr wrap="none" rtlCol="0">
            <a:spAutoFit/>
          </a:bodyPr>
          <a:lstStyle/>
          <a:p>
            <a:r>
              <a:rPr lang="en-US" sz="2000" b="1" dirty="0">
                <a:latin typeface="Arial" panose="020B0604020202020204" pitchFamily="34" charset="0"/>
                <a:cs typeface="Arial" panose="020B0604020202020204" pitchFamily="34" charset="0"/>
              </a:rPr>
              <a:t>Bilateral </a:t>
            </a:r>
            <a:r>
              <a:rPr lang="en-US" sz="2000" b="1" dirty="0" err="1">
                <a:latin typeface="Arial" panose="020B0604020202020204" pitchFamily="34" charset="0"/>
                <a:cs typeface="Arial" panose="020B0604020202020204" pitchFamily="34" charset="0"/>
              </a:rPr>
              <a:t>vmPFC</a:t>
            </a:r>
            <a:endParaRPr lang="en-US" sz="2000"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3336789-B80F-F215-B324-235E8DDBE496}"/>
              </a:ext>
            </a:extLst>
          </p:cNvPr>
          <p:cNvSpPr txBox="1"/>
          <p:nvPr/>
        </p:nvSpPr>
        <p:spPr>
          <a:xfrm>
            <a:off x="10080235" y="4066638"/>
            <a:ext cx="1666288"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Nice- reputation</a:t>
            </a:r>
          </a:p>
        </p:txBody>
      </p:sp>
      <p:sp>
        <p:nvSpPr>
          <p:cNvPr id="7" name="TextBox 6">
            <a:extLst>
              <a:ext uri="{FF2B5EF4-FFF2-40B4-BE49-F238E27FC236}">
                <a16:creationId xmlns:a16="http://schemas.microsoft.com/office/drawing/2014/main" id="{2765D285-DBD1-32AB-66EE-02D7124A613E}"/>
              </a:ext>
            </a:extLst>
          </p:cNvPr>
          <p:cNvSpPr txBox="1"/>
          <p:nvPr/>
        </p:nvSpPr>
        <p:spPr>
          <a:xfrm>
            <a:off x="10080234" y="4400156"/>
            <a:ext cx="1853087"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Mean - reputation</a:t>
            </a:r>
          </a:p>
        </p:txBody>
      </p:sp>
      <p:cxnSp>
        <p:nvCxnSpPr>
          <p:cNvPr id="8" name="Straight Connector 7">
            <a:extLst>
              <a:ext uri="{FF2B5EF4-FFF2-40B4-BE49-F238E27FC236}">
                <a16:creationId xmlns:a16="http://schemas.microsoft.com/office/drawing/2014/main" id="{BCAFFF72-E9FA-7F0E-4D20-DE9310155976}"/>
              </a:ext>
            </a:extLst>
          </p:cNvPr>
          <p:cNvCxnSpPr>
            <a:cxnSpLocks/>
          </p:cNvCxnSpPr>
          <p:nvPr/>
        </p:nvCxnSpPr>
        <p:spPr>
          <a:xfrm flipH="1">
            <a:off x="9804742" y="4220526"/>
            <a:ext cx="275493" cy="0"/>
          </a:xfrm>
          <a:prstGeom prst="line">
            <a:avLst/>
          </a:prstGeom>
          <a:ln w="38100">
            <a:solidFill>
              <a:srgbClr val="0175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4F6BC02-0266-051B-2CA2-7DF5075FACB6}"/>
              </a:ext>
            </a:extLst>
          </p:cNvPr>
          <p:cNvCxnSpPr>
            <a:cxnSpLocks/>
          </p:cNvCxnSpPr>
          <p:nvPr/>
        </p:nvCxnSpPr>
        <p:spPr>
          <a:xfrm flipH="1">
            <a:off x="9804741" y="4554044"/>
            <a:ext cx="275493" cy="0"/>
          </a:xfrm>
          <a:prstGeom prst="line">
            <a:avLst/>
          </a:prstGeom>
          <a:ln w="38100">
            <a:solidFill>
              <a:srgbClr val="FF43EA"/>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A6ABDA9-88D6-5145-977E-23EBA52D694C}"/>
              </a:ext>
            </a:extLst>
          </p:cNvPr>
          <p:cNvSpPr txBox="1"/>
          <p:nvPr/>
        </p:nvSpPr>
        <p:spPr>
          <a:xfrm>
            <a:off x="2637692" y="1209538"/>
            <a:ext cx="3387970" cy="369332"/>
          </a:xfrm>
          <a:prstGeom prst="rect">
            <a:avLst/>
          </a:prstGeom>
          <a:solidFill>
            <a:schemeClr val="bg2"/>
          </a:solidFill>
          <a:ln>
            <a:solidFill>
              <a:schemeClr val="tx1"/>
            </a:solidFill>
          </a:ln>
        </p:spPr>
        <p:txBody>
          <a:bodyPr wrap="square" rtlCol="0">
            <a:spAutoFit/>
          </a:bodyPr>
          <a:lstStyle/>
          <a:p>
            <a:pPr algn="ctr"/>
            <a:r>
              <a:rPr lang="en-US" dirty="0">
                <a:latin typeface="Arial" panose="020B0604020202020204" pitchFamily="34" charset="0"/>
                <a:cs typeface="Arial" panose="020B0604020202020204" pitchFamily="34" charset="0"/>
              </a:rPr>
              <a:t>     Unpredictable </a:t>
            </a:r>
            <a:r>
              <a:rPr lang="en-US" sz="1200" dirty="0">
                <a:latin typeface="Arial" panose="020B0604020202020204" pitchFamily="34" charset="0"/>
                <a:cs typeface="Arial" panose="020B0604020202020204" pitchFamily="34" charset="0"/>
              </a:rPr>
              <a:t>(Munpred, Nunpred)</a:t>
            </a:r>
          </a:p>
        </p:txBody>
      </p:sp>
      <p:pic>
        <p:nvPicPr>
          <p:cNvPr id="15" name="Picture 14">
            <a:extLst>
              <a:ext uri="{FF2B5EF4-FFF2-40B4-BE49-F238E27FC236}">
                <a16:creationId xmlns:a16="http://schemas.microsoft.com/office/drawing/2014/main" id="{5773547B-8B39-9A44-8FCB-82D13FD278E3}"/>
              </a:ext>
            </a:extLst>
          </p:cNvPr>
          <p:cNvPicPr>
            <a:picLocks noChangeAspect="1"/>
          </p:cNvPicPr>
          <p:nvPr/>
        </p:nvPicPr>
        <p:blipFill rotWithShape="1">
          <a:blip r:embed="rId4"/>
          <a:srcRect l="4988" t="13818" r="5293" b="81318"/>
          <a:stretch/>
        </p:blipFill>
        <p:spPr>
          <a:xfrm>
            <a:off x="2148684" y="5271097"/>
            <a:ext cx="7264286" cy="290301"/>
          </a:xfrm>
          <a:prstGeom prst="rect">
            <a:avLst/>
          </a:prstGeom>
        </p:spPr>
      </p:pic>
      <p:sp>
        <p:nvSpPr>
          <p:cNvPr id="16" name="TextBox 15">
            <a:extLst>
              <a:ext uri="{FF2B5EF4-FFF2-40B4-BE49-F238E27FC236}">
                <a16:creationId xmlns:a16="http://schemas.microsoft.com/office/drawing/2014/main" id="{C1C0A55B-63A6-3B40-B2DC-9D8DBF3EC558}"/>
              </a:ext>
            </a:extLst>
          </p:cNvPr>
          <p:cNvSpPr txBox="1"/>
          <p:nvPr/>
        </p:nvSpPr>
        <p:spPr>
          <a:xfrm>
            <a:off x="6025695" y="1209538"/>
            <a:ext cx="3387970" cy="369332"/>
          </a:xfrm>
          <a:prstGeom prst="rect">
            <a:avLst/>
          </a:prstGeom>
          <a:solidFill>
            <a:schemeClr val="bg2"/>
          </a:solidFill>
          <a:ln>
            <a:solidFill>
              <a:schemeClr val="tx1"/>
            </a:solidFill>
          </a:ln>
        </p:spPr>
        <p:txBody>
          <a:bodyPr wrap="square" rtlCol="0">
            <a:spAutoFit/>
          </a:bodyPr>
          <a:lstStyle/>
          <a:p>
            <a:pPr algn="ctr"/>
            <a:r>
              <a:rPr lang="en-US" dirty="0">
                <a:latin typeface="Arial" panose="020B0604020202020204" pitchFamily="34" charset="0"/>
                <a:cs typeface="Arial" panose="020B0604020202020204" pitchFamily="34" charset="0"/>
              </a:rPr>
              <a:t>      Predictable </a:t>
            </a:r>
            <a:r>
              <a:rPr lang="en-US" sz="1200" dirty="0">
                <a:latin typeface="Arial" panose="020B0604020202020204" pitchFamily="34" charset="0"/>
                <a:cs typeface="Arial" panose="020B0604020202020204" pitchFamily="34" charset="0"/>
              </a:rPr>
              <a:t>(Mpred, Npred)</a:t>
            </a:r>
          </a:p>
        </p:txBody>
      </p:sp>
      <p:cxnSp>
        <p:nvCxnSpPr>
          <p:cNvPr id="17" name="Straight Connector 16">
            <a:extLst>
              <a:ext uri="{FF2B5EF4-FFF2-40B4-BE49-F238E27FC236}">
                <a16:creationId xmlns:a16="http://schemas.microsoft.com/office/drawing/2014/main" id="{E5BC68DC-4631-0F4A-84AC-97207FDEAF9C}"/>
              </a:ext>
            </a:extLst>
          </p:cNvPr>
          <p:cNvCxnSpPr>
            <a:cxnSpLocks/>
          </p:cNvCxnSpPr>
          <p:nvPr/>
        </p:nvCxnSpPr>
        <p:spPr>
          <a:xfrm flipV="1">
            <a:off x="4252647" y="1583635"/>
            <a:ext cx="0" cy="3609841"/>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E9196C5-5B70-4848-8797-34AABBB00A5B}"/>
              </a:ext>
            </a:extLst>
          </p:cNvPr>
          <p:cNvCxnSpPr>
            <a:cxnSpLocks/>
          </p:cNvCxnSpPr>
          <p:nvPr/>
        </p:nvCxnSpPr>
        <p:spPr>
          <a:xfrm flipV="1">
            <a:off x="7640616" y="1583635"/>
            <a:ext cx="0" cy="3609841"/>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347731B-327C-9748-A364-75681E6C1DFF}"/>
              </a:ext>
            </a:extLst>
          </p:cNvPr>
          <p:cNvCxnSpPr>
            <a:cxnSpLocks/>
          </p:cNvCxnSpPr>
          <p:nvPr/>
        </p:nvCxnSpPr>
        <p:spPr>
          <a:xfrm>
            <a:off x="9804741" y="4862729"/>
            <a:ext cx="275495" cy="1"/>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D093720-674A-7E49-8364-AAC99804C085}"/>
              </a:ext>
            </a:extLst>
          </p:cNvPr>
          <p:cNvSpPr txBox="1"/>
          <p:nvPr/>
        </p:nvSpPr>
        <p:spPr>
          <a:xfrm>
            <a:off x="10080234" y="4708841"/>
            <a:ext cx="19723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SA Diagnostic Cutoff</a:t>
            </a:r>
          </a:p>
        </p:txBody>
      </p:sp>
      <p:sp>
        <p:nvSpPr>
          <p:cNvPr id="25" name="TextBox 24">
            <a:extLst>
              <a:ext uri="{FF2B5EF4-FFF2-40B4-BE49-F238E27FC236}">
                <a16:creationId xmlns:a16="http://schemas.microsoft.com/office/drawing/2014/main" id="{14E7E7B6-157C-2748-93C2-2FDDFC1C4838}"/>
              </a:ext>
            </a:extLst>
          </p:cNvPr>
          <p:cNvSpPr txBox="1"/>
          <p:nvPr/>
        </p:nvSpPr>
        <p:spPr>
          <a:xfrm>
            <a:off x="2613909" y="1197663"/>
            <a:ext cx="415498"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A.</a:t>
            </a:r>
          </a:p>
        </p:txBody>
      </p:sp>
      <p:sp>
        <p:nvSpPr>
          <p:cNvPr id="29" name="TextBox 28">
            <a:extLst>
              <a:ext uri="{FF2B5EF4-FFF2-40B4-BE49-F238E27FC236}">
                <a16:creationId xmlns:a16="http://schemas.microsoft.com/office/drawing/2014/main" id="{29E9D8C1-3496-DE47-BF9A-FF9999BAD331}"/>
              </a:ext>
            </a:extLst>
          </p:cNvPr>
          <p:cNvSpPr txBox="1"/>
          <p:nvPr/>
        </p:nvSpPr>
        <p:spPr>
          <a:xfrm>
            <a:off x="6001877" y="1197663"/>
            <a:ext cx="415498"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B.</a:t>
            </a:r>
          </a:p>
        </p:txBody>
      </p:sp>
      <p:sp>
        <p:nvSpPr>
          <p:cNvPr id="2" name="TextBox 1">
            <a:extLst>
              <a:ext uri="{FF2B5EF4-FFF2-40B4-BE49-F238E27FC236}">
                <a16:creationId xmlns:a16="http://schemas.microsoft.com/office/drawing/2014/main" id="{2FCAE45C-CFE9-D58A-4291-34091CB18A5C}"/>
              </a:ext>
            </a:extLst>
          </p:cNvPr>
          <p:cNvSpPr txBox="1"/>
          <p:nvPr/>
        </p:nvSpPr>
        <p:spPr>
          <a:xfrm>
            <a:off x="3132118" y="1566995"/>
            <a:ext cx="679994" cy="261610"/>
          </a:xfrm>
          <a:prstGeom prst="rect">
            <a:avLst/>
          </a:prstGeom>
          <a:noFill/>
        </p:spPr>
        <p:txBody>
          <a:bodyPr wrap="none" rtlCol="0">
            <a:spAutoFit/>
          </a:bodyPr>
          <a:lstStyle/>
          <a:p>
            <a:r>
              <a:rPr lang="en-US" sz="1100" dirty="0">
                <a:latin typeface="Arial" panose="020B0604020202020204" pitchFamily="34" charset="0"/>
                <a:cs typeface="Arial" panose="020B0604020202020204" pitchFamily="34" charset="0"/>
              </a:rPr>
              <a:t>Non-SA</a:t>
            </a:r>
          </a:p>
        </p:txBody>
      </p:sp>
      <p:sp>
        <p:nvSpPr>
          <p:cNvPr id="11" name="TextBox 10">
            <a:extLst>
              <a:ext uri="{FF2B5EF4-FFF2-40B4-BE49-F238E27FC236}">
                <a16:creationId xmlns:a16="http://schemas.microsoft.com/office/drawing/2014/main" id="{C161FC33-BD18-67C5-305F-A8F9E2E014A9}"/>
              </a:ext>
            </a:extLst>
          </p:cNvPr>
          <p:cNvSpPr txBox="1"/>
          <p:nvPr/>
        </p:nvSpPr>
        <p:spPr>
          <a:xfrm>
            <a:off x="4902955" y="1576960"/>
            <a:ext cx="373820" cy="261610"/>
          </a:xfrm>
          <a:prstGeom prst="rect">
            <a:avLst/>
          </a:prstGeom>
          <a:noFill/>
        </p:spPr>
        <p:txBody>
          <a:bodyPr wrap="none" rtlCol="0">
            <a:spAutoFit/>
          </a:bodyPr>
          <a:lstStyle/>
          <a:p>
            <a:r>
              <a:rPr lang="en-US" sz="1100" dirty="0">
                <a:latin typeface="Arial" panose="020B0604020202020204" pitchFamily="34" charset="0"/>
                <a:cs typeface="Arial" panose="020B0604020202020204" pitchFamily="34" charset="0"/>
              </a:rPr>
              <a:t>SA</a:t>
            </a:r>
          </a:p>
        </p:txBody>
      </p:sp>
      <p:sp>
        <p:nvSpPr>
          <p:cNvPr id="3" name="TextBox 2">
            <a:extLst>
              <a:ext uri="{FF2B5EF4-FFF2-40B4-BE49-F238E27FC236}">
                <a16:creationId xmlns:a16="http://schemas.microsoft.com/office/drawing/2014/main" id="{2210CDA0-6E6C-949F-B2F5-EC03FFB6CDF7}"/>
              </a:ext>
            </a:extLst>
          </p:cNvPr>
          <p:cNvSpPr txBox="1"/>
          <p:nvPr/>
        </p:nvSpPr>
        <p:spPr>
          <a:xfrm>
            <a:off x="6520088" y="1573670"/>
            <a:ext cx="679994" cy="261610"/>
          </a:xfrm>
          <a:prstGeom prst="rect">
            <a:avLst/>
          </a:prstGeom>
          <a:noFill/>
        </p:spPr>
        <p:txBody>
          <a:bodyPr wrap="none" rtlCol="0">
            <a:spAutoFit/>
          </a:bodyPr>
          <a:lstStyle/>
          <a:p>
            <a:r>
              <a:rPr lang="en-US" sz="1100" dirty="0">
                <a:latin typeface="Arial" panose="020B0604020202020204" pitchFamily="34" charset="0"/>
                <a:cs typeface="Arial" panose="020B0604020202020204" pitchFamily="34" charset="0"/>
              </a:rPr>
              <a:t>Non-SA</a:t>
            </a:r>
          </a:p>
        </p:txBody>
      </p:sp>
      <p:sp>
        <p:nvSpPr>
          <p:cNvPr id="12" name="TextBox 11">
            <a:extLst>
              <a:ext uri="{FF2B5EF4-FFF2-40B4-BE49-F238E27FC236}">
                <a16:creationId xmlns:a16="http://schemas.microsoft.com/office/drawing/2014/main" id="{4B976DF6-1AE6-354D-714B-22A90D148AE5}"/>
              </a:ext>
            </a:extLst>
          </p:cNvPr>
          <p:cNvSpPr txBox="1"/>
          <p:nvPr/>
        </p:nvSpPr>
        <p:spPr>
          <a:xfrm>
            <a:off x="8351082" y="1583635"/>
            <a:ext cx="373820" cy="261610"/>
          </a:xfrm>
          <a:prstGeom prst="rect">
            <a:avLst/>
          </a:prstGeom>
          <a:noFill/>
        </p:spPr>
        <p:txBody>
          <a:bodyPr wrap="none" rtlCol="0">
            <a:spAutoFit/>
          </a:bodyPr>
          <a:lstStyle/>
          <a:p>
            <a:r>
              <a:rPr lang="en-US" sz="1100" dirty="0">
                <a:latin typeface="Arial" panose="020B0604020202020204" pitchFamily="34" charset="0"/>
                <a:cs typeface="Arial" panose="020B0604020202020204" pitchFamily="34" charset="0"/>
              </a:rPr>
              <a:t>SA</a:t>
            </a:r>
          </a:p>
        </p:txBody>
      </p:sp>
    </p:spTree>
    <p:extLst>
      <p:ext uri="{BB962C8B-B14F-4D97-AF65-F5344CB8AC3E}">
        <p14:creationId xmlns:p14="http://schemas.microsoft.com/office/powerpoint/2010/main" val="2726532595"/>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53EB41-23C0-714C-B726-AD92E96E4A62}"/>
              </a:ext>
            </a:extLst>
          </p:cNvPr>
          <p:cNvPicPr>
            <a:picLocks noChangeAspect="1"/>
          </p:cNvPicPr>
          <p:nvPr/>
        </p:nvPicPr>
        <p:blipFill rotWithShape="1">
          <a:blip r:embed="rId4"/>
          <a:srcRect r="1751" b="2702"/>
          <a:stretch/>
        </p:blipFill>
        <p:spPr>
          <a:xfrm>
            <a:off x="742385" y="3111500"/>
            <a:ext cx="2630736" cy="3248660"/>
          </a:xfrm>
          <a:prstGeom prst="rect">
            <a:avLst/>
          </a:prstGeom>
          <a:effectLst/>
        </p:spPr>
      </p:pic>
      <p:pic>
        <p:nvPicPr>
          <p:cNvPr id="7" name="Picture 6">
            <a:extLst>
              <a:ext uri="{FF2B5EF4-FFF2-40B4-BE49-F238E27FC236}">
                <a16:creationId xmlns:a16="http://schemas.microsoft.com/office/drawing/2014/main" id="{2465231C-6730-5B42-95B8-5B0D27D3B808}"/>
              </a:ext>
            </a:extLst>
          </p:cNvPr>
          <p:cNvPicPr>
            <a:picLocks noChangeAspect="1"/>
          </p:cNvPicPr>
          <p:nvPr/>
        </p:nvPicPr>
        <p:blipFill>
          <a:blip r:embed="rId5"/>
          <a:stretch>
            <a:fillRect/>
          </a:stretch>
        </p:blipFill>
        <p:spPr>
          <a:xfrm>
            <a:off x="598511" y="523254"/>
            <a:ext cx="3067137" cy="2473184"/>
          </a:xfrm>
          <a:prstGeom prst="rect">
            <a:avLst/>
          </a:prstGeom>
        </p:spPr>
      </p:pic>
      <p:pic>
        <p:nvPicPr>
          <p:cNvPr id="9" name="Picture 8">
            <a:extLst>
              <a:ext uri="{FF2B5EF4-FFF2-40B4-BE49-F238E27FC236}">
                <a16:creationId xmlns:a16="http://schemas.microsoft.com/office/drawing/2014/main" id="{6596D87C-E6EE-1142-A7DE-78F4CC125BAE}"/>
              </a:ext>
            </a:extLst>
          </p:cNvPr>
          <p:cNvPicPr>
            <a:picLocks noChangeAspect="1"/>
          </p:cNvPicPr>
          <p:nvPr/>
        </p:nvPicPr>
        <p:blipFill>
          <a:blip r:embed="rId6"/>
          <a:stretch>
            <a:fillRect/>
          </a:stretch>
        </p:blipFill>
        <p:spPr>
          <a:xfrm>
            <a:off x="7612556" y="517853"/>
            <a:ext cx="3266565" cy="2511947"/>
          </a:xfrm>
          <a:prstGeom prst="rect">
            <a:avLst/>
          </a:prstGeom>
        </p:spPr>
      </p:pic>
      <p:pic>
        <p:nvPicPr>
          <p:cNvPr id="11" name="Picture 10">
            <a:extLst>
              <a:ext uri="{FF2B5EF4-FFF2-40B4-BE49-F238E27FC236}">
                <a16:creationId xmlns:a16="http://schemas.microsoft.com/office/drawing/2014/main" id="{358B36D2-3691-E849-AF9A-D0985B092C32}"/>
              </a:ext>
            </a:extLst>
          </p:cNvPr>
          <p:cNvPicPr>
            <a:picLocks noChangeAspect="1"/>
          </p:cNvPicPr>
          <p:nvPr/>
        </p:nvPicPr>
        <p:blipFill>
          <a:blip r:embed="rId7"/>
          <a:stretch>
            <a:fillRect/>
          </a:stretch>
        </p:blipFill>
        <p:spPr>
          <a:xfrm>
            <a:off x="4069218" y="644947"/>
            <a:ext cx="3313468" cy="2384853"/>
          </a:xfrm>
          <a:prstGeom prst="rect">
            <a:avLst/>
          </a:prstGeom>
        </p:spPr>
      </p:pic>
      <p:pic>
        <p:nvPicPr>
          <p:cNvPr id="13" name="Picture 12">
            <a:extLst>
              <a:ext uri="{FF2B5EF4-FFF2-40B4-BE49-F238E27FC236}">
                <a16:creationId xmlns:a16="http://schemas.microsoft.com/office/drawing/2014/main" id="{9E7247DA-C469-774A-9241-47A922614ABF}"/>
              </a:ext>
            </a:extLst>
          </p:cNvPr>
          <p:cNvPicPr>
            <a:picLocks noChangeAspect="1"/>
          </p:cNvPicPr>
          <p:nvPr/>
        </p:nvPicPr>
        <p:blipFill>
          <a:blip r:embed="rId8"/>
          <a:stretch>
            <a:fillRect/>
          </a:stretch>
        </p:blipFill>
        <p:spPr>
          <a:xfrm>
            <a:off x="3989547" y="3236195"/>
            <a:ext cx="2980812" cy="2818396"/>
          </a:xfrm>
          <a:prstGeom prst="rect">
            <a:avLst/>
          </a:prstGeom>
        </p:spPr>
      </p:pic>
      <p:sp>
        <p:nvSpPr>
          <p:cNvPr id="20" name="Rectangle 19">
            <a:extLst>
              <a:ext uri="{FF2B5EF4-FFF2-40B4-BE49-F238E27FC236}">
                <a16:creationId xmlns:a16="http://schemas.microsoft.com/office/drawing/2014/main" id="{EC521EB6-FCB4-CC4D-B1BF-ABDA980286BB}"/>
              </a:ext>
            </a:extLst>
          </p:cNvPr>
          <p:cNvSpPr/>
          <p:nvPr/>
        </p:nvSpPr>
        <p:spPr>
          <a:xfrm>
            <a:off x="0" y="96426"/>
            <a:ext cx="11737075" cy="369332"/>
          </a:xfrm>
          <a:prstGeom prst="rect">
            <a:avLst/>
          </a:prstGeom>
        </p:spPr>
        <p:txBody>
          <a:bodyPr wrap="square">
            <a:spAutoFit/>
          </a:bodyPr>
          <a:lstStyle/>
          <a:p>
            <a:pPr algn="just"/>
            <a:r>
              <a:rPr lang="en-US" b="1" dirty="0">
                <a:solidFill>
                  <a:schemeClr val="bg1"/>
                </a:solidFill>
                <a:latin typeface="Arial" panose="020B0604020202020204" pitchFamily="34" charset="0"/>
                <a:ea typeface="Times New Roman" panose="02020603050405020304" pitchFamily="18" charset="0"/>
                <a:cs typeface="Arial" panose="020B0604020202020204" pitchFamily="34" charset="0"/>
              </a:rPr>
              <a:t>Figure S1. Apriori Network Mask Sub-regions.</a:t>
            </a:r>
            <a:r>
              <a:rPr lang="en-US"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US" sz="2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15" name="TextBox 14">
            <a:extLst>
              <a:ext uri="{FF2B5EF4-FFF2-40B4-BE49-F238E27FC236}">
                <a16:creationId xmlns:a16="http://schemas.microsoft.com/office/drawing/2014/main" id="{2E4CAF0F-D67E-1546-BDC2-3C6173FEFD5D}"/>
              </a:ext>
            </a:extLst>
          </p:cNvPr>
          <p:cNvSpPr txBox="1"/>
          <p:nvPr/>
        </p:nvSpPr>
        <p:spPr>
          <a:xfrm>
            <a:off x="379826" y="500700"/>
            <a:ext cx="351378" cy="369332"/>
          </a:xfrm>
          <a:prstGeom prst="rect">
            <a:avLst/>
          </a:prstGeom>
          <a:noFill/>
        </p:spPr>
        <p:txBody>
          <a:bodyPr wrap="none" rtlCol="0">
            <a:spAutoFit/>
          </a:bodyPr>
          <a:lstStyle/>
          <a:p>
            <a:r>
              <a:rPr lang="en-US" b="1" dirty="0">
                <a:solidFill>
                  <a:schemeClr val="bg1"/>
                </a:solidFill>
                <a:latin typeface="Arial" panose="020B0604020202020204" pitchFamily="34" charset="0"/>
                <a:cs typeface="Arial" panose="020B0604020202020204" pitchFamily="34" charset="0"/>
              </a:rPr>
              <a:t>A</a:t>
            </a:r>
          </a:p>
        </p:txBody>
      </p:sp>
      <p:sp>
        <p:nvSpPr>
          <p:cNvPr id="16" name="TextBox 15">
            <a:extLst>
              <a:ext uri="{FF2B5EF4-FFF2-40B4-BE49-F238E27FC236}">
                <a16:creationId xmlns:a16="http://schemas.microsoft.com/office/drawing/2014/main" id="{5C3FA4C4-9F29-B047-A9C7-826D30F30009}"/>
              </a:ext>
            </a:extLst>
          </p:cNvPr>
          <p:cNvSpPr txBox="1"/>
          <p:nvPr/>
        </p:nvSpPr>
        <p:spPr>
          <a:xfrm>
            <a:off x="3901341" y="494140"/>
            <a:ext cx="351378" cy="369332"/>
          </a:xfrm>
          <a:prstGeom prst="rect">
            <a:avLst/>
          </a:prstGeom>
          <a:noFill/>
        </p:spPr>
        <p:txBody>
          <a:bodyPr wrap="none" rtlCol="0">
            <a:spAutoFit/>
          </a:bodyPr>
          <a:lstStyle/>
          <a:p>
            <a:r>
              <a:rPr lang="en-US" b="1" dirty="0">
                <a:solidFill>
                  <a:schemeClr val="bg1"/>
                </a:solidFill>
                <a:latin typeface="Arial" panose="020B0604020202020204" pitchFamily="34" charset="0"/>
                <a:cs typeface="Arial" panose="020B0604020202020204" pitchFamily="34" charset="0"/>
              </a:rPr>
              <a:t>B</a:t>
            </a:r>
          </a:p>
        </p:txBody>
      </p:sp>
      <p:sp>
        <p:nvSpPr>
          <p:cNvPr id="17" name="TextBox 16">
            <a:extLst>
              <a:ext uri="{FF2B5EF4-FFF2-40B4-BE49-F238E27FC236}">
                <a16:creationId xmlns:a16="http://schemas.microsoft.com/office/drawing/2014/main" id="{D8049213-DF3A-DD42-828B-2085589BA6F7}"/>
              </a:ext>
            </a:extLst>
          </p:cNvPr>
          <p:cNvSpPr txBox="1"/>
          <p:nvPr/>
        </p:nvSpPr>
        <p:spPr>
          <a:xfrm>
            <a:off x="7459309" y="517853"/>
            <a:ext cx="351378" cy="369332"/>
          </a:xfrm>
          <a:prstGeom prst="rect">
            <a:avLst/>
          </a:prstGeom>
          <a:noFill/>
        </p:spPr>
        <p:txBody>
          <a:bodyPr wrap="none" rtlCol="0">
            <a:spAutoFit/>
          </a:bodyPr>
          <a:lstStyle/>
          <a:p>
            <a:r>
              <a:rPr lang="en-US" b="1" dirty="0">
                <a:solidFill>
                  <a:schemeClr val="bg1"/>
                </a:solidFill>
                <a:latin typeface="Arial" panose="020B0604020202020204" pitchFamily="34" charset="0"/>
                <a:cs typeface="Arial" panose="020B0604020202020204" pitchFamily="34" charset="0"/>
              </a:rPr>
              <a:t>C</a:t>
            </a:r>
          </a:p>
        </p:txBody>
      </p:sp>
      <p:sp>
        <p:nvSpPr>
          <p:cNvPr id="18" name="TextBox 17">
            <a:extLst>
              <a:ext uri="{FF2B5EF4-FFF2-40B4-BE49-F238E27FC236}">
                <a16:creationId xmlns:a16="http://schemas.microsoft.com/office/drawing/2014/main" id="{4192B79F-ABBB-664D-B133-D70D81D3D700}"/>
              </a:ext>
            </a:extLst>
          </p:cNvPr>
          <p:cNvSpPr txBox="1"/>
          <p:nvPr/>
        </p:nvSpPr>
        <p:spPr>
          <a:xfrm>
            <a:off x="397460" y="3287204"/>
            <a:ext cx="351378" cy="369332"/>
          </a:xfrm>
          <a:prstGeom prst="rect">
            <a:avLst/>
          </a:prstGeom>
          <a:noFill/>
        </p:spPr>
        <p:txBody>
          <a:bodyPr wrap="none" rtlCol="0">
            <a:spAutoFit/>
          </a:bodyPr>
          <a:lstStyle/>
          <a:p>
            <a:r>
              <a:rPr lang="en-US" b="1" dirty="0">
                <a:solidFill>
                  <a:schemeClr val="bg1"/>
                </a:solidFill>
                <a:latin typeface="Arial" panose="020B0604020202020204" pitchFamily="34" charset="0"/>
                <a:cs typeface="Arial" panose="020B0604020202020204" pitchFamily="34" charset="0"/>
              </a:rPr>
              <a:t>D</a:t>
            </a:r>
          </a:p>
        </p:txBody>
      </p:sp>
      <p:sp>
        <p:nvSpPr>
          <p:cNvPr id="19" name="TextBox 18">
            <a:extLst>
              <a:ext uri="{FF2B5EF4-FFF2-40B4-BE49-F238E27FC236}">
                <a16:creationId xmlns:a16="http://schemas.microsoft.com/office/drawing/2014/main" id="{F7ED1D11-5612-E847-854F-B89CD758E264}"/>
              </a:ext>
            </a:extLst>
          </p:cNvPr>
          <p:cNvSpPr txBox="1"/>
          <p:nvPr/>
        </p:nvSpPr>
        <p:spPr>
          <a:xfrm>
            <a:off x="3824277" y="3319838"/>
            <a:ext cx="338554" cy="369332"/>
          </a:xfrm>
          <a:prstGeom prst="rect">
            <a:avLst/>
          </a:prstGeom>
          <a:noFill/>
        </p:spPr>
        <p:txBody>
          <a:bodyPr wrap="none" rtlCol="0">
            <a:spAutoFit/>
          </a:bodyPr>
          <a:lstStyle/>
          <a:p>
            <a:r>
              <a:rPr lang="en-US" b="1" dirty="0">
                <a:solidFill>
                  <a:schemeClr val="bg1"/>
                </a:solidFill>
                <a:latin typeface="Arial" panose="020B0604020202020204" pitchFamily="34" charset="0"/>
                <a:cs typeface="Arial" panose="020B0604020202020204" pitchFamily="34" charset="0"/>
              </a:rPr>
              <a:t>E</a:t>
            </a:r>
          </a:p>
        </p:txBody>
      </p:sp>
      <p:sp>
        <p:nvSpPr>
          <p:cNvPr id="14" name="TextBox 13">
            <a:extLst>
              <a:ext uri="{FF2B5EF4-FFF2-40B4-BE49-F238E27FC236}">
                <a16:creationId xmlns:a16="http://schemas.microsoft.com/office/drawing/2014/main" id="{7CD0BD5D-A152-9042-8750-3A012625E808}"/>
              </a:ext>
            </a:extLst>
          </p:cNvPr>
          <p:cNvSpPr txBox="1"/>
          <p:nvPr/>
        </p:nvSpPr>
        <p:spPr>
          <a:xfrm>
            <a:off x="245657" y="922134"/>
            <a:ext cx="587020" cy="307777"/>
          </a:xfrm>
          <a:prstGeom prst="rect">
            <a:avLst/>
          </a:prstGeom>
          <a:noFill/>
        </p:spPr>
        <p:txBody>
          <a:bodyPr wrap="none" rtlCol="0">
            <a:spAutoFit/>
          </a:bodyPr>
          <a:lstStyle/>
          <a:p>
            <a:r>
              <a:rPr lang="en-US" sz="1400" dirty="0">
                <a:solidFill>
                  <a:schemeClr val="bg1"/>
                </a:solidFill>
                <a:latin typeface="Arial" panose="020B0604020202020204" pitchFamily="34" charset="0"/>
                <a:cs typeface="Arial" panose="020B0604020202020204" pitchFamily="34" charset="0"/>
              </a:rPr>
              <a:t>x= -3</a:t>
            </a:r>
          </a:p>
        </p:txBody>
      </p:sp>
      <p:sp>
        <p:nvSpPr>
          <p:cNvPr id="21" name="TextBox 20">
            <a:extLst>
              <a:ext uri="{FF2B5EF4-FFF2-40B4-BE49-F238E27FC236}">
                <a16:creationId xmlns:a16="http://schemas.microsoft.com/office/drawing/2014/main" id="{646A8AEE-3E3F-E846-BB73-EC95CACA059A}"/>
              </a:ext>
            </a:extLst>
          </p:cNvPr>
          <p:cNvSpPr txBox="1"/>
          <p:nvPr/>
        </p:nvSpPr>
        <p:spPr>
          <a:xfrm>
            <a:off x="3742271" y="922134"/>
            <a:ext cx="587020" cy="307777"/>
          </a:xfrm>
          <a:prstGeom prst="rect">
            <a:avLst/>
          </a:prstGeom>
          <a:noFill/>
        </p:spPr>
        <p:txBody>
          <a:bodyPr wrap="none" rtlCol="0">
            <a:spAutoFit/>
          </a:bodyPr>
          <a:lstStyle/>
          <a:p>
            <a:r>
              <a:rPr lang="en-US" sz="1400" dirty="0">
                <a:solidFill>
                  <a:schemeClr val="bg1"/>
                </a:solidFill>
                <a:latin typeface="Arial" panose="020B0604020202020204" pitchFamily="34" charset="0"/>
                <a:cs typeface="Arial" panose="020B0604020202020204" pitchFamily="34" charset="0"/>
              </a:rPr>
              <a:t>x= -5</a:t>
            </a:r>
          </a:p>
        </p:txBody>
      </p:sp>
      <p:sp>
        <p:nvSpPr>
          <p:cNvPr id="22" name="TextBox 21">
            <a:extLst>
              <a:ext uri="{FF2B5EF4-FFF2-40B4-BE49-F238E27FC236}">
                <a16:creationId xmlns:a16="http://schemas.microsoft.com/office/drawing/2014/main" id="{6A58DCEE-4314-5540-B896-E9D9B6788230}"/>
              </a:ext>
            </a:extLst>
          </p:cNvPr>
          <p:cNvSpPr txBox="1"/>
          <p:nvPr/>
        </p:nvSpPr>
        <p:spPr>
          <a:xfrm>
            <a:off x="7274963" y="922134"/>
            <a:ext cx="587020" cy="307777"/>
          </a:xfrm>
          <a:prstGeom prst="rect">
            <a:avLst/>
          </a:prstGeom>
          <a:noFill/>
        </p:spPr>
        <p:txBody>
          <a:bodyPr wrap="none" rtlCol="0">
            <a:spAutoFit/>
          </a:bodyPr>
          <a:lstStyle/>
          <a:p>
            <a:r>
              <a:rPr lang="en-US" sz="1400" dirty="0">
                <a:solidFill>
                  <a:schemeClr val="bg1"/>
                </a:solidFill>
                <a:latin typeface="Arial" panose="020B0604020202020204" pitchFamily="34" charset="0"/>
                <a:cs typeface="Arial" panose="020B0604020202020204" pitchFamily="34" charset="0"/>
              </a:rPr>
              <a:t>x= -5</a:t>
            </a:r>
          </a:p>
        </p:txBody>
      </p:sp>
      <p:sp>
        <p:nvSpPr>
          <p:cNvPr id="23" name="TextBox 22">
            <a:extLst>
              <a:ext uri="{FF2B5EF4-FFF2-40B4-BE49-F238E27FC236}">
                <a16:creationId xmlns:a16="http://schemas.microsoft.com/office/drawing/2014/main" id="{BCD80D99-DE8D-414C-9172-E3A731F169A3}"/>
              </a:ext>
            </a:extLst>
          </p:cNvPr>
          <p:cNvSpPr txBox="1"/>
          <p:nvPr/>
        </p:nvSpPr>
        <p:spPr>
          <a:xfrm>
            <a:off x="251717" y="3633611"/>
            <a:ext cx="587020" cy="307777"/>
          </a:xfrm>
          <a:prstGeom prst="rect">
            <a:avLst/>
          </a:prstGeom>
          <a:noFill/>
        </p:spPr>
        <p:txBody>
          <a:bodyPr wrap="none" rtlCol="0">
            <a:spAutoFit/>
          </a:bodyPr>
          <a:lstStyle/>
          <a:p>
            <a:r>
              <a:rPr lang="en-US" sz="1400" dirty="0">
                <a:solidFill>
                  <a:schemeClr val="bg1"/>
                </a:solidFill>
                <a:latin typeface="Arial" panose="020B0604020202020204" pitchFamily="34" charset="0"/>
                <a:cs typeface="Arial" panose="020B0604020202020204" pitchFamily="34" charset="0"/>
              </a:rPr>
              <a:t>z= -4</a:t>
            </a:r>
          </a:p>
        </p:txBody>
      </p:sp>
      <p:sp>
        <p:nvSpPr>
          <p:cNvPr id="24" name="TextBox 23">
            <a:extLst>
              <a:ext uri="{FF2B5EF4-FFF2-40B4-BE49-F238E27FC236}">
                <a16:creationId xmlns:a16="http://schemas.microsoft.com/office/drawing/2014/main" id="{C67ACA4B-1A15-9544-9D6D-157EE8F72A10}"/>
              </a:ext>
            </a:extLst>
          </p:cNvPr>
          <p:cNvSpPr txBox="1"/>
          <p:nvPr/>
        </p:nvSpPr>
        <p:spPr>
          <a:xfrm>
            <a:off x="3665648" y="3633611"/>
            <a:ext cx="673069" cy="307777"/>
          </a:xfrm>
          <a:prstGeom prst="rect">
            <a:avLst/>
          </a:prstGeom>
          <a:noFill/>
        </p:spPr>
        <p:txBody>
          <a:bodyPr wrap="none" rtlCol="0">
            <a:spAutoFit/>
          </a:bodyPr>
          <a:lstStyle/>
          <a:p>
            <a:r>
              <a:rPr lang="en-US" sz="1400" dirty="0">
                <a:solidFill>
                  <a:schemeClr val="bg1"/>
                </a:solidFill>
                <a:latin typeface="Arial" panose="020B0604020202020204" pitchFamily="34" charset="0"/>
                <a:cs typeface="Arial" panose="020B0604020202020204" pitchFamily="34" charset="0"/>
              </a:rPr>
              <a:t>y= -11</a:t>
            </a:r>
          </a:p>
        </p:txBody>
      </p:sp>
    </p:spTree>
    <p:extLst>
      <p:ext uri="{BB962C8B-B14F-4D97-AF65-F5344CB8AC3E}">
        <p14:creationId xmlns:p14="http://schemas.microsoft.com/office/powerpoint/2010/main" val="1024353563"/>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13981</TotalTime>
  <Words>621</Words>
  <Application>Microsoft Macintosh PowerPoint</Application>
  <PresentationFormat>Widescreen</PresentationFormat>
  <Paragraphs>127</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Tessa Clarkson</dc:creator>
  <cp:lastModifiedBy>Daniel Zweben</cp:lastModifiedBy>
  <cp:revision>72</cp:revision>
  <dcterms:created xsi:type="dcterms:W3CDTF">2022-10-12T19:40:26Z</dcterms:created>
  <dcterms:modified xsi:type="dcterms:W3CDTF">2025-09-13T01:58:18Z</dcterms:modified>
</cp:coreProperties>
</file>