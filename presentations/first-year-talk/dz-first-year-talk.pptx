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7" r:id="rId2"/>
    <p:sldId id="405" r:id="rId3"/>
    <p:sldId id="360" r:id="rId4"/>
    <p:sldId id="355" r:id="rId5"/>
    <p:sldId id="411" r:id="rId6"/>
    <p:sldId id="409" r:id="rId7"/>
    <p:sldId id="387" r:id="rId8"/>
    <p:sldId id="365" r:id="rId9"/>
    <p:sldId id="302" r:id="rId10"/>
    <p:sldId id="264" r:id="rId11"/>
    <p:sldId id="290" r:id="rId12"/>
    <p:sldId id="382" r:id="rId13"/>
    <p:sldId id="289" r:id="rId14"/>
    <p:sldId id="303" r:id="rId15"/>
    <p:sldId id="375" r:id="rId16"/>
    <p:sldId id="342" r:id="rId17"/>
    <p:sldId id="293" r:id="rId18"/>
    <p:sldId id="378" r:id="rId19"/>
    <p:sldId id="380" r:id="rId20"/>
    <p:sldId id="392" r:id="rId21"/>
    <p:sldId id="423" r:id="rId22"/>
    <p:sldId id="341" r:id="rId23"/>
    <p:sldId id="361" r:id="rId24"/>
    <p:sldId id="334" r:id="rId25"/>
    <p:sldId id="333" r:id="rId26"/>
    <p:sldId id="413" r:id="rId27"/>
    <p:sldId id="389" r:id="rId28"/>
    <p:sldId id="377" r:id="rId29"/>
    <p:sldId id="376" r:id="rId30"/>
    <p:sldId id="412" r:id="rId31"/>
    <p:sldId id="390" r:id="rId32"/>
    <p:sldId id="414" r:id="rId33"/>
    <p:sldId id="415" r:id="rId34"/>
    <p:sldId id="416" r:id="rId35"/>
    <p:sldId id="417" r:id="rId36"/>
    <p:sldId id="419" r:id="rId37"/>
    <p:sldId id="42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70"/>
    <p:restoredTop sz="88477"/>
  </p:normalViewPr>
  <p:slideViewPr>
    <p:cSldViewPr snapToGrid="0">
      <p:cViewPr varScale="1">
        <p:scale>
          <a:sx n="107" d="100"/>
          <a:sy n="107" d="100"/>
        </p:scale>
        <p:origin x="10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777DA2-5B5E-004B-9E9A-5DEFB6C5E652}" type="datetimeFigureOut">
              <a:rPr lang="en-US" smtClean="0"/>
              <a:t>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94F48C-0150-AF4E-B146-CC53B0B46AA6}" type="slidenum">
              <a:rPr lang="en-US" smtClean="0"/>
              <a:t>‹#›</a:t>
            </a:fld>
            <a:endParaRPr lang="en-US"/>
          </a:p>
        </p:txBody>
      </p:sp>
    </p:spTree>
    <p:extLst>
      <p:ext uri="{BB962C8B-B14F-4D97-AF65-F5344CB8AC3E}">
        <p14:creationId xmlns:p14="http://schemas.microsoft.com/office/powerpoint/2010/main" val="129630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Today I'm presenting my work on neural representations of social feedback in adolescent social anxiety disorder.</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50405-259B-85A6-5349-6229AD212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96D31-7252-30F1-7EF0-3571DB4637BA}"/>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25C2A6A-3DCE-347F-3E79-559FCA62D007}"/>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start — imagine you're an eleven-year-old with social anxiety disorder. I know that's a tough ask, but come with me.</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It's your first day of school. You're in the cafeteria trying to figure out where to sit, and you finally spot a table that looks quieter – they look nice. You walk over — and just as you get close, some kids at a table across the way start giggling.</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5AE88B5-13D6-6EE5-C64D-26E8394E1A49}"/>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697108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do we know about this moment for someone with social anxiety? You might have an increased threat response — amygdala firing, reduced prefrontal regulation. You think they're all laughing at you. There's increased self-focused processing and activation in your default mood network: </a:t>
            </a:r>
            <a:r>
              <a:rPr lang="en-US" sz="1200" i="1" kern="1200" dirty="0">
                <a:solidFill>
                  <a:schemeClr val="tx1"/>
                </a:solidFill>
                <a:effectLst/>
                <a:latin typeface="+mn-lt"/>
                <a:ea typeface="+mn-ea"/>
                <a:cs typeface="+mn-cs"/>
              </a:rPr>
              <a:t>I need to move right, act right, make sure no one's laughing at me.</a:t>
            </a:r>
            <a:r>
              <a:rPr lang="en-US" sz="1200" kern="1200" dirty="0">
                <a:solidFill>
                  <a:schemeClr val="tx1"/>
                </a:solidFill>
                <a:effectLst/>
                <a:latin typeface="+mn-lt"/>
                <a:ea typeface="+mn-ea"/>
                <a:cs typeface="+mn-cs"/>
              </a:rPr>
              <a:t> Later comes post-event processing — biased belief updating: </a:t>
            </a:r>
            <a:r>
              <a:rPr lang="en-US" sz="1200" i="1" kern="1200" dirty="0">
                <a:solidFill>
                  <a:schemeClr val="tx1"/>
                </a:solidFill>
                <a:effectLst/>
                <a:latin typeface="+mn-lt"/>
                <a:ea typeface="+mn-ea"/>
                <a:cs typeface="+mn-cs"/>
              </a:rPr>
              <a:t>everyone</a:t>
            </a:r>
            <a:r>
              <a:rPr lang="en-US" sz="1200" kern="1200" dirty="0">
                <a:solidFill>
                  <a:schemeClr val="tx1"/>
                </a:solidFill>
                <a:effectLst/>
                <a:latin typeface="+mn-lt"/>
                <a:ea typeface="+mn-ea"/>
                <a:cs typeface="+mn-cs"/>
              </a:rPr>
              <a:t> in the cafeteria was laughing at me. And then avoidance of the cafeteria going forward, and a distorted self-image: </a:t>
            </a:r>
            <a:r>
              <a:rPr lang="en-US" sz="1200" i="1" kern="1200" dirty="0">
                <a:solidFill>
                  <a:schemeClr val="tx1"/>
                </a:solidFill>
                <a:effectLst/>
                <a:latin typeface="+mn-lt"/>
                <a:ea typeface="+mn-ea"/>
                <a:cs typeface="+mn-cs"/>
              </a:rPr>
              <a:t>I'm the loser, nobody wants to sit with me.</a:t>
            </a:r>
            <a:endParaRPr lang="en-US"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DF891-CEE1-170E-28FB-B020B0BC0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7E880-77F8-8D2B-0B79-87F1B23CDB6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8B7FA9A4-61BB-4B8A-B99F-56ABF4B5EB06}"/>
              </a:ext>
            </a:extLst>
          </p:cNvPr>
          <p:cNvSpPr>
            <a:spLocks noGrp="1"/>
          </p:cNvSpPr>
          <p:nvPr>
            <p:ph type="body" sz="quarter" idx="3"/>
          </p:nvPr>
        </p:nvSpPr>
        <p:spPr/>
        <p:txBody>
          <a:bodyPr/>
          <a:lstStyle/>
          <a:p>
            <a:r>
              <a:rPr lang="en-US" sz="1200" kern="1200" dirty="0">
                <a:solidFill>
                  <a:schemeClr val="tx1"/>
                </a:solidFill>
                <a:effectLst/>
                <a:latin typeface="+mn-lt"/>
                <a:ea typeface="+mn-ea"/>
                <a:cs typeface="+mn-cs"/>
              </a:rPr>
              <a:t>But I want to ask a different question. Did this individual's brain represent the event </a:t>
            </a:r>
            <a:r>
              <a:rPr lang="en-US" sz="1200" i="1" kern="1200" dirty="0">
                <a:solidFill>
                  <a:schemeClr val="tx1"/>
                </a:solidFill>
                <a:effectLst/>
                <a:latin typeface="+mn-lt"/>
                <a:ea typeface="+mn-ea"/>
                <a:cs typeface="+mn-cs"/>
              </a:rPr>
              <a:t>itself</a:t>
            </a:r>
            <a:r>
              <a:rPr lang="en-US" sz="1200" kern="1200" dirty="0">
                <a:solidFill>
                  <a:schemeClr val="tx1"/>
                </a:solidFill>
                <a:effectLst/>
                <a:latin typeface="+mn-lt"/>
                <a:ea typeface="+mn-ea"/>
                <a:cs typeface="+mn-cs"/>
              </a:rPr>
              <a:t> in a way that was uniquely complex and counterproductive to confident social functioning?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Most neural findings describe how socially anxious adolescents react to and remember social cues — rather than how they organize and represent the structure of their social world.</a:t>
            </a:r>
          </a:p>
          <a:p>
            <a:endParaRPr dirty="0"/>
          </a:p>
        </p:txBody>
      </p:sp>
      <p:sp>
        <p:nvSpPr>
          <p:cNvPr id="4" name="Slide Number Placeholder 3">
            <a:extLst>
              <a:ext uri="{FF2B5EF4-FFF2-40B4-BE49-F238E27FC236}">
                <a16:creationId xmlns:a16="http://schemas.microsoft.com/office/drawing/2014/main" id="{24E35DFC-6F91-B885-859D-C818149B395A}"/>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286164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we have reason to think that structure may be unique and idiosyncratic. Fear comes with a heterogeneous set of beliefs about what others think and judge. Social environments may be uniquely understood, represented, and learned in individuals with SAD — making shared understandings and friendships harder to form. And neural representations of social stimuli have been shown to be more idiosyncratic (or unique) in individuals with greater social anxiety symptoms.</a:t>
            </a:r>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5</a:t>
            </a:fld>
            <a:endParaRPr lang="en-US"/>
          </a:p>
        </p:txBody>
      </p:sp>
    </p:spTree>
    <p:extLst>
      <p:ext uri="{BB962C8B-B14F-4D97-AF65-F5344CB8AC3E}">
        <p14:creationId xmlns:p14="http://schemas.microsoft.com/office/powerpoint/2010/main" val="2374741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Multivariate analyses can tell us more. </a:t>
            </a:r>
          </a:p>
          <a:p>
            <a:endParaRPr lang="en-US" sz="1200" kern="1200" dirty="0">
              <a:solidFill>
                <a:schemeClr val="tx1"/>
              </a:solidFill>
              <a:effectLst/>
              <a:latin typeface="+mn-lt"/>
              <a:ea typeface="+mn-ea"/>
              <a:cs typeface="+mn-cs"/>
            </a:endParaRPr>
          </a:p>
          <a:p>
            <a:r>
              <a:rPr lang="en-US" dirty="0"/>
              <a:t>the multivariate methods - we can move beyond </a:t>
            </a:r>
            <a:r>
              <a:rPr lang="en-US" i="1" dirty="0"/>
              <a:t>whether</a:t>
            </a:r>
            <a:r>
              <a:rPr lang="en-US" dirty="0"/>
              <a:t> a region responds to how the brain organizes distinct stimuli relative to each other —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Today I'll use representational similarity analysis — rather than averaging BOLD signal to look at differences in </a:t>
            </a:r>
            <a:r>
              <a:rPr lang="en-US" sz="1200" i="1" kern="1200" dirty="0">
                <a:solidFill>
                  <a:schemeClr val="tx1"/>
                </a:solidFill>
                <a:effectLst/>
                <a:latin typeface="+mn-lt"/>
                <a:ea typeface="+mn-ea"/>
                <a:cs typeface="+mn-cs"/>
              </a:rPr>
              <a:t>activation</a:t>
            </a:r>
            <a:r>
              <a:rPr lang="en-US" sz="1200" kern="1200" dirty="0">
                <a:solidFill>
                  <a:schemeClr val="tx1"/>
                </a:solidFill>
                <a:effectLst/>
                <a:latin typeface="+mn-lt"/>
                <a:ea typeface="+mn-ea"/>
                <a:cs typeface="+mn-cs"/>
              </a:rPr>
              <a:t>, we look at the entire </a:t>
            </a:r>
            <a:r>
              <a:rPr lang="en-US" sz="1200" i="1" kern="1200" dirty="0">
                <a:solidFill>
                  <a:schemeClr val="tx1"/>
                </a:solidFill>
                <a:effectLst/>
                <a:latin typeface="+mn-lt"/>
                <a:ea typeface="+mn-ea"/>
                <a:cs typeface="+mn-cs"/>
              </a:rPr>
              <a:t>pattern</a:t>
            </a:r>
            <a:r>
              <a:rPr lang="en-US" sz="1200" kern="1200" dirty="0">
                <a:solidFill>
                  <a:schemeClr val="tx1"/>
                </a:solidFill>
                <a:effectLst/>
                <a:latin typeface="+mn-lt"/>
                <a:ea typeface="+mn-ea"/>
                <a:cs typeface="+mn-cs"/>
              </a:rPr>
              <a:t> of activation to ask whether there are geometric differences</a:t>
            </a:r>
            <a:r>
              <a:rPr lang="en-US" dirty="0">
                <a:effectLst/>
              </a:rPr>
              <a:t> </a:t>
            </a:r>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6</a:t>
            </a:fld>
            <a:endParaRPr lang="en-US"/>
          </a:p>
        </p:txBody>
      </p:sp>
    </p:spTree>
    <p:extLst>
      <p:ext uri="{BB962C8B-B14F-4D97-AF65-F5344CB8AC3E}">
        <p14:creationId xmlns:p14="http://schemas.microsoft.com/office/powerpoint/2010/main" val="610507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we'll look at the temporal dynamics of that signal — to ask whether social anxiety predicts divergent </a:t>
            </a:r>
            <a:r>
              <a:rPr lang="en-US" sz="1200" i="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of neural activation during social interaction.</a:t>
            </a:r>
          </a:p>
          <a:p>
            <a:endParaRPr lang="en-US" dirty="0"/>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7</a:t>
            </a:fld>
            <a:endParaRPr lang="en-US"/>
          </a:p>
        </p:txBody>
      </p:sp>
    </p:spTree>
    <p:extLst>
      <p:ext uri="{BB962C8B-B14F-4D97-AF65-F5344CB8AC3E}">
        <p14:creationId xmlns:p14="http://schemas.microsoft.com/office/powerpoint/2010/main" val="1756160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two questions today. First: do neural representations in SAD reflect different rates of social learning? Does the brain's representational geometry come to mirror the true peer-task structure over time?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Second: is social anxiety related to increasingly divergent neural activation patterns during the task — do socially anxious adolescents each represent peer feedback in their own unique way, less group-aligned than their peers?</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 me walk through the task.</a:t>
            </a:r>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9</a:t>
            </a:fld>
            <a:endParaRPr lang="en-US"/>
          </a:p>
        </p:txBody>
      </p:sp>
    </p:spTree>
    <p:extLst>
      <p:ext uri="{BB962C8B-B14F-4D97-AF65-F5344CB8AC3E}">
        <p14:creationId xmlns:p14="http://schemas.microsoft.com/office/powerpoint/2010/main" val="17747775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have data from 33 children and adolescents, ages 10 to 15. Social anxiety was measured dimensionally using the SCARED social anxiety subscale, and about 30% of our participants also met diagnostic criteria for SAD.</a:t>
            </a:r>
          </a:p>
          <a:p>
            <a:endParaRPr lang="en-US" dirty="0"/>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EAC9C-F52A-DBD2-7B83-9F4BDFCF5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E1B9F-D67D-7955-CA12-75C0BFC6FCF8}"/>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FD4CF27-2030-DA63-C636-CEAE7949C6E3}"/>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scanner, participants interacted with peers in a virtual school. Before going in, they built their own avatar, set their hobbies, made a profile — and were told they'd interact with four other participants just like them.</a:t>
            </a:r>
          </a:p>
          <a:p>
            <a:endParaRPr dirty="0"/>
          </a:p>
        </p:txBody>
      </p:sp>
      <p:sp>
        <p:nvSpPr>
          <p:cNvPr id="4" name="Slide Number Placeholder 3">
            <a:extLst>
              <a:ext uri="{FF2B5EF4-FFF2-40B4-BE49-F238E27FC236}">
                <a16:creationId xmlns:a16="http://schemas.microsoft.com/office/drawing/2014/main" id="{A244C39E-855E-D10C-4108-23F162F76CA8}"/>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44314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D8186-57B7-DF1F-6928-71A6D6249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D948A-B83B-FBA3-51A1-0E5C102A222F}"/>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5D6F470-A0AE-E5B6-B2C9-6FD082364686}"/>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they didn't know: we programmed these four peers to have different dispositions. On the left, a very nice peer who's nice to them 80% of the time. That drops by 20% as you go right — and by the end, you have a peer who's mean to you 80% of the time.</a:t>
            </a:r>
          </a:p>
          <a:p>
            <a:endParaRPr dirty="0"/>
          </a:p>
        </p:txBody>
      </p:sp>
      <p:sp>
        <p:nvSpPr>
          <p:cNvPr id="4" name="Slide Number Placeholder 3">
            <a:extLst>
              <a:ext uri="{FF2B5EF4-FFF2-40B4-BE49-F238E27FC236}">
                <a16:creationId xmlns:a16="http://schemas.microsoft.com/office/drawing/2014/main" id="{E1E7950E-724D-33D4-A432-C9971276ED90}"/>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750920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3A1B-DFD7-4A62-40FE-29ECEA334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97003-61C5-EE7D-EF73-9093DCA25D9E}"/>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8319099-5732-FB47-EC33-F65E5F232CE0}"/>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Each trial has three phases. First, a prediction phase: </a:t>
            </a:r>
            <a:r>
              <a:rPr lang="en-US" sz="1200" kern="1200">
                <a:solidFill>
                  <a:schemeClr val="tx1"/>
                </a:solidFill>
                <a:effectLst/>
                <a:latin typeface="+mn-lt"/>
                <a:ea typeface="+mn-ea"/>
                <a:cs typeface="+mn-cs"/>
              </a:rPr>
              <a:t>participants see </a:t>
            </a:r>
            <a:r>
              <a:rPr lang="en-US" sz="1200" kern="1200" dirty="0">
                <a:solidFill>
                  <a:schemeClr val="tx1"/>
                </a:solidFill>
                <a:effectLst/>
                <a:latin typeface="+mn-lt"/>
                <a:ea typeface="+mn-ea"/>
                <a:cs typeface="+mn-cs"/>
              </a:rPr>
              <a:t>an upcoming interaction and predict whether the peer will be nice or mean. Then feedback — the peer might insult them, or tell them their outfit rocks. Then participants get a chance to respond.</a:t>
            </a:r>
          </a:p>
          <a:p>
            <a:endParaRPr dirty="0"/>
          </a:p>
        </p:txBody>
      </p:sp>
      <p:sp>
        <p:nvSpPr>
          <p:cNvPr id="4" name="Slide Number Placeholder 3">
            <a:extLst>
              <a:ext uri="{FF2B5EF4-FFF2-40B4-BE49-F238E27FC236}">
                <a16:creationId xmlns:a16="http://schemas.microsoft.com/office/drawing/2014/main" id="{59027C66-C298-16A8-6912-6C0FF5EBEACC}"/>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54952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7317D-E4DB-E0C9-AB8B-E199E542D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69C22-5BA1-818A-C311-7D0B9ADEE709}"/>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8BBBE557-B69B-6068-BE92-C8DEBB56BFD0}"/>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Participants completed four classrooms — four runs — each six and a half minutes. In each classroom they interacted with the same four peers, eight times each. 128 trials total, in a controlled random order across participants.</a:t>
            </a:r>
          </a:p>
          <a:p>
            <a:endParaRPr dirty="0"/>
          </a:p>
        </p:txBody>
      </p:sp>
      <p:sp>
        <p:nvSpPr>
          <p:cNvPr id="4" name="Slide Number Placeholder 3">
            <a:extLst>
              <a:ext uri="{FF2B5EF4-FFF2-40B4-BE49-F238E27FC236}">
                <a16:creationId xmlns:a16="http://schemas.microsoft.com/office/drawing/2014/main" id="{056FC1AA-7462-5765-C62D-5CFE3F12C742}"/>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37526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C8507-9625-A6FB-D24E-6121424DA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F6565-4895-0CC5-3AFA-C6696364592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35000E73-D328-C375-910B-81100F73F6F6}"/>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all neural analyses we used 35 a priori social brain ROIs, drawn from a coordinate-based meta-analysis of nearly 4,000 neuroimaging experiments. That meta-analysis identified 35 regions across four functional subsystems: visual-sensory, limbic-affective, embodied simulation, and mentalizing.</a:t>
            </a:r>
          </a:p>
          <a:p>
            <a:endParaRPr dirty="0"/>
          </a:p>
        </p:txBody>
      </p:sp>
      <p:sp>
        <p:nvSpPr>
          <p:cNvPr id="4" name="Slide Number Placeholder 3">
            <a:extLst>
              <a:ext uri="{FF2B5EF4-FFF2-40B4-BE49-F238E27FC236}">
                <a16:creationId xmlns:a16="http://schemas.microsoft.com/office/drawing/2014/main" id="{9F032D31-89A5-D0F5-D547-8D9F4A57A899}"/>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017070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 question 1. Neural representations of social learning rates in SAD.</a:t>
            </a:r>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16</a:t>
            </a:fld>
            <a:endParaRPr lang="en-US"/>
          </a:p>
        </p:txBody>
      </p:sp>
    </p:spTree>
    <p:extLst>
      <p:ext uri="{BB962C8B-B14F-4D97-AF65-F5344CB8AC3E}">
        <p14:creationId xmlns:p14="http://schemas.microsoft.com/office/powerpoint/2010/main" val="4200803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52C67-811A-1737-DCD9-EB94DE72B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EB970-7BA9-F33E-34D5-27D68B1E4D6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8B0671E6-EEE7-7918-57B2-7A8DAF97323F}"/>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Does social anxiety predict to what degree, and at what rate, neural representation of the four peers comes to match the true peer-identity structure across the four runs of the task?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know what your thinking - </a:t>
            </a:r>
            <a:r>
              <a:rPr lang="en-US" sz="1200" kern="1200" dirty="0">
                <a:solidFill>
                  <a:schemeClr val="tx1"/>
                </a:solidFill>
                <a:effectLst/>
                <a:latin typeface="+mn-lt"/>
                <a:ea typeface="+mn-ea"/>
                <a:cs typeface="+mn-cs"/>
              </a:rPr>
              <a:t>How do we use RSA to ask this?</a:t>
            </a:r>
          </a:p>
        </p:txBody>
      </p:sp>
      <p:sp>
        <p:nvSpPr>
          <p:cNvPr id="4" name="Slide Number Placeholder 3">
            <a:extLst>
              <a:ext uri="{FF2B5EF4-FFF2-40B4-BE49-F238E27FC236}">
                <a16:creationId xmlns:a16="http://schemas.microsoft.com/office/drawing/2014/main" id="{F6F7B854-A05D-DC77-26FD-4B91C46D680E}"/>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78945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C9C69-0022-D13A-D17D-1B1DD492A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6CD10-F90C-6FBC-1262-FD1552D1C7B6}"/>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307054C7-1320-320E-F4B9-8FBC6555133E}"/>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RSA lets us ask, for each participant, whether two conditions look the same across the voxels of a region. Instead of averaging voxels, we lay them out in a vector — and ask whether the </a:t>
            </a:r>
            <a:r>
              <a:rPr lang="en-US" sz="1200" i="1" kern="1200" dirty="0">
                <a:solidFill>
                  <a:schemeClr val="tx1"/>
                </a:solidFill>
                <a:effectLst/>
                <a:latin typeface="+mn-lt"/>
                <a:ea typeface="+mn-ea"/>
                <a:cs typeface="+mn-cs"/>
              </a:rPr>
              <a:t>shape</a:t>
            </a:r>
            <a:r>
              <a:rPr lang="en-US" sz="1200" kern="1200" dirty="0">
                <a:solidFill>
                  <a:schemeClr val="tx1"/>
                </a:solidFill>
                <a:effectLst/>
                <a:latin typeface="+mn-lt"/>
                <a:ea typeface="+mn-ea"/>
                <a:cs typeface="+mn-cs"/>
              </a:rPr>
              <a:t> of those vectors, the relative pattern of activation across voxels, is correlated between conditions. That correlation gets converted to a dissimilarity score.</a:t>
            </a:r>
          </a:p>
          <a:p>
            <a:endParaRPr lang="en-US" dirty="0"/>
          </a:p>
          <a:p>
            <a:r>
              <a:rPr lang="en-US" dirty="0"/>
              <a:t>Here the 2 conditions is the different peers, averaged across the entire task. </a:t>
            </a:r>
            <a:endParaRPr dirty="0"/>
          </a:p>
        </p:txBody>
      </p:sp>
      <p:sp>
        <p:nvSpPr>
          <p:cNvPr id="4" name="Slide Number Placeholder 3">
            <a:extLst>
              <a:ext uri="{FF2B5EF4-FFF2-40B4-BE49-F238E27FC236}">
                <a16:creationId xmlns:a16="http://schemas.microsoft.com/office/drawing/2014/main" id="{C004E6E2-6C5D-72D7-A682-4C40DC41C9D1}"/>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49677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D4085-0DBE-DA11-36D0-8FBA7F726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6D5811-E4F6-8B01-4260-E7BF3D082CE5}"/>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B9A451B-E4EE-F1A3-38E0-A1F9FCA5E8AB}"/>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But we want to ask this across all four peers.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For a given participant, we take their neural representation of each peer across </a:t>
            </a:r>
            <a:r>
              <a:rPr lang="en-US" sz="1200" kern="1200">
                <a:solidFill>
                  <a:schemeClr val="tx1"/>
                </a:solidFill>
                <a:effectLst/>
                <a:latin typeface="+mn-lt"/>
                <a:ea typeface="+mn-ea"/>
                <a:cs typeface="+mn-cs"/>
              </a:rPr>
              <a:t>the whole task </a:t>
            </a:r>
            <a:endParaRPr lang="en-US" sz="120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8CE35D57-95F4-5A7B-7D36-E81272100DD1}"/>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37221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91FC5-D3E3-86EF-C67D-E044DD407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C7903-F1DE-72D0-E600-928ECE692B3F}"/>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274771A9-26D0-6070-8257-61791525C63C}"/>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compute pairwise dissimilarity between every pair.</a:t>
            </a:r>
          </a:p>
          <a:p>
            <a:endParaRPr dirty="0"/>
          </a:p>
        </p:txBody>
      </p:sp>
      <p:sp>
        <p:nvSpPr>
          <p:cNvPr id="4" name="Slide Number Placeholder 3">
            <a:extLst>
              <a:ext uri="{FF2B5EF4-FFF2-40B4-BE49-F238E27FC236}">
                <a16:creationId xmlns:a16="http://schemas.microsoft.com/office/drawing/2014/main" id="{D7E7CF1D-4F6C-FB19-1166-CF661E9D0096}"/>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284622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D9C0-7CCA-14F1-FE9C-EB05E1B5A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0DABF-E73D-A357-61C3-10E206FD04C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5837530-6347-AB61-8EC7-CCE715874260}"/>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That gives us a neural representational dissimilarity matrix — an RDM — per subject.</a:t>
            </a:r>
          </a:p>
          <a:p>
            <a:endParaRPr lang="en-US" dirty="0"/>
          </a:p>
          <a:p>
            <a:endParaRPr lang="en-US" dirty="0"/>
          </a:p>
          <a:p>
            <a:r>
              <a:rPr lang="en-US" sz="1200" kern="1200" dirty="0">
                <a:solidFill>
                  <a:schemeClr val="tx1"/>
                </a:solidFill>
                <a:effectLst/>
                <a:latin typeface="+mn-lt"/>
                <a:ea typeface="+mn-ea"/>
                <a:cs typeface="+mn-cs"/>
              </a:rPr>
              <a:t>But how do we compare that to actual peer structure that the participant is learning?</a:t>
            </a:r>
            <a:r>
              <a:rPr lang="en-US" dirty="0">
                <a:effectLst/>
              </a:rPr>
              <a:t> </a:t>
            </a:r>
            <a:endParaRPr dirty="0"/>
          </a:p>
        </p:txBody>
      </p:sp>
      <p:sp>
        <p:nvSpPr>
          <p:cNvPr id="4" name="Slide Number Placeholder 3">
            <a:extLst>
              <a:ext uri="{FF2B5EF4-FFF2-40B4-BE49-F238E27FC236}">
                <a16:creationId xmlns:a16="http://schemas.microsoft.com/office/drawing/2014/main" id="{BB95376C-BCE1-EBCC-D32C-29B00E13E518}"/>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370738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85EA6-A656-1838-3DBC-F2B766C96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D32393-F70F-013A-DAF8-3A9FAD11EC82}"/>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2FB2143-6D7B-A925-EAF0-9D5D2E6E9EC3}"/>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had to build a ground-truth model RDM. We defined dissimilarity as the difference in likelihood of positive feedback between each pair of peers. So Nice-80 isn't very dissimilar from Nice-60, but it's very dissimilar from Mean-60.</a:t>
            </a:r>
          </a:p>
          <a:p>
            <a:endParaRPr lang="en-US" dirty="0"/>
          </a:p>
          <a:p>
            <a:endParaRPr dirty="0"/>
          </a:p>
        </p:txBody>
      </p:sp>
      <p:sp>
        <p:nvSpPr>
          <p:cNvPr id="4" name="Slide Number Placeholder 3">
            <a:extLst>
              <a:ext uri="{FF2B5EF4-FFF2-40B4-BE49-F238E27FC236}">
                <a16:creationId xmlns:a16="http://schemas.microsoft.com/office/drawing/2014/main" id="{28C7975F-1278-2992-AA75-708A37093D24}"/>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60533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F5F44-C959-0066-A742-C860417A7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5E00A-1981-C420-A1BE-E524C4E6983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E499AB4-AD01-730C-68D2-23BA4EF8C356}"/>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take the subject's neural RDM of the peers and compare it to this ground-truth RDM of the peers. Does their brain represent the true differences?</a:t>
            </a:r>
          </a:p>
          <a:p>
            <a:endParaRPr dirty="0"/>
          </a:p>
        </p:txBody>
      </p:sp>
      <p:sp>
        <p:nvSpPr>
          <p:cNvPr id="4" name="Slide Number Placeholder 3">
            <a:extLst>
              <a:ext uri="{FF2B5EF4-FFF2-40B4-BE49-F238E27FC236}">
                <a16:creationId xmlns:a16="http://schemas.microsoft.com/office/drawing/2014/main" id="{31A34ABD-915E-7C63-28EE-065F1BF97053}"/>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81280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6F88C-1837-5284-724B-86A6AFCED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42D07-ABCD-E632-4E1A-1248A4629ABC}"/>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32676A54-BE4A-833D-9993-BBCEC1F3B8C0}"/>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Then we repeat across subjects. </a:t>
            </a:r>
            <a:endParaRPr lang="en-US" sz="120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40AD3860-1538-340C-29E1-EE8591FC4B68}"/>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335203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320FC-2DC8-5065-E918-7C0310FB5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B4D49-91AB-E66C-11C2-58B2A88C7C1A}"/>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0820D11-22CA-1711-B10B-03EA59F4D3B9}"/>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we do this </a:t>
            </a:r>
            <a:r>
              <a:rPr lang="en-US" sz="1200" i="1" kern="1200" dirty="0">
                <a:solidFill>
                  <a:schemeClr val="tx1"/>
                </a:solidFill>
                <a:effectLst/>
                <a:latin typeface="+mn-lt"/>
                <a:ea typeface="+mn-ea"/>
                <a:cs typeface="+mn-cs"/>
              </a:rPr>
              <a:t>separately for each of the four runs</a:t>
            </a:r>
            <a:r>
              <a:rPr lang="en-US" sz="1200" kern="1200" dirty="0">
                <a:solidFill>
                  <a:schemeClr val="tx1"/>
                </a:solidFill>
                <a:effectLst/>
                <a:latin typeface="+mn-lt"/>
                <a:ea typeface="+mn-ea"/>
                <a:cs typeface="+mn-cs"/>
              </a:rPr>
              <a:t> — which lets us ask not just whether representations match the structure, but </a:t>
            </a:r>
            <a:r>
              <a:rPr lang="en-US" sz="1200" i="1" kern="1200" dirty="0">
                <a:solidFill>
                  <a:schemeClr val="tx1"/>
                </a:solidFill>
                <a:effectLst/>
                <a:latin typeface="+mn-lt"/>
                <a:ea typeface="+mn-ea"/>
                <a:cs typeface="+mn-cs"/>
              </a:rPr>
              <a:t>at what rate</a:t>
            </a:r>
            <a:r>
              <a:rPr lang="en-US" sz="1200" kern="1200" dirty="0">
                <a:solidFill>
                  <a:schemeClr val="tx1"/>
                </a:solidFill>
                <a:effectLst/>
                <a:latin typeface="+mn-lt"/>
                <a:ea typeface="+mn-ea"/>
                <a:cs typeface="+mn-cs"/>
              </a:rPr>
              <a:t> they come to match over the course of the task.</a:t>
            </a:r>
          </a:p>
          <a:p>
            <a:endParaRPr dirty="0"/>
          </a:p>
        </p:txBody>
      </p:sp>
      <p:sp>
        <p:nvSpPr>
          <p:cNvPr id="4" name="Slide Number Placeholder 3">
            <a:extLst>
              <a:ext uri="{FF2B5EF4-FFF2-40B4-BE49-F238E27FC236}">
                <a16:creationId xmlns:a16="http://schemas.microsoft.com/office/drawing/2014/main" id="{12D4C1ED-143B-2B61-3051-D0385A9C1285}"/>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426436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FF05-8BFC-2F12-2DBF-6F25C5681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77CB6-C7F9-2993-7D29-0E3923308F7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81D7B4C1-3E73-69BD-BF6C-5DF6172EE8A8}"/>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used a linear mixed-effects moderation to test whether baseline alignment and the rate of increase per run were moderated by social anxiety.</a:t>
            </a:r>
          </a:p>
          <a:p>
            <a:endParaRPr dirty="0"/>
          </a:p>
        </p:txBody>
      </p:sp>
      <p:sp>
        <p:nvSpPr>
          <p:cNvPr id="4" name="Slide Number Placeholder 3">
            <a:extLst>
              <a:ext uri="{FF2B5EF4-FFF2-40B4-BE49-F238E27FC236}">
                <a16:creationId xmlns:a16="http://schemas.microsoft.com/office/drawing/2014/main" id="{B7C39495-C506-C7C1-666A-E813C0A8FEC6}"/>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286079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E037E-DFCE-5913-0EBB-CBCB762B5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27541-3C37-E567-AFE4-AE1B5A78D872}"/>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207CFF6-925F-D38F-E24B-D39848D9855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our surprise! - Social anxiety predicted increased alignment rate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accuracy. To illustrate – we have our model RDM here on the left, and you can see in the bottom row, for socially anxious youth, their brain represents the true differences faster and more accurately.</a:t>
            </a:r>
          </a:p>
          <a:p>
            <a:endParaRPr dirty="0"/>
          </a:p>
        </p:txBody>
      </p:sp>
      <p:sp>
        <p:nvSpPr>
          <p:cNvPr id="4" name="Slide Number Placeholder 3">
            <a:extLst>
              <a:ext uri="{FF2B5EF4-FFF2-40B4-BE49-F238E27FC236}">
                <a16:creationId xmlns:a16="http://schemas.microsoft.com/office/drawing/2014/main" id="{36BD1704-DBEE-6331-173B-85A66C4989A4}"/>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113991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8FC97-D965-B7D2-FF8E-6EA0520DE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9E324-EF47-6F76-0C7A-270CCD39338C}"/>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513A3F25-CA85-B454-BB03-E0556BFE3720}"/>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This showed up in mentalizing regions — implicated in thinking about others and what they're like in reference to you. Specifically, the rostral ACC, which tracks the self-relevance of social information, and the </a:t>
            </a:r>
            <a:r>
              <a:rPr lang="en-US" sz="1200" b="1" kern="1200" dirty="0" err="1">
                <a:solidFill>
                  <a:schemeClr val="tx1"/>
                </a:solidFill>
                <a:effectLst/>
                <a:latin typeface="+mn-lt"/>
                <a:ea typeface="+mn-ea"/>
                <a:cs typeface="+mn-cs"/>
              </a:rPr>
              <a:t>dmPFC</a:t>
            </a:r>
            <a:r>
              <a:rPr lang="en-US" sz="1200" b="1" kern="1200" dirty="0">
                <a:solidFill>
                  <a:schemeClr val="tx1"/>
                </a:solidFill>
                <a:effectLst/>
                <a:latin typeface="+mn-lt"/>
                <a:ea typeface="+mn-ea"/>
                <a:cs typeface="+mn-cs"/>
              </a:rPr>
              <a:t>, which supports inferences about others' traits and intentions. In the rostral ACC this was related to both increased rate and increased total alignment; in the </a:t>
            </a:r>
            <a:r>
              <a:rPr lang="en-US" sz="1200" b="1" kern="1200" dirty="0" err="1">
                <a:solidFill>
                  <a:schemeClr val="tx1"/>
                </a:solidFill>
                <a:effectLst/>
                <a:latin typeface="+mn-lt"/>
                <a:ea typeface="+mn-ea"/>
                <a:cs typeface="+mn-cs"/>
              </a:rPr>
              <a:t>dmPFC</a:t>
            </a:r>
            <a:r>
              <a:rPr lang="en-US" sz="1200" b="1" kern="1200" dirty="0">
                <a:solidFill>
                  <a:schemeClr val="tx1"/>
                </a:solidFill>
                <a:effectLst/>
                <a:latin typeface="+mn-lt"/>
                <a:ea typeface="+mn-ea"/>
                <a:cs typeface="+mn-cs"/>
              </a:rPr>
              <a:t> it was rate alone.</a:t>
            </a:r>
            <a:endParaRPr lang="en-US" sz="120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95386EC9-5101-CD0B-0122-7C31E146893B}"/>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1017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B8E2A-8D0C-A90F-6BF1-18C070782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C35E7-C424-2930-5B82-D2F064AF6DBC}"/>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6F71E2A-EDF4-6DA3-D7BC-8749E462736D}"/>
              </a:ext>
            </a:extLst>
          </p:cNvPr>
          <p:cNvSpPr>
            <a:spLocks noGrp="1"/>
          </p:cNvSpPr>
          <p:nvPr>
            <p:ph type="body" sz="quarter" idx="3"/>
          </p:nvPr>
        </p:nvSpPr>
        <p:spPr/>
        <p:txBody>
          <a:bodyPr/>
          <a:lstStyle/>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We saw it again in threat-salience regions — the amygdala, which flags emotionally and socially significant stimuli, and the anterior insula, which integrates interoceptive signals into affective awareness. Again, increased rate of alignment, and in the amygdala, increased total alignment as well.</a:t>
            </a:r>
            <a:endParaRPr lang="en-US" sz="120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61940609-A228-D5DF-0B61-0181DC90ABD3}"/>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498981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B5476-0FC5-5468-7421-92683FDF7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5733B-664B-33A4-ECA6-2FF157D332D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B0972F5-E8F8-9D26-B7AF-106115CFB376}"/>
              </a:ext>
            </a:extLst>
          </p:cNvPr>
          <p:cNvSpPr>
            <a:spLocks noGrp="1"/>
          </p:cNvSpPr>
          <p:nvPr>
            <p:ph type="body" sz="quarter" idx="3"/>
          </p:nvPr>
        </p:nvSpPr>
        <p:spPr/>
        <p:txBody>
          <a:bodyPr/>
          <a:lstStyle/>
          <a:p>
            <a:r>
              <a:rPr lang="en-US" sz="1200" kern="1200" dirty="0">
                <a:solidFill>
                  <a:schemeClr val="tx1"/>
                </a:solidFill>
                <a:effectLst/>
                <a:latin typeface="+mn-lt"/>
                <a:ea typeface="+mn-ea"/>
                <a:cs typeface="+mn-cs"/>
              </a:rPr>
              <a:t>To summarize: higher social anxiety predicted faster, more accurate neural learning of peer structure in social-cognitive and salience regions.</a:t>
            </a:r>
          </a:p>
          <a:p>
            <a:r>
              <a:rPr lang="en-US" sz="1200" kern="1200" dirty="0">
                <a:solidFill>
                  <a:schemeClr val="tx1"/>
                </a:solidFill>
                <a:effectLst/>
                <a:latin typeface="+mn-lt"/>
                <a:ea typeface="+mn-ea"/>
                <a:cs typeface="+mn-cs"/>
              </a:rPr>
              <a:t>This was not threat-specific. Socially anxious adolescents were differentiating mean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nice peers more effectively. So social anxiety may involve heightened attunement to socially relevant cues — not simply impaired social understanding, and not simply a global negative bias.</a:t>
            </a:r>
          </a:p>
          <a:p>
            <a:r>
              <a:rPr lang="en-US" sz="1200" kern="1200" dirty="0">
                <a:solidFill>
                  <a:schemeClr val="tx1"/>
                </a:solidFill>
                <a:effectLst/>
                <a:latin typeface="+mn-lt"/>
                <a:ea typeface="+mn-ea"/>
                <a:cs typeface="+mn-cs"/>
              </a:rPr>
              <a:t>And greater accuracy may not always be adaptive. More precise social mapping could reflect effortful monitoring of others rather than social ease. /When you’re walking through that cafeteria –clocking every self-other relationship to you may be a lot to carry.</a:t>
            </a:r>
          </a:p>
          <a:p>
            <a:endParaRPr dirty="0"/>
          </a:p>
        </p:txBody>
      </p:sp>
      <p:sp>
        <p:nvSpPr>
          <p:cNvPr id="4" name="Slide Number Placeholder 3">
            <a:extLst>
              <a:ext uri="{FF2B5EF4-FFF2-40B4-BE49-F238E27FC236}">
                <a16:creationId xmlns:a16="http://schemas.microsoft.com/office/drawing/2014/main" id="{01801F4C-BACD-8592-1BE4-76897B03B359}"/>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44715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question 2. Temporal inter-subject differences in social anxiety.</a:t>
            </a:r>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31</a:t>
            </a:fld>
            <a:endParaRPr lang="en-US"/>
          </a:p>
        </p:txBody>
      </p:sp>
    </p:spTree>
    <p:extLst>
      <p:ext uri="{BB962C8B-B14F-4D97-AF65-F5344CB8AC3E}">
        <p14:creationId xmlns:p14="http://schemas.microsoft.com/office/powerpoint/2010/main" val="7161651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Across the whole task - For each subject and each ROI, we take that subject's BOLD timecourse and correlate it to the average timecourse of all the other subjects across all runs — leave-one-out. That gives us one ISC value per subject per ROI, which we then correlate with social anxiety.</a:t>
            </a:r>
          </a:p>
          <a:p>
            <a:endParaRPr lang="en-US" dirty="0"/>
          </a:p>
          <a:p>
            <a:r>
              <a:rPr lang="en-US" dirty="0"/>
              <a:t>Again this was computed across the 35 regions. </a:t>
            </a:r>
          </a:p>
        </p:txBody>
      </p:sp>
      <p:sp>
        <p:nvSpPr>
          <p:cNvPr id="4" name="Slide Number Placeholder 3"/>
          <p:cNvSpPr>
            <a:spLocks noGrp="1"/>
          </p:cNvSpPr>
          <p:nvPr>
            <p:ph type="sldNum" sz="quarter" idx="5"/>
          </p:nvPr>
        </p:nvSpPr>
        <p:spPr/>
        <p:txBody>
          <a:bodyPr/>
          <a:lstStyle/>
          <a:p>
            <a:fld id="{6F94F48C-0150-AF4E-B146-CC53B0B46AA6}" type="slidenum">
              <a:rPr lang="en-US" smtClean="0"/>
              <a:t>32</a:t>
            </a:fld>
            <a:endParaRPr lang="en-US"/>
          </a:p>
        </p:txBody>
      </p:sp>
    </p:spTree>
    <p:extLst>
      <p:ext uri="{BB962C8B-B14F-4D97-AF65-F5344CB8AC3E}">
        <p14:creationId xmlns:p14="http://schemas.microsoft.com/office/powerpoint/2010/main" val="24270478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again, our same friend — the rostral anterior cingulate — showed that social anxiety predicted more idiosyncratic, less group-aligned temporal dynamics. Their full timecourse was less aligned with the group. We saw this as well in the anterior mid-cingulate — a performance-monitoring region that integrates negative affect with cognitive control, and that's been tied to processing social pain and adapting behavior to aversive feedback.</a:t>
            </a:r>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33</a:t>
            </a:fld>
            <a:endParaRPr lang="en-US"/>
          </a:p>
        </p:txBody>
      </p:sp>
    </p:spTree>
    <p:extLst>
      <p:ext uri="{BB962C8B-B14F-4D97-AF65-F5344CB8AC3E}">
        <p14:creationId xmlns:p14="http://schemas.microsoft.com/office/powerpoint/2010/main" val="1628433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to review: higher social anxiety predicted increased, more accurate representational alignment to the task — alongside </a:t>
            </a:r>
            <a:r>
              <a:rPr lang="en-US" sz="1200" i="1" kern="1200" dirty="0">
                <a:solidFill>
                  <a:schemeClr val="tx1"/>
                </a:solidFill>
                <a:effectLst/>
                <a:latin typeface="+mn-lt"/>
                <a:ea typeface="+mn-ea"/>
                <a:cs typeface="+mn-cs"/>
              </a:rPr>
              <a:t>divergent</a:t>
            </a:r>
            <a:r>
              <a:rPr lang="en-US" sz="1200" kern="1200" dirty="0">
                <a:solidFill>
                  <a:schemeClr val="tx1"/>
                </a:solidFill>
                <a:effectLst/>
                <a:latin typeface="+mn-lt"/>
                <a:ea typeface="+mn-ea"/>
                <a:cs typeface="+mn-cs"/>
              </a:rPr>
              <a:t> temporal </a:t>
            </a:r>
            <a:r>
              <a:rPr lang="en-US" sz="1200" kern="1200" dirty="0" err="1">
                <a:solidFill>
                  <a:schemeClr val="tx1"/>
                </a:solidFill>
                <a:effectLst/>
                <a:latin typeface="+mn-lt"/>
                <a:ea typeface="+mn-ea"/>
                <a:cs typeface="+mn-cs"/>
              </a:rPr>
              <a:t>timecourses</a:t>
            </a:r>
            <a:r>
              <a:rPr lang="en-US" sz="1200" kern="1200" dirty="0">
                <a:solidFill>
                  <a:schemeClr val="tx1"/>
                </a:solidFill>
                <a:effectLst/>
                <a:latin typeface="+mn-lt"/>
                <a:ea typeface="+mn-ea"/>
                <a:cs typeface="+mn-cs"/>
              </a:rPr>
              <a:t> across the task, in the same region!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34</a:t>
            </a:fld>
            <a:endParaRPr lang="en-US"/>
          </a:p>
        </p:txBody>
      </p:sp>
    </p:spTree>
    <p:extLst>
      <p:ext uri="{BB962C8B-B14F-4D97-AF65-F5344CB8AC3E}">
        <p14:creationId xmlns:p14="http://schemas.microsoft.com/office/powerpoint/2010/main" val="27947707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findings may be best framed by prior work linking idiosyncratic neural responses to loneliness, and shared neural responses to friendship and social closeness. So socially anxious youth may be good at tracking who is who and how each person relates to them — but less likely to share a common neural understanding of the broader social moment. A pattern that may support social accuracy while also contributing to feeling out of sync and disconnected.</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tentative clinical conclusion may be that if </a:t>
            </a:r>
            <a:r>
              <a:rPr lang="en-US" sz="1200" kern="1200" dirty="0" err="1">
                <a:solidFill>
                  <a:schemeClr val="tx1"/>
                </a:solidFill>
                <a:effectLst/>
                <a:latin typeface="+mn-lt"/>
                <a:ea typeface="+mn-ea"/>
                <a:cs typeface="+mn-cs"/>
              </a:rPr>
              <a:t>uniqiue</a:t>
            </a:r>
            <a:r>
              <a:rPr lang="en-US" sz="1200" kern="1200" dirty="0">
                <a:solidFill>
                  <a:schemeClr val="tx1"/>
                </a:solidFill>
                <a:effectLst/>
                <a:latin typeface="+mn-lt"/>
                <a:ea typeface="+mn-ea"/>
                <a:cs typeface="+mn-cs"/>
              </a:rPr>
              <a:t> neural dynamics track with anxiety and increased peer </a:t>
            </a:r>
            <a:r>
              <a:rPr lang="en-US" sz="1200" kern="1200" dirty="0" err="1">
                <a:solidFill>
                  <a:schemeClr val="tx1"/>
                </a:solidFill>
                <a:effectLst/>
                <a:latin typeface="+mn-lt"/>
                <a:ea typeface="+mn-ea"/>
                <a:cs typeface="+mn-cs"/>
              </a:rPr>
              <a:t>identidy</a:t>
            </a:r>
            <a:r>
              <a:rPr lang="en-US" sz="1200" kern="1200" dirty="0">
                <a:solidFill>
                  <a:schemeClr val="tx1"/>
                </a:solidFill>
                <a:effectLst/>
                <a:latin typeface="+mn-lt"/>
                <a:ea typeface="+mn-ea"/>
                <a:cs typeface="+mn-cs"/>
              </a:rPr>
              <a:t> monitoring feedback , and shared dynamics predict friendships – coming into neural sync with others through social exposure, early intervention or even one close peer tie may offer unique, and lasting benefits – but for these we’ll need more data!</a:t>
            </a:r>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35</a:t>
            </a:fld>
            <a:endParaRPr lang="en-US"/>
          </a:p>
        </p:txBody>
      </p:sp>
    </p:spTree>
    <p:extLst>
      <p:ext uri="{BB962C8B-B14F-4D97-AF65-F5344CB8AC3E}">
        <p14:creationId xmlns:p14="http://schemas.microsoft.com/office/powerpoint/2010/main" val="7565468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With a larger sample, we can test whether socially anxious youth are distinct from one another, not just from the group. We can ask whether these patterns strengthen or change across development. And we'll have power to look for moderators of neural idiosyncrasy — social exposure, relationship experience.</a:t>
            </a:r>
          </a:p>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36</a:t>
            </a:fld>
            <a:endParaRPr lang="en-US"/>
          </a:p>
        </p:txBody>
      </p:sp>
    </p:spTree>
    <p:extLst>
      <p:ext uri="{BB962C8B-B14F-4D97-AF65-F5344CB8AC3E}">
        <p14:creationId xmlns:p14="http://schemas.microsoft.com/office/powerpoint/2010/main" val="29789132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94F48C-0150-AF4E-B146-CC53B0B46AA6}" type="slidenum">
              <a:rPr lang="en-US" smtClean="0"/>
              <a:t>37</a:t>
            </a:fld>
            <a:endParaRPr lang="en-US"/>
          </a:p>
        </p:txBody>
      </p:sp>
    </p:spTree>
    <p:extLst>
      <p:ext uri="{BB962C8B-B14F-4D97-AF65-F5344CB8AC3E}">
        <p14:creationId xmlns:p14="http://schemas.microsoft.com/office/powerpoint/2010/main" val="1410706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54A86-D563-BD64-99FE-DC553B6F87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9708FB-3030-B304-47AD-C587F1B6EF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20A4BC-4926-48F9-49CE-056E104968EC}"/>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5" name="Footer Placeholder 4">
            <a:extLst>
              <a:ext uri="{FF2B5EF4-FFF2-40B4-BE49-F238E27FC236}">
                <a16:creationId xmlns:a16="http://schemas.microsoft.com/office/drawing/2014/main" id="{F46E85A8-EA6F-9EAE-41F1-90BC519DF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26CA0-F815-83F5-C70C-359C999659B3}"/>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1057245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2D466-C2AB-9D00-8CE2-720AA40681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74492F-752C-9361-0E85-D33CBDE85D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660B76-125E-9B63-65B9-09D94FE4F5BE}"/>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5" name="Footer Placeholder 4">
            <a:extLst>
              <a:ext uri="{FF2B5EF4-FFF2-40B4-BE49-F238E27FC236}">
                <a16:creationId xmlns:a16="http://schemas.microsoft.com/office/drawing/2014/main" id="{4B0A36EE-3DAB-F235-D232-B1E82C4577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5B1EC-0200-A08F-5597-3E39AE294AF0}"/>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3884107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F0BC-360D-18DF-2047-D20A6FB079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5B4240-40EB-6F36-8420-7752CF8965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DF222-DB4B-2AA2-D5A5-992E385F1548}"/>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5" name="Footer Placeholder 4">
            <a:extLst>
              <a:ext uri="{FF2B5EF4-FFF2-40B4-BE49-F238E27FC236}">
                <a16:creationId xmlns:a16="http://schemas.microsoft.com/office/drawing/2014/main" id="{CE61FB78-AD9F-47E1-50C0-918A7ED1A0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FA3DD2-A62B-C715-7EA8-D25AB815D9C9}"/>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2067446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06692-1E5E-63C6-71ED-0678EC0970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E8A45E-9763-7A80-F40C-1769080568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100C21-0125-46B1-05F4-97B4407EE3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E1CCDE-D8B8-3839-C64C-148CD9B159BF}"/>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6" name="Footer Placeholder 5">
            <a:extLst>
              <a:ext uri="{FF2B5EF4-FFF2-40B4-BE49-F238E27FC236}">
                <a16:creationId xmlns:a16="http://schemas.microsoft.com/office/drawing/2014/main" id="{01D15227-F1EB-6FD2-ADEE-6DBF1CD871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6937F7-AA0C-0142-30E3-48CA8D4F9200}"/>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3632111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1DC5-EC8F-C278-2C6D-0151B2F5F2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4A0113-044C-5BE0-17A9-F4E762689F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7FDDB6-72C4-FA27-1436-632C473217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B3C668-EF4F-D4A3-B5EF-757B1C2FA3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61F188-D8FE-11FA-C675-7497EE8CF9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3542E4-7CCC-D3B3-2346-9643E22F265B}"/>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8" name="Footer Placeholder 7">
            <a:extLst>
              <a:ext uri="{FF2B5EF4-FFF2-40B4-BE49-F238E27FC236}">
                <a16:creationId xmlns:a16="http://schemas.microsoft.com/office/drawing/2014/main" id="{3E05514D-E668-7CE8-7AE8-3E220272B3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53DD64-E91D-1631-0AFD-884B050826EC}"/>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1750345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40A3E-C237-FD45-35AD-A6A7AD30BE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AFA69B-1276-DE5D-6987-ABD5C7E10694}"/>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4" name="Footer Placeholder 3">
            <a:extLst>
              <a:ext uri="{FF2B5EF4-FFF2-40B4-BE49-F238E27FC236}">
                <a16:creationId xmlns:a16="http://schemas.microsoft.com/office/drawing/2014/main" id="{BB2DD105-1124-F6C5-50AC-47834FB420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F6E968-4C37-CCD3-5D73-24AF8064671E}"/>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3049893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15E1EE-FF22-D86A-466F-D2EDBEC6A596}"/>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3" name="Footer Placeholder 2">
            <a:extLst>
              <a:ext uri="{FF2B5EF4-FFF2-40B4-BE49-F238E27FC236}">
                <a16:creationId xmlns:a16="http://schemas.microsoft.com/office/drawing/2014/main" id="{4C3F5D6F-63CE-2F06-61E6-C81D8B849B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9A5434-FF11-2417-A351-331150F3EBC4}"/>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3206545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BD89F-A449-E031-6A7C-14BA21B0A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CFC85D-C928-DA5E-A630-DC08AEF309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812A3A-CF00-908A-3840-4B68A304C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E1E760-EAB8-BC9A-1ED4-2294FC7E8275}"/>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6" name="Footer Placeholder 5">
            <a:extLst>
              <a:ext uri="{FF2B5EF4-FFF2-40B4-BE49-F238E27FC236}">
                <a16:creationId xmlns:a16="http://schemas.microsoft.com/office/drawing/2014/main" id="{9D3B9627-1ACF-4766-59E6-44DCB2DDFD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6CAF71-5C5C-0C09-F192-709FFFCBE4D6}"/>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3141139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92A73-0EF6-1CD8-69F1-2294226104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98E3E4-342F-4E21-790C-D98B3A96C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905D7B-CE0F-4396-759F-727ECD0F0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5C18B7-9D76-2996-40D1-F927F0EC4B2A}"/>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6" name="Footer Placeholder 5">
            <a:extLst>
              <a:ext uri="{FF2B5EF4-FFF2-40B4-BE49-F238E27FC236}">
                <a16:creationId xmlns:a16="http://schemas.microsoft.com/office/drawing/2014/main" id="{C95DF549-AF42-AB01-9341-FAFA259D26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6A900B-98C9-63F5-4083-EBB3125D0227}"/>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2556242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622B1-2690-A6F2-AE5F-8FF00995AB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592792-1A45-5AEE-8F3B-1055B520AB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306EE1-E76E-3954-FF0B-007CB1BFD033}"/>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5" name="Footer Placeholder 4">
            <a:extLst>
              <a:ext uri="{FF2B5EF4-FFF2-40B4-BE49-F238E27FC236}">
                <a16:creationId xmlns:a16="http://schemas.microsoft.com/office/drawing/2014/main" id="{2396F12C-D63B-F4CE-64B7-6DFAF40961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B5ADC-A811-4F75-7374-1F9CFD7DDC43}"/>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2713342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83F21E-9DA5-F1AA-4B8C-E7BA3EF783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3A420B-F9A9-8E47-7B32-516DE67612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AB92B-A007-FC67-7036-EFFC9572D5F3}"/>
              </a:ext>
            </a:extLst>
          </p:cNvPr>
          <p:cNvSpPr>
            <a:spLocks noGrp="1"/>
          </p:cNvSpPr>
          <p:nvPr>
            <p:ph type="dt" sz="half" idx="10"/>
          </p:nvPr>
        </p:nvSpPr>
        <p:spPr/>
        <p:txBody>
          <a:bodyPr/>
          <a:lstStyle/>
          <a:p>
            <a:fld id="{DC3121EA-C30C-584B-89B2-7C0CE346CCFE}" type="datetimeFigureOut">
              <a:rPr lang="en-US" smtClean="0"/>
              <a:t>4/20/26</a:t>
            </a:fld>
            <a:endParaRPr lang="en-US"/>
          </a:p>
        </p:txBody>
      </p:sp>
      <p:sp>
        <p:nvSpPr>
          <p:cNvPr id="5" name="Footer Placeholder 4">
            <a:extLst>
              <a:ext uri="{FF2B5EF4-FFF2-40B4-BE49-F238E27FC236}">
                <a16:creationId xmlns:a16="http://schemas.microsoft.com/office/drawing/2014/main" id="{75923627-8BB8-228A-9411-15DE591FEE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733480-32E8-258C-EF0E-95E5D0B30EB8}"/>
              </a:ext>
            </a:extLst>
          </p:cNvPr>
          <p:cNvSpPr>
            <a:spLocks noGrp="1"/>
          </p:cNvSpPr>
          <p:nvPr>
            <p:ph type="sldNum" sz="quarter" idx="12"/>
          </p:nvPr>
        </p:nvSpPr>
        <p:spPr/>
        <p:txBody>
          <a:bodyPr/>
          <a:lstStyle/>
          <a:p>
            <a:fld id="{2C28675C-2CE1-044F-A27B-D9934EA29DD3}" type="slidenum">
              <a:rPr lang="en-US" smtClean="0"/>
              <a:t>‹#›</a:t>
            </a:fld>
            <a:endParaRPr lang="en-US"/>
          </a:p>
        </p:txBody>
      </p:sp>
    </p:spTree>
    <p:extLst>
      <p:ext uri="{BB962C8B-B14F-4D97-AF65-F5344CB8AC3E}">
        <p14:creationId xmlns:p14="http://schemas.microsoft.com/office/powerpoint/2010/main" val="1660863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9951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B8B1D0-CABF-C330-AAA7-321D154F35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B0AE8D-D907-26D5-10C8-2F2235EFA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29798-1912-F6A7-1BDF-2B40244255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3121EA-C30C-584B-89B2-7C0CE346CCFE}" type="datetimeFigureOut">
              <a:rPr lang="en-US" smtClean="0"/>
              <a:t>4/20/26</a:t>
            </a:fld>
            <a:endParaRPr lang="en-US"/>
          </a:p>
        </p:txBody>
      </p:sp>
      <p:sp>
        <p:nvSpPr>
          <p:cNvPr id="5" name="Footer Placeholder 4">
            <a:extLst>
              <a:ext uri="{FF2B5EF4-FFF2-40B4-BE49-F238E27FC236}">
                <a16:creationId xmlns:a16="http://schemas.microsoft.com/office/drawing/2014/main" id="{3A4193D6-A64E-382A-2AEE-50ED362710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8ABE82-246E-9412-DA0F-24BC168D45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28675C-2CE1-044F-A27B-D9934EA29DD3}" type="slidenum">
              <a:rPr lang="en-US" smtClean="0"/>
              <a:t>‹#›</a:t>
            </a:fld>
            <a:endParaRPr lang="en-US"/>
          </a:p>
        </p:txBody>
      </p:sp>
    </p:spTree>
    <p:extLst>
      <p:ext uri="{BB962C8B-B14F-4D97-AF65-F5344CB8AC3E}">
        <p14:creationId xmlns:p14="http://schemas.microsoft.com/office/powerpoint/2010/main" val="1173503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d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282390"/>
            <a:ext cx="9144000" cy="1966244"/>
          </a:xfrm>
          <a:prstGeom prst="rect">
            <a:avLst/>
          </a:prstGeom>
          <a:noFill/>
        </p:spPr>
        <p:txBody>
          <a:bodyPr wrap="square">
            <a:spAutoFit/>
          </a:bodyPr>
          <a:lstStyle/>
          <a:p>
            <a:pPr algn="ctr">
              <a:lnSpc>
                <a:spcPct val="115000"/>
              </a:lnSpc>
              <a:spcAft>
                <a:spcPts val="0"/>
              </a:spcAft>
              <a:defRPr sz="3600" b="1" i="0">
                <a:solidFill>
                  <a:srgbClr val="002060"/>
                </a:solidFill>
                <a:latin typeface="Calibri"/>
              </a:defRPr>
            </a:pPr>
            <a:r>
              <a:rPr dirty="0"/>
              <a:t>Neural Representations of</a:t>
            </a:r>
            <a:br>
              <a:rPr dirty="0"/>
            </a:br>
            <a:r>
              <a:rPr dirty="0"/>
              <a:t>Social Feedback in Adolescent Social Anxiety</a:t>
            </a:r>
            <a:r>
              <a:rPr lang="en-US" dirty="0"/>
              <a:t> Disorder</a:t>
            </a:r>
            <a:endParaRPr dirty="0"/>
          </a:p>
        </p:txBody>
      </p:sp>
      <p:sp>
        <p:nvSpPr>
          <p:cNvPr id="5" name="TextBox 4"/>
          <p:cNvSpPr txBox="1"/>
          <p:nvPr/>
        </p:nvSpPr>
        <p:spPr>
          <a:xfrm>
            <a:off x="1371600" y="4012605"/>
            <a:ext cx="9144000" cy="625428"/>
          </a:xfrm>
          <a:prstGeom prst="rect">
            <a:avLst/>
          </a:prstGeom>
          <a:noFill/>
        </p:spPr>
        <p:txBody>
          <a:bodyPr wrap="square">
            <a:spAutoFit/>
          </a:bodyPr>
          <a:lstStyle/>
          <a:p>
            <a:pPr algn="ctr">
              <a:lnSpc>
                <a:spcPct val="115000"/>
              </a:lnSpc>
              <a:spcAft>
                <a:spcPts val="0"/>
              </a:spcAft>
              <a:defRPr sz="2200" b="1" i="0">
                <a:solidFill>
                  <a:srgbClr val="002060"/>
                </a:solidFill>
                <a:latin typeface="Calibri"/>
              </a:defRPr>
            </a:pPr>
            <a:r>
              <a:rPr sz="3200" dirty="0">
                <a:solidFill>
                  <a:schemeClr val="tx1">
                    <a:lumMod val="95000"/>
                    <a:lumOff val="5000"/>
                  </a:schemeClr>
                </a:solidFill>
              </a:rPr>
              <a:t>Danny Zweben</a:t>
            </a:r>
          </a:p>
        </p:txBody>
      </p:sp>
      <p:sp>
        <p:nvSpPr>
          <p:cNvPr id="6" name="TextBox 5"/>
          <p:cNvSpPr txBox="1"/>
          <p:nvPr/>
        </p:nvSpPr>
        <p:spPr>
          <a:xfrm>
            <a:off x="1308835" y="5026182"/>
            <a:ext cx="9359012" cy="779444"/>
          </a:xfrm>
          <a:prstGeom prst="rect">
            <a:avLst/>
          </a:prstGeom>
          <a:noFill/>
        </p:spPr>
        <p:txBody>
          <a:bodyPr wrap="square">
            <a:spAutoFit/>
          </a:bodyPr>
          <a:lstStyle/>
          <a:p>
            <a:pPr algn="ctr">
              <a:lnSpc>
                <a:spcPct val="115000"/>
              </a:lnSpc>
              <a:spcAft>
                <a:spcPts val="0"/>
              </a:spcAft>
              <a:defRPr sz="1600" b="0" i="0">
                <a:solidFill>
                  <a:srgbClr val="8B95A5"/>
                </a:solidFill>
                <a:latin typeface="Calibri"/>
              </a:defRPr>
            </a:pPr>
            <a:r>
              <a:rPr sz="2000" dirty="0"/>
              <a:t>Temple University  </a:t>
            </a:r>
            <a:br>
              <a:rPr sz="2000" dirty="0"/>
            </a:br>
            <a:r>
              <a:rPr sz="2000" dirty="0"/>
              <a:t>Advisor: Dr. Johanna Jarcho</a:t>
            </a:r>
          </a:p>
        </p:txBody>
      </p:sp>
      <p:sp>
        <p:nvSpPr>
          <p:cNvPr id="7" name="Rectangle 6"/>
          <p:cNvSpPr/>
          <p:nvPr/>
        </p:nvSpPr>
        <p:spPr>
          <a:xfrm>
            <a:off x="0" y="6720840"/>
            <a:ext cx="12191695" cy="137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3E372-0317-7BE0-CCF0-4DACD9A822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7FE865-2A38-F6BC-BFCD-0C014B933421}"/>
              </a:ext>
            </a:extLst>
          </p:cNvPr>
          <p:cNvSpPr txBox="1"/>
          <p:nvPr/>
        </p:nvSpPr>
        <p:spPr>
          <a:xfrm>
            <a:off x="608857" y="279011"/>
            <a:ext cx="11356402" cy="625364"/>
          </a:xfrm>
          <a:prstGeom prst="rect">
            <a:avLst/>
          </a:prstGeom>
          <a:noFill/>
        </p:spPr>
        <p:txBody>
          <a:bodyPr wrap="square">
            <a:spAutoFit/>
          </a:bodyPr>
          <a:lstStyle/>
          <a:p>
            <a:pPr algn="l">
              <a:lnSpc>
                <a:spcPct val="115000"/>
              </a:lnSpc>
              <a:spcAft>
                <a:spcPts val="0"/>
              </a:spcAft>
              <a:defRPr sz="3200" b="1" i="0">
                <a:solidFill>
                  <a:srgbClr val="002060"/>
                </a:solidFill>
                <a:latin typeface="Calibri"/>
              </a:defRPr>
            </a:pPr>
            <a:r>
              <a:rPr lang="en-US" sz="3200" dirty="0">
                <a:solidFill>
                  <a:schemeClr val="tx1">
                    <a:lumMod val="95000"/>
                    <a:lumOff val="5000"/>
                  </a:schemeClr>
                </a:solidFill>
              </a:rPr>
              <a:t>Background:</a:t>
            </a:r>
            <a:endParaRPr sz="3200" dirty="0"/>
          </a:p>
        </p:txBody>
      </p:sp>
      <p:sp>
        <p:nvSpPr>
          <p:cNvPr id="5" name="Rectangle 4">
            <a:extLst>
              <a:ext uri="{FF2B5EF4-FFF2-40B4-BE49-F238E27FC236}">
                <a16:creationId xmlns:a16="http://schemas.microsoft.com/office/drawing/2014/main" id="{85E7F30B-4C97-41FC-152B-E2B091E03C1C}"/>
              </a:ext>
            </a:extLst>
          </p:cNvPr>
          <p:cNvSpPr/>
          <p:nvPr/>
        </p:nvSpPr>
        <p:spPr>
          <a:xfrm flipV="1">
            <a:off x="676390" y="987525"/>
            <a:ext cx="1024128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a:extLst>
              <a:ext uri="{FF2B5EF4-FFF2-40B4-BE49-F238E27FC236}">
                <a16:creationId xmlns:a16="http://schemas.microsoft.com/office/drawing/2014/main" id="{1AD9E808-E2AC-EB84-CF76-D4E17ECA8243}"/>
              </a:ext>
            </a:extLst>
          </p:cNvPr>
          <p:cNvPicPr>
            <a:picLocks noChangeAspect="1"/>
          </p:cNvPicPr>
          <p:nvPr/>
        </p:nvPicPr>
        <p:blipFill>
          <a:blip r:embed="rId3"/>
          <a:stretch>
            <a:fillRect/>
          </a:stretch>
        </p:blipFill>
        <p:spPr>
          <a:xfrm>
            <a:off x="676390" y="2689542"/>
            <a:ext cx="4808970" cy="3180933"/>
          </a:xfrm>
          <a:prstGeom prst="roundRect">
            <a:avLst/>
          </a:prstGeom>
        </p:spPr>
      </p:pic>
      <p:pic>
        <p:nvPicPr>
          <p:cNvPr id="6" name="Picture 5">
            <a:extLst>
              <a:ext uri="{FF2B5EF4-FFF2-40B4-BE49-F238E27FC236}">
                <a16:creationId xmlns:a16="http://schemas.microsoft.com/office/drawing/2014/main" id="{5DFDC38F-7567-AEC0-F4D9-B7DDCF58FFBD}"/>
              </a:ext>
            </a:extLst>
          </p:cNvPr>
          <p:cNvPicPr>
            <a:picLocks noChangeAspect="1"/>
          </p:cNvPicPr>
          <p:nvPr/>
        </p:nvPicPr>
        <p:blipFill>
          <a:blip r:embed="rId4"/>
          <a:srcRect l="13083" r="17473"/>
          <a:stretch>
            <a:fillRect/>
          </a:stretch>
        </p:blipFill>
        <p:spPr>
          <a:xfrm>
            <a:off x="7382418" y="2583072"/>
            <a:ext cx="3535252" cy="3393872"/>
          </a:xfrm>
          <a:prstGeom prst="roundRect">
            <a:avLst/>
          </a:prstGeom>
        </p:spPr>
      </p:pic>
    </p:spTree>
    <p:extLst>
      <p:ext uri="{BB962C8B-B14F-4D97-AF65-F5344CB8AC3E}">
        <p14:creationId xmlns:p14="http://schemas.microsoft.com/office/powerpoint/2010/main" val="331240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8857" y="279011"/>
            <a:ext cx="11356402" cy="625364"/>
          </a:xfrm>
          <a:prstGeom prst="rect">
            <a:avLst/>
          </a:prstGeom>
          <a:noFill/>
        </p:spPr>
        <p:txBody>
          <a:bodyPr wrap="square">
            <a:spAutoFit/>
          </a:bodyPr>
          <a:lstStyle/>
          <a:p>
            <a:pPr algn="l">
              <a:lnSpc>
                <a:spcPct val="115000"/>
              </a:lnSpc>
              <a:spcAft>
                <a:spcPts val="0"/>
              </a:spcAft>
              <a:defRPr sz="3200" b="1" i="0">
                <a:solidFill>
                  <a:srgbClr val="002060"/>
                </a:solidFill>
                <a:latin typeface="Calibri"/>
              </a:defRPr>
            </a:pPr>
            <a:r>
              <a:rPr lang="en-US" sz="3200" dirty="0">
                <a:solidFill>
                  <a:schemeClr val="tx1">
                    <a:lumMod val="95000"/>
                    <a:lumOff val="5000"/>
                  </a:schemeClr>
                </a:solidFill>
              </a:rPr>
              <a:t>Background: Cognitive &amp; </a:t>
            </a:r>
            <a:r>
              <a:rPr lang="en-US" sz="3200" dirty="0"/>
              <a:t>Neural underpinnings of adolescent SAD</a:t>
            </a:r>
            <a:endParaRPr sz="3200" dirty="0"/>
          </a:p>
        </p:txBody>
      </p:sp>
      <p:sp>
        <p:nvSpPr>
          <p:cNvPr id="5" name="Rectangle 4">
            <a:extLst>
              <a:ext uri="{FF2B5EF4-FFF2-40B4-BE49-F238E27FC236}">
                <a16:creationId xmlns:a16="http://schemas.microsoft.com/office/drawing/2014/main" id="{9B210118-EA20-44D6-854B-0E406FCBFAE1}"/>
              </a:ext>
            </a:extLst>
          </p:cNvPr>
          <p:cNvSpPr/>
          <p:nvPr/>
        </p:nvSpPr>
        <p:spPr>
          <a:xfrm flipV="1">
            <a:off x="676390" y="987525"/>
            <a:ext cx="1024128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Center"/>
          <p:cNvSpPr/>
          <p:nvPr/>
        </p:nvSpPr>
        <p:spPr>
          <a:xfrm>
            <a:off x="5461000" y="3302000"/>
            <a:ext cx="1270000" cy="1270000"/>
          </a:xfrm>
          <a:prstGeom prst="ellipse">
            <a:avLst/>
          </a:prstGeom>
          <a:solidFill>
            <a:srgbClr val="2C3E50"/>
          </a:solidFill>
          <a:ln w="0">
            <a:noFill/>
          </a:ln>
        </p:spPr>
        <p:txBody>
          <a:bodyPr wrap="square" lIns="18000" tIns="18000" rIns="18000" bIns="18000" anchor="ctr"/>
          <a:lstStyle/>
          <a:p>
            <a:pPr algn="ctr">
              <a:lnSpc>
                <a:spcPct val="95000"/>
              </a:lnSpc>
            </a:pPr>
            <a:r>
              <a:rPr lang="en-US" sz="1800" b="1" dirty="0">
                <a:solidFill>
                  <a:srgbClr val="FFFFFF"/>
                </a:solidFill>
                <a:latin typeface="Calibri"/>
              </a:rPr>
              <a:t>Social
Situation</a:t>
            </a:r>
          </a:p>
        </p:txBody>
      </p:sp>
      <p:sp>
        <p:nvSpPr>
          <p:cNvPr id="310" name="N0C"/>
          <p:cNvSpPr/>
          <p:nvPr/>
        </p:nvSpPr>
        <p:spPr>
          <a:xfrm>
            <a:off x="6460353" y="1370802"/>
            <a:ext cx="1016000" cy="1016000"/>
          </a:xfrm>
          <a:prstGeom prst="ellipse">
            <a:avLst/>
          </a:prstGeom>
          <a:solidFill>
            <a:srgbClr val="C0392B"/>
          </a:solidFill>
          <a:ln w="0">
            <a:noFill/>
          </a:ln>
        </p:spPr>
        <p:txBody>
          <a:bodyPr/>
          <a:lstStyle/>
          <a:p>
            <a:endParaRPr lang="en-US" sz="1400" dirty="0">
              <a:solidFill>
                <a:srgbClr val="FFFFFF"/>
              </a:solidFill>
            </a:endParaRPr>
          </a:p>
        </p:txBody>
      </p:sp>
      <p:sp>
        <p:nvSpPr>
          <p:cNvPr id="311" name="N0L"/>
          <p:cNvSpPr/>
          <p:nvPr/>
        </p:nvSpPr>
        <p:spPr>
          <a:xfrm>
            <a:off x="7939947" y="1116016"/>
            <a:ext cx="4025312" cy="1778000"/>
          </a:xfrm>
          <a:prstGeom prst="rect">
            <a:avLst/>
          </a:prstGeom>
          <a:noFill/>
          <a:ln w="0">
            <a:noFill/>
          </a:ln>
        </p:spPr>
        <p:txBody>
          <a:bodyPr wrap="square" lIns="0" tIns="0" rIns="0" bIns="0" anchor="ctr"/>
          <a:lstStyle/>
          <a:p>
            <a:pPr algn="l">
              <a:lnSpc>
                <a:spcPct val="100000"/>
              </a:lnSpc>
            </a:pPr>
            <a:r>
              <a:rPr lang="en-US" sz="2200" b="1" dirty="0">
                <a:solidFill>
                  <a:srgbClr val="C0392B"/>
                </a:solidFill>
                <a:latin typeface="Calibri"/>
              </a:rPr>
              <a:t>Threat Response</a:t>
            </a:r>
          </a:p>
          <a:p>
            <a:pPr algn="l">
              <a:lnSpc>
                <a:spcPct val="100000"/>
              </a:lnSpc>
              <a:spcBef>
                <a:spcPts val="200"/>
              </a:spcBef>
            </a:pPr>
            <a:r>
              <a:rPr lang="en-US" sz="1800" dirty="0">
                <a:solidFill>
                  <a:srgbClr val="444444"/>
                </a:solidFill>
                <a:latin typeface="Calibri"/>
              </a:rPr>
              <a:t>Amygdala hyperreactivity to social-evaluative stimuli; reduced prefrontal regulation</a:t>
            </a:r>
          </a:p>
          <a:p>
            <a:pPr algn="l">
              <a:lnSpc>
                <a:spcPct val="100000"/>
              </a:lnSpc>
              <a:spcBef>
                <a:spcPts val="100"/>
              </a:spcBef>
            </a:pPr>
            <a:r>
              <a:rPr lang="en-US" sz="1800" i="1" dirty="0">
                <a:solidFill>
                  <a:srgbClr val="777777"/>
                </a:solidFill>
                <a:latin typeface="Calibri"/>
              </a:rPr>
              <a:t>(Bas-Hoogendam et al., 2020; Gentili et al., 2016; Goldin et al., 2009)</a:t>
            </a:r>
          </a:p>
        </p:txBody>
      </p:sp>
      <p:sp>
        <p:nvSpPr>
          <p:cNvPr id="313" name="N1C"/>
          <p:cNvSpPr/>
          <p:nvPr/>
        </p:nvSpPr>
        <p:spPr>
          <a:xfrm>
            <a:off x="7557124" y="4145702"/>
            <a:ext cx="1016000" cy="1016000"/>
          </a:xfrm>
          <a:prstGeom prst="ellipse">
            <a:avLst/>
          </a:prstGeom>
          <a:solidFill>
            <a:srgbClr val="2980B9"/>
          </a:solidFill>
          <a:ln w="0">
            <a:noFill/>
          </a:ln>
        </p:spPr>
        <p:txBody>
          <a:bodyPr/>
          <a:lstStyle/>
          <a:p>
            <a:endParaRPr lang="en-US" sz="1400" dirty="0">
              <a:solidFill>
                <a:srgbClr val="FFFFFF"/>
              </a:solidFill>
            </a:endParaRPr>
          </a:p>
        </p:txBody>
      </p:sp>
      <p:sp>
        <p:nvSpPr>
          <p:cNvPr id="314" name="N1L"/>
          <p:cNvSpPr/>
          <p:nvPr/>
        </p:nvSpPr>
        <p:spPr>
          <a:xfrm>
            <a:off x="8636000" y="3937000"/>
            <a:ext cx="3429000" cy="1905000"/>
          </a:xfrm>
          <a:prstGeom prst="rect">
            <a:avLst/>
          </a:prstGeom>
          <a:noFill/>
          <a:ln w="0">
            <a:noFill/>
          </a:ln>
        </p:spPr>
        <p:txBody>
          <a:bodyPr wrap="square" lIns="0" tIns="0" rIns="0" bIns="0" anchor="ctr"/>
          <a:lstStyle/>
          <a:p>
            <a:pPr algn="l">
              <a:lnSpc>
                <a:spcPct val="100000"/>
              </a:lnSpc>
            </a:pPr>
            <a:r>
              <a:rPr lang="en-US" sz="2200" b="1" dirty="0">
                <a:solidFill>
                  <a:srgbClr val="2980B9"/>
                </a:solidFill>
                <a:latin typeface="Calibri"/>
              </a:rPr>
              <a:t>Self-Focused Processing</a:t>
            </a:r>
          </a:p>
          <a:p>
            <a:pPr algn="l">
              <a:lnSpc>
                <a:spcPct val="100000"/>
              </a:lnSpc>
              <a:spcBef>
                <a:spcPts val="200"/>
              </a:spcBef>
            </a:pPr>
            <a:r>
              <a:rPr lang="en-US" sz="1800" dirty="0">
                <a:solidFill>
                  <a:srgbClr val="444444"/>
                </a:solidFill>
                <a:latin typeface="Calibri"/>
              </a:rPr>
              <a:t>Salience network (AI/dACC) hyperactive; DMN shifts toward internal monitoring</a:t>
            </a:r>
          </a:p>
          <a:p>
            <a:pPr algn="l">
              <a:lnSpc>
                <a:spcPct val="100000"/>
              </a:lnSpc>
              <a:spcBef>
                <a:spcPts val="100"/>
              </a:spcBef>
            </a:pPr>
            <a:r>
              <a:rPr lang="en-US" sz="1800" i="1" dirty="0">
                <a:solidFill>
                  <a:srgbClr val="777777"/>
                </a:solidFill>
                <a:latin typeface="Calibri"/>
              </a:rPr>
              <a:t>(Boehme et al., 2015; Perez-Edgar et al., 2016; Blair et al., 2008)</a:t>
            </a:r>
          </a:p>
        </p:txBody>
      </p:sp>
      <p:sp>
        <p:nvSpPr>
          <p:cNvPr id="316" name="N2C"/>
          <p:cNvSpPr/>
          <p:nvPr/>
        </p:nvSpPr>
        <p:spPr>
          <a:xfrm>
            <a:off x="4871295" y="5398124"/>
            <a:ext cx="1016000" cy="1016000"/>
          </a:xfrm>
          <a:prstGeom prst="ellipse">
            <a:avLst/>
          </a:prstGeom>
          <a:solidFill>
            <a:srgbClr val="8E44AD"/>
          </a:solidFill>
          <a:ln w="0">
            <a:noFill/>
          </a:ln>
        </p:spPr>
        <p:txBody>
          <a:bodyPr/>
          <a:lstStyle/>
          <a:p>
            <a:endParaRPr lang="en-US" sz="1400" dirty="0">
              <a:solidFill>
                <a:srgbClr val="FFFFFF"/>
              </a:solidFill>
            </a:endParaRPr>
          </a:p>
        </p:txBody>
      </p:sp>
      <p:sp>
        <p:nvSpPr>
          <p:cNvPr id="317" name="N2L"/>
          <p:cNvSpPr/>
          <p:nvPr/>
        </p:nvSpPr>
        <p:spPr>
          <a:xfrm>
            <a:off x="127000" y="4957330"/>
            <a:ext cx="4344024" cy="1778000"/>
          </a:xfrm>
          <a:prstGeom prst="rect">
            <a:avLst/>
          </a:prstGeom>
          <a:noFill/>
          <a:ln w="0">
            <a:noFill/>
          </a:ln>
        </p:spPr>
        <p:txBody>
          <a:bodyPr wrap="square" lIns="0" tIns="0" rIns="0" bIns="0" anchor="ctr"/>
          <a:lstStyle/>
          <a:p>
            <a:pPr algn="r">
              <a:lnSpc>
                <a:spcPct val="100000"/>
              </a:lnSpc>
            </a:pPr>
            <a:r>
              <a:rPr lang="en-US" sz="2200" b="1" dirty="0">
                <a:solidFill>
                  <a:srgbClr val="8E44AD"/>
                </a:solidFill>
                <a:latin typeface="Calibri"/>
              </a:rPr>
              <a:t>Post-Event Processing</a:t>
            </a:r>
          </a:p>
          <a:p>
            <a:pPr algn="r">
              <a:lnSpc>
                <a:spcPct val="100000"/>
              </a:lnSpc>
              <a:spcBef>
                <a:spcPts val="200"/>
              </a:spcBef>
            </a:pPr>
            <a:r>
              <a:rPr lang="en-US" sz="1800" dirty="0">
                <a:solidFill>
                  <a:srgbClr val="444444"/>
                </a:solidFill>
                <a:latin typeface="Calibri"/>
              </a:rPr>
              <a:t>Biased belief updating &amp; memory consolidation; distorted self-appraisal</a:t>
            </a:r>
          </a:p>
          <a:p>
            <a:pPr algn="r">
              <a:lnSpc>
                <a:spcPct val="100000"/>
              </a:lnSpc>
              <a:spcBef>
                <a:spcPts val="100"/>
              </a:spcBef>
            </a:pPr>
            <a:r>
              <a:rPr lang="en-US" sz="1800" i="1" dirty="0">
                <a:solidFill>
                  <a:srgbClr val="777777"/>
                </a:solidFill>
                <a:latin typeface="Calibri"/>
              </a:rPr>
              <a:t>(Jarcho et al., 2015; Brozovich &amp; Heimberg, 2008)</a:t>
            </a:r>
          </a:p>
        </p:txBody>
      </p:sp>
      <p:sp>
        <p:nvSpPr>
          <p:cNvPr id="319" name="N3C"/>
          <p:cNvSpPr/>
          <p:nvPr/>
        </p:nvSpPr>
        <p:spPr>
          <a:xfrm>
            <a:off x="3340483" y="2773587"/>
            <a:ext cx="1016000" cy="1016000"/>
          </a:xfrm>
          <a:prstGeom prst="ellipse">
            <a:avLst/>
          </a:prstGeom>
          <a:solidFill>
            <a:srgbClr val="27AE60"/>
          </a:solidFill>
          <a:ln w="0">
            <a:noFill/>
          </a:ln>
        </p:spPr>
        <p:txBody>
          <a:bodyPr/>
          <a:lstStyle/>
          <a:p>
            <a:endParaRPr lang="en-US" sz="1400" dirty="0">
              <a:solidFill>
                <a:srgbClr val="FFFFFF"/>
              </a:solidFill>
            </a:endParaRPr>
          </a:p>
        </p:txBody>
      </p:sp>
      <p:sp>
        <p:nvSpPr>
          <p:cNvPr id="320" name="N3L"/>
          <p:cNvSpPr/>
          <p:nvPr/>
        </p:nvSpPr>
        <p:spPr>
          <a:xfrm>
            <a:off x="127000" y="1116016"/>
            <a:ext cx="4614789" cy="1905000"/>
          </a:xfrm>
          <a:prstGeom prst="rect">
            <a:avLst/>
          </a:prstGeom>
          <a:noFill/>
          <a:ln w="0">
            <a:noFill/>
          </a:ln>
        </p:spPr>
        <p:txBody>
          <a:bodyPr wrap="square" lIns="0" tIns="0" rIns="0" bIns="0" anchor="ctr"/>
          <a:lstStyle/>
          <a:p>
            <a:pPr algn="r">
              <a:lnSpc>
                <a:spcPct val="100000"/>
              </a:lnSpc>
            </a:pPr>
            <a:r>
              <a:rPr lang="en-US" sz="2200" b="1" dirty="0">
                <a:solidFill>
                  <a:srgbClr val="27AE60"/>
                </a:solidFill>
                <a:latin typeface="Calibri"/>
              </a:rPr>
              <a:t>Avoidance &amp; Distorted Self-Image</a:t>
            </a:r>
          </a:p>
          <a:p>
            <a:pPr algn="r">
              <a:lnSpc>
                <a:spcPct val="100000"/>
              </a:lnSpc>
              <a:spcBef>
                <a:spcPts val="200"/>
              </a:spcBef>
            </a:pPr>
            <a:r>
              <a:rPr lang="en-US" sz="1800" dirty="0">
                <a:solidFill>
                  <a:srgbClr val="444444"/>
                </a:solidFill>
                <a:latin typeface="Calibri"/>
              </a:rPr>
              <a:t>Behavioral withdrawal; negative self-representation maintained by biased learning</a:t>
            </a:r>
          </a:p>
          <a:p>
            <a:pPr algn="r">
              <a:lnSpc>
                <a:spcPct val="100000"/>
              </a:lnSpc>
              <a:spcBef>
                <a:spcPts val="100"/>
              </a:spcBef>
            </a:pPr>
            <a:r>
              <a:rPr lang="en-US" sz="1800" i="1" dirty="0">
                <a:solidFill>
                  <a:srgbClr val="777777"/>
                </a:solidFill>
                <a:latin typeface="Calibri"/>
              </a:rPr>
              <a:t>(Hofmann, 2007; Clark &amp; Wells, 1995)</a:t>
            </a:r>
          </a:p>
        </p:txBody>
      </p:sp>
      <p:cxnSp>
        <p:nvCxnSpPr>
          <p:cNvPr id="322" name="CycleArrow0"/>
          <p:cNvCxnSpPr>
            <a:cxnSpLocks/>
          </p:cNvCxnSpPr>
          <p:nvPr/>
        </p:nvCxnSpPr>
        <p:spPr>
          <a:xfrm rot="16200000" flipH="1">
            <a:off x="6951547" y="2680253"/>
            <a:ext cx="1512725" cy="1000768"/>
          </a:xfrm>
          <a:prstGeom prst="curvedConnector3">
            <a:avLst>
              <a:gd name="adj1" fmla="val 50000"/>
            </a:avLst>
          </a:prstGeom>
          <a:ln w="15875">
            <a:solidFill>
              <a:srgbClr val="7F8C8D"/>
            </a:solidFill>
            <a:tailEnd type="triangle" w="med" len="med"/>
          </a:ln>
        </p:spPr>
      </p:cxnSp>
      <p:cxnSp>
        <p:nvCxnSpPr>
          <p:cNvPr id="323" name="CycleArrow1"/>
          <p:cNvCxnSpPr>
            <a:cxnSpLocks/>
          </p:cNvCxnSpPr>
          <p:nvPr/>
        </p:nvCxnSpPr>
        <p:spPr>
          <a:xfrm rot="10800000" flipV="1">
            <a:off x="6072578" y="5164211"/>
            <a:ext cx="1635331" cy="1058010"/>
          </a:xfrm>
          <a:prstGeom prst="curvedConnector3">
            <a:avLst>
              <a:gd name="adj1" fmla="val 50001"/>
            </a:avLst>
          </a:prstGeom>
          <a:ln w="15875">
            <a:solidFill>
              <a:srgbClr val="7F8C8D"/>
            </a:solidFill>
            <a:tailEnd type="triangle" w="med" len="med"/>
          </a:ln>
        </p:spPr>
      </p:cxnSp>
      <p:cxnSp>
        <p:nvCxnSpPr>
          <p:cNvPr id="324" name="CycleArrow2"/>
          <p:cNvCxnSpPr>
            <a:cxnSpLocks/>
          </p:cNvCxnSpPr>
          <p:nvPr/>
        </p:nvCxnSpPr>
        <p:spPr>
          <a:xfrm rot="16200000" flipV="1">
            <a:off x="3702611" y="4126709"/>
            <a:ext cx="1784269" cy="890581"/>
          </a:xfrm>
          <a:prstGeom prst="curvedConnector3">
            <a:avLst>
              <a:gd name="adj1" fmla="val 50000"/>
            </a:avLst>
          </a:prstGeom>
          <a:ln w="15875">
            <a:solidFill>
              <a:srgbClr val="7F8C8D"/>
            </a:solidFill>
            <a:tailEnd type="triangle" w="med" len="med"/>
          </a:ln>
        </p:spPr>
      </p:cxnSp>
      <p:cxnSp>
        <p:nvCxnSpPr>
          <p:cNvPr id="325" name="CycleArrow3"/>
          <p:cNvCxnSpPr>
            <a:cxnSpLocks/>
          </p:cNvCxnSpPr>
          <p:nvPr/>
        </p:nvCxnSpPr>
        <p:spPr>
          <a:xfrm flipV="1">
            <a:off x="4460667" y="2034918"/>
            <a:ext cx="1879695" cy="1029728"/>
          </a:xfrm>
          <a:prstGeom prst="curvedConnector3">
            <a:avLst>
              <a:gd name="adj1" fmla="val 50000"/>
            </a:avLst>
          </a:prstGeom>
          <a:ln w="15875">
            <a:solidFill>
              <a:srgbClr val="7F8C8D"/>
            </a:solidFill>
            <a:tailEnd type="triangle" w="med" len="med"/>
          </a:ln>
        </p:spPr>
      </p:cxnSp>
      <p:pic>
        <p:nvPicPr>
          <p:cNvPr id="326" name="Graphic 326" descr="Threat respons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41350" y="1408275"/>
            <a:ext cx="711200" cy="711200"/>
          </a:xfrm>
          <a:prstGeom prst="rect">
            <a:avLst/>
          </a:prstGeom>
        </p:spPr>
      </p:pic>
      <p:pic>
        <p:nvPicPr>
          <p:cNvPr id="327" name="Graphic 327" descr="Self-focused processing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09524" y="4298102"/>
            <a:ext cx="711200" cy="711200"/>
          </a:xfrm>
          <a:prstGeom prst="rect">
            <a:avLst/>
          </a:prstGeom>
        </p:spPr>
      </p:pic>
      <p:pic>
        <p:nvPicPr>
          <p:cNvPr id="328" name="Graphic 328" descr="Post-event processing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23695" y="5550524"/>
            <a:ext cx="711200" cy="711200"/>
          </a:xfrm>
          <a:prstGeom prst="rect">
            <a:avLst/>
          </a:prstGeom>
        </p:spPr>
      </p:pic>
      <p:pic>
        <p:nvPicPr>
          <p:cNvPr id="329" name="Graphic 329" descr="Avoidance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78390" y="2908300"/>
            <a:ext cx="711200" cy="711200"/>
          </a:xfrm>
          <a:prstGeom prst="rect">
            <a:avLst/>
          </a:prstGeom>
        </p:spPr>
      </p:pic>
    </p:spTree>
    <p:extLst>
      <p:ext uri="{BB962C8B-B14F-4D97-AF65-F5344CB8AC3E}">
        <p14:creationId xmlns:p14="http://schemas.microsoft.com/office/powerpoint/2010/main" val="977758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 grpId="0" animBg="1"/>
      <p:bldP spid="311" grpId="0"/>
      <p:bldP spid="313" grpId="0" animBg="1"/>
      <p:bldP spid="314" grpId="0"/>
      <p:bldP spid="316" grpId="0" animBg="1"/>
      <p:bldP spid="317" grpId="0"/>
      <p:bldP spid="319" grpId="0" animBg="1"/>
      <p:bldP spid="3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0317E-CF27-CE76-AAE8-E55FC164F09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A49A670-C764-82AF-27C4-6D1D38D89939}"/>
              </a:ext>
            </a:extLst>
          </p:cNvPr>
          <p:cNvSpPr/>
          <p:nvPr/>
        </p:nvSpPr>
        <p:spPr>
          <a:xfrm flipV="1">
            <a:off x="608857" y="971060"/>
            <a:ext cx="1024128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2DBB241-BDAB-9D5F-EAE9-F49CA100C1B7}"/>
              </a:ext>
            </a:extLst>
          </p:cNvPr>
          <p:cNvSpPr txBox="1"/>
          <p:nvPr/>
        </p:nvSpPr>
        <p:spPr>
          <a:xfrm>
            <a:off x="608857" y="1083464"/>
            <a:ext cx="9655958" cy="5262979"/>
          </a:xfrm>
          <a:prstGeom prst="rect">
            <a:avLst/>
          </a:prstGeom>
          <a:noFill/>
        </p:spPr>
        <p:txBody>
          <a:bodyPr wrap="square">
            <a:spAutoFit/>
          </a:bodyPr>
          <a:lstStyle/>
          <a:p>
            <a:pPr lvl="0" defTabSz="914400" eaLnBrk="0" fontAlgn="base" hangingPunct="0">
              <a:spcBef>
                <a:spcPct val="0"/>
              </a:spcBef>
              <a:spcAft>
                <a:spcPct val="0"/>
              </a:spcAft>
            </a:pPr>
            <a:endParaRPr lang="en-US" altLang="en-US" sz="2800" dirty="0">
              <a:latin typeface="Arial" panose="020B0604020202020204" pitchFamily="34" charset="0"/>
            </a:endParaRPr>
          </a:p>
          <a:p>
            <a:pPr eaLnBrk="0" fontAlgn="base" hangingPunct="0">
              <a:spcBef>
                <a:spcPct val="0"/>
              </a:spcBef>
              <a:spcAft>
                <a:spcPct val="0"/>
              </a:spcAft>
            </a:pPr>
            <a:r>
              <a:rPr lang="en-US" sz="2800" b="1" dirty="0">
                <a:latin typeface="Calibri" panose="020F0502020204030204" pitchFamily="34" charset="0"/>
                <a:cs typeface="Calibri" panose="020F0502020204030204" pitchFamily="34" charset="0"/>
              </a:rPr>
              <a:t>Did this individual’s brain represent the social event itself in a way that made it uniquely complex, and counter-productive to confident social functioning?</a:t>
            </a:r>
          </a:p>
          <a:p>
            <a:pPr eaLnBrk="0" fontAlgn="base" hangingPunct="0">
              <a:spcBef>
                <a:spcPct val="0"/>
              </a:spcBef>
              <a:spcAft>
                <a:spcPct val="0"/>
              </a:spcAft>
            </a:pPr>
            <a:endParaRPr lang="en-US" altLang="en-US" sz="2800" b="1" dirty="0">
              <a:latin typeface="Calibri" panose="020F0502020204030204" pitchFamily="34" charset="0"/>
              <a:cs typeface="Calibri" panose="020F0502020204030204" pitchFamily="34" charset="0"/>
            </a:endParaRPr>
          </a:p>
          <a:p>
            <a:pPr eaLnBrk="0" fontAlgn="base" hangingPunct="0">
              <a:spcBef>
                <a:spcPct val="0"/>
              </a:spcBef>
              <a:spcAft>
                <a:spcPct val="0"/>
              </a:spcAft>
            </a:pPr>
            <a:r>
              <a:rPr lang="en-US" altLang="en-US" sz="2800" dirty="0">
                <a:latin typeface="Calibri" panose="020F0502020204030204" pitchFamily="34" charset="0"/>
                <a:cs typeface="Calibri" panose="020F0502020204030204" pitchFamily="34" charset="0"/>
              </a:rPr>
              <a:t>Neural findings primarily describe how socially anxious adolescents react to and remember social cues, rather than how they organize and represent the structure of their social world.</a:t>
            </a:r>
          </a:p>
          <a:p>
            <a:pPr eaLnBrk="0" fontAlgn="base" hangingPunct="0">
              <a:spcBef>
                <a:spcPct val="0"/>
              </a:spcBef>
              <a:spcAft>
                <a:spcPct val="0"/>
              </a:spcAft>
            </a:pPr>
            <a:endParaRPr lang="en-US" sz="2800" dirty="0">
              <a:latin typeface="Calibri" panose="020F0502020204030204" pitchFamily="34" charset="0"/>
              <a:cs typeface="Calibri" panose="020F0502020204030204" pitchFamily="34" charset="0"/>
            </a:endParaRPr>
          </a:p>
          <a:p>
            <a:pPr lvl="0" defTabSz="914400" eaLnBrk="0" fontAlgn="base" hangingPunct="0">
              <a:spcBef>
                <a:spcPct val="0"/>
              </a:spcBef>
              <a:spcAft>
                <a:spcPct val="0"/>
              </a:spcAft>
            </a:pPr>
            <a:endParaRPr lang="en-US" altLang="en-US" sz="2800" dirty="0">
              <a:latin typeface="Arial" panose="020B0604020202020204" pitchFamily="34" charset="0"/>
            </a:endParaRPr>
          </a:p>
          <a:p>
            <a:endParaRPr lang="en-US" sz="2800" dirty="0"/>
          </a:p>
          <a:p>
            <a:endParaRPr lang="en-US" sz="2800" dirty="0"/>
          </a:p>
        </p:txBody>
      </p:sp>
      <p:sp>
        <p:nvSpPr>
          <p:cNvPr id="3" name="TextBox 2">
            <a:extLst>
              <a:ext uri="{FF2B5EF4-FFF2-40B4-BE49-F238E27FC236}">
                <a16:creationId xmlns:a16="http://schemas.microsoft.com/office/drawing/2014/main" id="{05E60CC3-5B1A-C4B5-4796-5BBFAE5D8D42}"/>
              </a:ext>
            </a:extLst>
          </p:cNvPr>
          <p:cNvSpPr txBox="1"/>
          <p:nvPr/>
        </p:nvSpPr>
        <p:spPr>
          <a:xfrm>
            <a:off x="608857" y="279011"/>
            <a:ext cx="11356402" cy="625364"/>
          </a:xfrm>
          <a:prstGeom prst="rect">
            <a:avLst/>
          </a:prstGeom>
          <a:noFill/>
        </p:spPr>
        <p:txBody>
          <a:bodyPr wrap="square">
            <a:spAutoFit/>
          </a:bodyPr>
          <a:lstStyle/>
          <a:p>
            <a:pPr algn="l">
              <a:lnSpc>
                <a:spcPct val="115000"/>
              </a:lnSpc>
              <a:spcAft>
                <a:spcPts val="0"/>
              </a:spcAft>
              <a:defRPr sz="3200" b="1" i="0">
                <a:solidFill>
                  <a:srgbClr val="002060"/>
                </a:solidFill>
                <a:latin typeface="Calibri"/>
              </a:defRPr>
            </a:pPr>
            <a:r>
              <a:rPr lang="en-US" sz="3200" dirty="0">
                <a:solidFill>
                  <a:schemeClr val="tx1">
                    <a:lumMod val="95000"/>
                    <a:lumOff val="5000"/>
                  </a:schemeClr>
                </a:solidFill>
              </a:rPr>
              <a:t>How is this event represented?</a:t>
            </a:r>
            <a:endParaRPr sz="3200" dirty="0"/>
          </a:p>
        </p:txBody>
      </p:sp>
    </p:spTree>
    <p:extLst>
      <p:ext uri="{BB962C8B-B14F-4D97-AF65-F5344CB8AC3E}">
        <p14:creationId xmlns:p14="http://schemas.microsoft.com/office/powerpoint/2010/main" val="41447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CCE1-9DC0-9B97-E50C-30EA902A890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410A1-62BD-8F7D-ED89-32F16C3EC826}"/>
              </a:ext>
            </a:extLst>
          </p:cNvPr>
          <p:cNvSpPr txBox="1"/>
          <p:nvPr/>
        </p:nvSpPr>
        <p:spPr>
          <a:xfrm>
            <a:off x="609600" y="292100"/>
            <a:ext cx="10972800" cy="647700"/>
          </a:xfrm>
          <a:prstGeom prst="rect">
            <a:avLst/>
          </a:prstGeom>
          <a:noFill/>
        </p:spPr>
        <p:txBody>
          <a:bodyPr vertOverflow="overflow" vert="horz" wrap="square" rtlCol="0" anchor="t">
            <a:noAutofit/>
          </a:bodyPr>
          <a:lstStyle/>
          <a:p>
            <a:pPr algn="l">
              <a:lnSpc>
                <a:spcPct val="100000"/>
              </a:lnSpc>
            </a:pPr>
            <a:r>
              <a:rPr lang="en-US" sz="3600" b="1" dirty="0">
                <a:solidFill>
                  <a:srgbClr val="002060"/>
                </a:solidFill>
                <a:latin typeface="Calibri"/>
              </a:rPr>
              <a:t>Individual representations of social stimuli</a:t>
            </a:r>
          </a:p>
        </p:txBody>
      </p:sp>
      <p:sp>
        <p:nvSpPr>
          <p:cNvPr id="4" name="Rectangle 3">
            <a:extLst>
              <a:ext uri="{FF2B5EF4-FFF2-40B4-BE49-F238E27FC236}">
                <a16:creationId xmlns:a16="http://schemas.microsoft.com/office/drawing/2014/main" id="{F9FD49DC-65BB-34D9-E034-5A013B3A8DA5}"/>
              </a:ext>
            </a:extLst>
          </p:cNvPr>
          <p:cNvSpPr/>
          <p:nvPr/>
        </p:nvSpPr>
        <p:spPr>
          <a:xfrm>
            <a:off x="609600" y="1028700"/>
            <a:ext cx="10972800" cy="63500"/>
          </a:xfrm>
          <a:prstGeom prst="rect">
            <a:avLst/>
          </a:prstGeom>
          <a:solidFill>
            <a:srgbClr val="007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69D80282-D023-8D0B-DCB8-F3971452E770}"/>
              </a:ext>
            </a:extLst>
          </p:cNvPr>
          <p:cNvSpPr txBox="1"/>
          <p:nvPr/>
        </p:nvSpPr>
        <p:spPr>
          <a:xfrm>
            <a:off x="442331" y="1437268"/>
            <a:ext cx="10972800" cy="5207000"/>
          </a:xfrm>
          <a:prstGeom prst="rect">
            <a:avLst/>
          </a:prstGeom>
          <a:noFill/>
        </p:spPr>
        <p:txBody>
          <a:bodyPr vertOverflow="overflow" vert="horz" wrap="square" rtlCol="0" anchor="t">
            <a:noAutofit/>
          </a:bodyPr>
          <a:lstStyle/>
          <a:p>
            <a:pPr>
              <a:lnSpc>
                <a:spcPct val="120000"/>
              </a:lnSpc>
              <a:spcAft>
                <a:spcPts val="800"/>
              </a:spcAft>
            </a:pPr>
            <a:r>
              <a:rPr lang="en-US" sz="2800" dirty="0">
                <a:latin typeface="Calibri" panose="020F0502020204030204" pitchFamily="34" charset="0"/>
                <a:cs typeface="Calibri" panose="020F0502020204030204" pitchFamily="34" charset="0"/>
              </a:rPr>
              <a:t>Fear comes with a </a:t>
            </a:r>
            <a:r>
              <a:rPr lang="en-US" sz="2800" b="1" dirty="0">
                <a:latin typeface="Calibri" panose="020F0502020204030204" pitchFamily="34" charset="0"/>
                <a:cs typeface="Calibri" panose="020F0502020204030204" pitchFamily="34" charset="0"/>
              </a:rPr>
              <a:t>heterogeneous set of beliefs</a:t>
            </a:r>
            <a:r>
              <a:rPr lang="en-US" sz="2800" dirty="0">
                <a:latin typeface="Calibri" panose="020F0502020204030204" pitchFamily="34" charset="0"/>
                <a:cs typeface="Calibri" panose="020F0502020204030204" pitchFamily="34" charset="0"/>
              </a:rPr>
              <a:t> about what others think and judge (Kervin et al., 2024)</a:t>
            </a:r>
          </a:p>
          <a:p>
            <a:pPr>
              <a:lnSpc>
                <a:spcPct val="120000"/>
              </a:lnSpc>
              <a:spcAft>
                <a:spcPts val="800"/>
              </a:spcAft>
            </a:pPr>
            <a:r>
              <a:rPr lang="en-US" sz="2800" dirty="0">
                <a:latin typeface="Calibri" panose="020F0502020204030204" pitchFamily="34" charset="0"/>
                <a:cs typeface="Calibri" panose="020F0502020204030204" pitchFamily="34" charset="0"/>
              </a:rPr>
              <a:t>Social environments may be </a:t>
            </a:r>
            <a:r>
              <a:rPr lang="en-US" sz="2800" b="1" dirty="0">
                <a:latin typeface="Calibri" panose="020F0502020204030204" pitchFamily="34" charset="0"/>
                <a:cs typeface="Calibri" panose="020F0502020204030204" pitchFamily="34" charset="0"/>
              </a:rPr>
              <a:t>uniquely </a:t>
            </a:r>
            <a:r>
              <a:rPr lang="en-US" sz="2800" dirty="0">
                <a:latin typeface="Calibri" panose="020F0502020204030204" pitchFamily="34" charset="0"/>
                <a:cs typeface="Calibri" panose="020F0502020204030204" pitchFamily="34" charset="0"/>
              </a:rPr>
              <a:t>understood, represented, and learned,</a:t>
            </a:r>
            <a:r>
              <a:rPr lang="en-US" sz="2800" b="1" dirty="0">
                <a:latin typeface="Calibri" panose="020F0502020204030204" pitchFamily="34" charset="0"/>
                <a:cs typeface="Calibri" panose="020F0502020204030204" pitchFamily="34" charset="0"/>
              </a:rPr>
              <a:t> </a:t>
            </a:r>
            <a:r>
              <a:rPr lang="en-US" sz="2800" dirty="0">
                <a:latin typeface="Calibri" panose="020F0502020204030204" pitchFamily="34" charset="0"/>
                <a:cs typeface="Calibri" panose="020F0502020204030204" pitchFamily="34" charset="0"/>
              </a:rPr>
              <a:t>in individuals with SAD; making shared understandings and friendships formation difficult (Rappaport &amp; Barch, 2022).</a:t>
            </a:r>
          </a:p>
          <a:p>
            <a:pPr>
              <a:lnSpc>
                <a:spcPct val="120000"/>
              </a:lnSpc>
              <a:spcAft>
                <a:spcPts val="800"/>
              </a:spcAft>
            </a:pPr>
            <a:r>
              <a:rPr lang="en-US" sz="2800" dirty="0">
                <a:latin typeface="Calibri" panose="020F0502020204030204" pitchFamily="34" charset="0"/>
                <a:cs typeface="Calibri" panose="020F0502020204030204" pitchFamily="34" charset="0"/>
              </a:rPr>
              <a:t>Neural representations of social stimuli were more idiosyncratic in individuals with greater SAD symptoms (Camacho et al., 2024).</a:t>
            </a:r>
          </a:p>
        </p:txBody>
      </p:sp>
    </p:spTree>
    <p:extLst>
      <p:ext uri="{BB962C8B-B14F-4D97-AF65-F5344CB8AC3E}">
        <p14:creationId xmlns:p14="http://schemas.microsoft.com/office/powerpoint/2010/main" val="2318155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54E7B-E1F0-060C-32EF-A2C044CE9C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74D6F6A-5429-054B-B28A-75921AD67C33}"/>
              </a:ext>
            </a:extLst>
          </p:cNvPr>
          <p:cNvSpPr txBox="1"/>
          <p:nvPr/>
        </p:nvSpPr>
        <p:spPr>
          <a:xfrm>
            <a:off x="609600" y="292100"/>
            <a:ext cx="10972800" cy="647700"/>
          </a:xfrm>
          <a:prstGeom prst="rect">
            <a:avLst/>
          </a:prstGeom>
          <a:noFill/>
        </p:spPr>
        <p:txBody>
          <a:bodyPr vertOverflow="overflow" vert="horz" wrap="square" rtlCol="0" anchor="t">
            <a:noAutofit/>
          </a:bodyPr>
          <a:lstStyle/>
          <a:p>
            <a:pPr algn="l">
              <a:lnSpc>
                <a:spcPct val="100000"/>
              </a:lnSpc>
            </a:pPr>
            <a:r>
              <a:rPr lang="en-US" sz="3600" b="1" dirty="0">
                <a:solidFill>
                  <a:srgbClr val="002060"/>
                </a:solidFill>
                <a:latin typeface="Calibri"/>
              </a:rPr>
              <a:t>Multivariate analyses can tell us more!</a:t>
            </a:r>
          </a:p>
        </p:txBody>
      </p:sp>
      <p:sp>
        <p:nvSpPr>
          <p:cNvPr id="4" name="Rectangle 3">
            <a:extLst>
              <a:ext uri="{FF2B5EF4-FFF2-40B4-BE49-F238E27FC236}">
                <a16:creationId xmlns:a16="http://schemas.microsoft.com/office/drawing/2014/main" id="{1EE53C9F-4A74-D149-9015-D7E71770DEF6}"/>
              </a:ext>
            </a:extLst>
          </p:cNvPr>
          <p:cNvSpPr/>
          <p:nvPr/>
        </p:nvSpPr>
        <p:spPr>
          <a:xfrm>
            <a:off x="609600" y="1028700"/>
            <a:ext cx="10972800" cy="63500"/>
          </a:xfrm>
          <a:prstGeom prst="rect">
            <a:avLst/>
          </a:prstGeom>
          <a:solidFill>
            <a:srgbClr val="007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5B64014D-4B0B-C3CF-A3BE-81F11906B8A4}"/>
              </a:ext>
            </a:extLst>
          </p:cNvPr>
          <p:cNvSpPr txBox="1"/>
          <p:nvPr/>
        </p:nvSpPr>
        <p:spPr>
          <a:xfrm>
            <a:off x="772657" y="1345659"/>
            <a:ext cx="11745346" cy="492122"/>
          </a:xfrm>
          <a:prstGeom prst="rect">
            <a:avLst/>
          </a:prstGeom>
          <a:noFill/>
        </p:spPr>
        <p:txBody>
          <a:bodyPr wrap="square">
            <a:spAutoFit/>
          </a:bodyPr>
          <a:lstStyle/>
          <a:p>
            <a:pPr>
              <a:lnSpc>
                <a:spcPct val="115000"/>
              </a:lnSpc>
              <a:defRPr sz="1800" b="1" i="0">
                <a:solidFill>
                  <a:srgbClr val="002060"/>
                </a:solidFill>
                <a:latin typeface="Calibri"/>
              </a:defRPr>
            </a:pPr>
            <a:r>
              <a:rPr lang="en-US" sz="2400" dirty="0"/>
              <a:t>Representational Similarity Analysis</a:t>
            </a:r>
            <a:endParaRPr sz="2400" dirty="0"/>
          </a:p>
        </p:txBody>
      </p:sp>
      <p:pic>
        <p:nvPicPr>
          <p:cNvPr id="7" name="Picture 6">
            <a:extLst>
              <a:ext uri="{FF2B5EF4-FFF2-40B4-BE49-F238E27FC236}">
                <a16:creationId xmlns:a16="http://schemas.microsoft.com/office/drawing/2014/main" id="{F523E100-20B5-3462-EC4F-7601DED69A04}"/>
              </a:ext>
            </a:extLst>
          </p:cNvPr>
          <p:cNvPicPr>
            <a:picLocks noChangeAspect="1"/>
          </p:cNvPicPr>
          <p:nvPr/>
        </p:nvPicPr>
        <p:blipFill>
          <a:blip r:embed="rId3"/>
          <a:srcRect l="29255" t="42947"/>
          <a:stretch>
            <a:fillRect/>
          </a:stretch>
        </p:blipFill>
        <p:spPr>
          <a:xfrm>
            <a:off x="7723505" y="2234613"/>
            <a:ext cx="1396580" cy="1431803"/>
          </a:xfrm>
          <a:prstGeom prst="rect">
            <a:avLst/>
          </a:prstGeom>
        </p:spPr>
      </p:pic>
      <p:pic>
        <p:nvPicPr>
          <p:cNvPr id="8" name="Picture 7">
            <a:extLst>
              <a:ext uri="{FF2B5EF4-FFF2-40B4-BE49-F238E27FC236}">
                <a16:creationId xmlns:a16="http://schemas.microsoft.com/office/drawing/2014/main" id="{1B1C677B-A7E1-7599-BD06-58D49DD6E20A}"/>
              </a:ext>
            </a:extLst>
          </p:cNvPr>
          <p:cNvPicPr>
            <a:picLocks noChangeAspect="1"/>
          </p:cNvPicPr>
          <p:nvPr/>
        </p:nvPicPr>
        <p:blipFill>
          <a:blip r:embed="rId3"/>
          <a:srcRect t="33332" r="29255"/>
          <a:stretch>
            <a:fillRect/>
          </a:stretch>
        </p:blipFill>
        <p:spPr>
          <a:xfrm>
            <a:off x="7656421" y="4592185"/>
            <a:ext cx="1477495" cy="1547599"/>
          </a:xfrm>
          <a:prstGeom prst="rect">
            <a:avLst/>
          </a:prstGeom>
        </p:spPr>
      </p:pic>
      <p:pic>
        <p:nvPicPr>
          <p:cNvPr id="12" name="Picture 11">
            <a:extLst>
              <a:ext uri="{FF2B5EF4-FFF2-40B4-BE49-F238E27FC236}">
                <a16:creationId xmlns:a16="http://schemas.microsoft.com/office/drawing/2014/main" id="{911E8B73-A209-8BE2-17AB-7586B9D34C80}"/>
              </a:ext>
            </a:extLst>
          </p:cNvPr>
          <p:cNvPicPr>
            <a:picLocks noChangeAspect="1"/>
          </p:cNvPicPr>
          <p:nvPr/>
        </p:nvPicPr>
        <p:blipFill>
          <a:blip r:embed="rId4"/>
          <a:srcRect l="26381" t="21654" r="48977" b="60468"/>
          <a:stretch>
            <a:fillRect/>
          </a:stretch>
        </p:blipFill>
        <p:spPr>
          <a:xfrm>
            <a:off x="1861676" y="1940457"/>
            <a:ext cx="5794745" cy="2363211"/>
          </a:xfrm>
          <a:prstGeom prst="rect">
            <a:avLst/>
          </a:prstGeom>
        </p:spPr>
      </p:pic>
      <p:pic>
        <p:nvPicPr>
          <p:cNvPr id="13" name="Picture 12">
            <a:extLst>
              <a:ext uri="{FF2B5EF4-FFF2-40B4-BE49-F238E27FC236}">
                <a16:creationId xmlns:a16="http://schemas.microsoft.com/office/drawing/2014/main" id="{A30F8F51-AA9B-16AC-CC2C-A9A9A818D512}"/>
              </a:ext>
            </a:extLst>
          </p:cNvPr>
          <p:cNvPicPr>
            <a:picLocks noChangeAspect="1"/>
          </p:cNvPicPr>
          <p:nvPr/>
        </p:nvPicPr>
        <p:blipFill>
          <a:blip r:embed="rId5"/>
          <a:stretch>
            <a:fillRect/>
          </a:stretch>
        </p:blipFill>
        <p:spPr>
          <a:xfrm rot="2660071">
            <a:off x="6029224" y="4436719"/>
            <a:ext cx="1232212" cy="310932"/>
          </a:xfrm>
          <a:prstGeom prst="rect">
            <a:avLst/>
          </a:prstGeom>
        </p:spPr>
      </p:pic>
    </p:spTree>
    <p:extLst>
      <p:ext uri="{BB962C8B-B14F-4D97-AF65-F5344CB8AC3E}">
        <p14:creationId xmlns:p14="http://schemas.microsoft.com/office/powerpoint/2010/main" val="4193548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736600" y="317500"/>
            <a:ext cx="10668000" cy="635000"/>
          </a:xfrm>
          <a:prstGeom prst="rect">
            <a:avLst/>
          </a:prstGeom>
          <a:noFill/>
        </p:spPr>
        <p:txBody>
          <a:bodyPr wrap="square" lIns="0" tIns="0" rIns="0" bIns="0" anchor="b"/>
          <a:lstStyle/>
          <a:p>
            <a:pPr algn="l">
              <a:lnSpc>
                <a:spcPct val="115000"/>
              </a:lnSpc>
              <a:buNone/>
            </a:pPr>
            <a:r>
              <a:rPr lang="en-US" sz="3200" b="1" dirty="0">
                <a:solidFill>
                  <a:srgbClr val="002060"/>
                </a:solidFill>
                <a:latin typeface="Calibri" panose="020F0502020204030204" pitchFamily="34" charset="0"/>
                <a:cs typeface="Calibri" panose="020F0502020204030204" pitchFamily="34" charset="0"/>
              </a:rPr>
              <a:t>Temporal ISC</a:t>
            </a:r>
          </a:p>
        </p:txBody>
      </p:sp>
      <p:sp>
        <p:nvSpPr>
          <p:cNvPr id="11" name="AccentLine"/>
          <p:cNvSpPr/>
          <p:nvPr/>
        </p:nvSpPr>
        <p:spPr>
          <a:xfrm>
            <a:off x="736600" y="1003300"/>
            <a:ext cx="10668000" cy="50800"/>
          </a:xfrm>
          <a:prstGeom prst="rect">
            <a:avLst/>
          </a:prstGeom>
          <a:solidFill>
            <a:schemeClr val="accent4">
              <a:lumMod val="75000"/>
            </a:schemeClr>
          </a:solidFill>
          <a:ln>
            <a:noFill/>
          </a:ln>
        </p:spPr>
        <p:txBody>
          <a:bodyPr/>
          <a:lstStyle/>
          <a:p>
            <a:endParaRPr lang="en-US"/>
          </a:p>
        </p:txBody>
      </p:sp>
      <p:sp>
        <p:nvSpPr>
          <p:cNvPr id="12" name="Body"/>
          <p:cNvSpPr/>
          <p:nvPr/>
        </p:nvSpPr>
        <p:spPr>
          <a:xfrm>
            <a:off x="736600" y="1270000"/>
            <a:ext cx="10668000" cy="4318000"/>
          </a:xfrm>
          <a:prstGeom prst="rect">
            <a:avLst/>
          </a:prstGeom>
          <a:noFill/>
        </p:spPr>
        <p:txBody>
          <a:bodyPr wrap="square" lIns="0" tIns="0" rIns="0" bIns="0" anchor="t"/>
          <a:lstStyle/>
          <a:p>
            <a:pPr marL="228600" indent="-228600">
              <a:spcAft>
                <a:spcPts val="800"/>
              </a:spcAft>
              <a:buFont typeface="Arial"/>
              <a:buChar char="•"/>
            </a:pPr>
            <a:r>
              <a:rPr lang="en-US" sz="2200" dirty="0">
                <a:solidFill>
                  <a:schemeClr val="tx1">
                    <a:lumMod val="95000"/>
                    <a:lumOff val="5000"/>
                  </a:schemeClr>
                </a:solidFill>
                <a:latin typeface="Calibri"/>
              </a:rPr>
              <a:t>Does social anxiety predict divergent timing of neural activation during social interaction? </a:t>
            </a:r>
          </a:p>
        </p:txBody>
      </p:sp>
      <p:sp>
        <p:nvSpPr>
          <p:cNvPr id="30" name="Citation"/>
          <p:cNvSpPr/>
          <p:nvPr/>
        </p:nvSpPr>
        <p:spPr>
          <a:xfrm>
            <a:off x="3167566" y="477327"/>
            <a:ext cx="10668000" cy="457200"/>
          </a:xfrm>
          <a:prstGeom prst="rect">
            <a:avLst/>
          </a:prstGeom>
          <a:noFill/>
        </p:spPr>
        <p:txBody>
          <a:bodyPr wrap="square" lIns="0" tIns="0" rIns="0" bIns="0" anchor="b"/>
          <a:lstStyle/>
          <a:p>
            <a:pPr algn="l">
              <a:buNone/>
            </a:pPr>
            <a:r>
              <a:rPr lang="en-US" sz="2000" dirty="0">
                <a:solidFill>
                  <a:schemeClr val="tx1">
                    <a:lumMod val="65000"/>
                    <a:lumOff val="35000"/>
                  </a:schemeClr>
                </a:solidFill>
                <a:latin typeface="Calibri"/>
              </a:rPr>
              <a:t>(Nastase et al., 2019; Hasson et al., 2004)</a:t>
            </a:r>
          </a:p>
        </p:txBody>
      </p:sp>
      <p:sp>
        <p:nvSpPr>
          <p:cNvPr id="40" name="Timeline"/>
          <p:cNvSpPr/>
          <p:nvPr/>
        </p:nvSpPr>
        <p:spPr>
          <a:xfrm>
            <a:off x="1778000" y="5803900"/>
            <a:ext cx="8636000" cy="101600"/>
          </a:xfrm>
          <a:prstGeom prst="rect">
            <a:avLst/>
          </a:prstGeom>
          <a:solidFill>
            <a:schemeClr val="tx1">
              <a:lumMod val="50000"/>
              <a:lumOff val="50000"/>
            </a:schemeClr>
          </a:solidFill>
          <a:ln>
            <a:noFill/>
          </a:ln>
        </p:spPr>
        <p:txBody>
          <a:bodyPr/>
          <a:lstStyle/>
          <a:p>
            <a:endParaRPr lang="en-US"/>
          </a:p>
        </p:txBody>
      </p:sp>
      <p:sp>
        <p:nvSpPr>
          <p:cNvPr id="41" name="Window"/>
          <p:cNvSpPr/>
          <p:nvPr/>
        </p:nvSpPr>
        <p:spPr>
          <a:xfrm>
            <a:off x="4826000" y="5613400"/>
            <a:ext cx="2032000" cy="482600"/>
          </a:xfrm>
          <a:prstGeom prst="roundRect">
            <a:avLst>
              <a:gd name="adj" fmla="val 16667"/>
            </a:avLst>
          </a:prstGeom>
          <a:solidFill>
            <a:schemeClr val="accent4">
              <a:lumMod val="75000"/>
              <a:alpha val="30000"/>
            </a:schemeClr>
          </a:solidFill>
          <a:ln w="19050">
            <a:solidFill>
              <a:schemeClr val="accent4">
                <a:lumMod val="75000"/>
              </a:schemeClr>
            </a:solidFill>
          </a:ln>
        </p:spPr>
        <p:txBody>
          <a:bodyPr/>
          <a:lstStyle/>
          <a:p>
            <a:endParaRPr lang="en-US"/>
          </a:p>
        </p:txBody>
      </p:sp>
      <p:sp>
        <p:nvSpPr>
          <p:cNvPr id="42" name="Arrow"/>
          <p:cNvSpPr/>
          <p:nvPr/>
        </p:nvSpPr>
        <p:spPr>
          <a:xfrm>
            <a:off x="7048500" y="5676900"/>
            <a:ext cx="762000" cy="355600"/>
          </a:xfrm>
          <a:prstGeom prst="rightArrow">
            <a:avLst>
              <a:gd name="adj1" fmla="val 50000"/>
              <a:gd name="adj2" fmla="val 50000"/>
            </a:avLst>
          </a:prstGeom>
          <a:solidFill>
            <a:schemeClr val="accent4">
              <a:lumMod val="75000"/>
            </a:schemeClr>
          </a:solidFill>
          <a:ln>
            <a:noFill/>
          </a:ln>
        </p:spPr>
        <p:txBody>
          <a:bodyPr/>
          <a:lstStyle/>
          <a:p>
            <a:endParaRPr lang="en-US"/>
          </a:p>
        </p:txBody>
      </p:sp>
      <p:sp>
        <p:nvSpPr>
          <p:cNvPr id="43" name="T0"/>
          <p:cNvSpPr/>
          <p:nvPr/>
        </p:nvSpPr>
        <p:spPr>
          <a:xfrm>
            <a:off x="1524000" y="5969000"/>
            <a:ext cx="1016000" cy="355600"/>
          </a:xfrm>
          <a:prstGeom prst="rect">
            <a:avLst/>
          </a:prstGeom>
          <a:noFill/>
        </p:spPr>
        <p:txBody>
          <a:bodyPr wrap="none" lIns="0" tIns="0" rIns="0" bIns="0" anchor="t"/>
          <a:lstStyle/>
          <a:p>
            <a:pPr algn="ctr">
              <a:buNone/>
            </a:pPr>
            <a:r>
              <a:rPr lang="en-US" sz="2000" dirty="0">
                <a:solidFill>
                  <a:schemeClr val="tx1">
                    <a:lumMod val="65000"/>
                    <a:lumOff val="35000"/>
                  </a:schemeClr>
                </a:solidFill>
                <a:latin typeface="Calibri"/>
              </a:rPr>
              <a:t>Run start</a:t>
            </a:r>
          </a:p>
        </p:txBody>
      </p:sp>
      <p:sp>
        <p:nvSpPr>
          <p:cNvPr id="44" name="TEnd"/>
          <p:cNvSpPr/>
          <p:nvPr/>
        </p:nvSpPr>
        <p:spPr>
          <a:xfrm>
            <a:off x="9906000" y="5969000"/>
            <a:ext cx="1016000" cy="355600"/>
          </a:xfrm>
          <a:prstGeom prst="rect">
            <a:avLst/>
          </a:prstGeom>
          <a:noFill/>
        </p:spPr>
        <p:txBody>
          <a:bodyPr wrap="none" lIns="0" tIns="0" rIns="0" bIns="0" anchor="t"/>
          <a:lstStyle/>
          <a:p>
            <a:pPr algn="ctr">
              <a:buNone/>
            </a:pPr>
            <a:r>
              <a:rPr lang="en-US" sz="2000" dirty="0">
                <a:solidFill>
                  <a:schemeClr val="tx1">
                    <a:lumMod val="65000"/>
                    <a:lumOff val="35000"/>
                  </a:schemeClr>
                </a:solidFill>
                <a:latin typeface="Calibri"/>
              </a:rPr>
              <a:t>Run end</a:t>
            </a:r>
          </a:p>
        </p:txBody>
      </p:sp>
      <p:sp>
        <p:nvSpPr>
          <p:cNvPr id="45" name="ISCLabel"/>
          <p:cNvSpPr/>
          <p:nvPr/>
        </p:nvSpPr>
        <p:spPr>
          <a:xfrm>
            <a:off x="5016500" y="5295900"/>
            <a:ext cx="1651000" cy="304800"/>
          </a:xfrm>
          <a:prstGeom prst="rect">
            <a:avLst/>
          </a:prstGeom>
          <a:noFill/>
        </p:spPr>
        <p:txBody>
          <a:bodyPr wrap="none" lIns="0" tIns="0" rIns="0" bIns="0" anchor="b"/>
          <a:lstStyle/>
          <a:p>
            <a:pPr algn="ctr">
              <a:buNone/>
            </a:pPr>
            <a:r>
              <a:rPr lang="en-US" sz="2000" b="1" i="1" dirty="0">
                <a:solidFill>
                  <a:schemeClr val="accent4">
                    <a:lumMod val="75000"/>
                  </a:schemeClr>
                </a:solidFill>
                <a:latin typeface="Calibri"/>
              </a:rPr>
              <a:t>ISC(t)</a:t>
            </a:r>
          </a:p>
        </p:txBody>
      </p:sp>
      <p:grpSp>
        <p:nvGrpSpPr>
          <p:cNvPr id="2" name="Group 1">
            <a:extLst>
              <a:ext uri="{FF2B5EF4-FFF2-40B4-BE49-F238E27FC236}">
                <a16:creationId xmlns:a16="http://schemas.microsoft.com/office/drawing/2014/main" id="{33F0EC87-B71D-ACF1-99FD-36676C8E9DD0}"/>
              </a:ext>
            </a:extLst>
          </p:cNvPr>
          <p:cNvGrpSpPr/>
          <p:nvPr/>
        </p:nvGrpSpPr>
        <p:grpSpPr>
          <a:xfrm>
            <a:off x="2347626" y="2003442"/>
            <a:ext cx="5837836" cy="3165458"/>
            <a:chOff x="5254236" y="2664868"/>
            <a:chExt cx="4263656" cy="2928391"/>
          </a:xfrm>
        </p:grpSpPr>
        <p:pic>
          <p:nvPicPr>
            <p:cNvPr id="3" name="Picture 2">
              <a:extLst>
                <a:ext uri="{FF2B5EF4-FFF2-40B4-BE49-F238E27FC236}">
                  <a16:creationId xmlns:a16="http://schemas.microsoft.com/office/drawing/2014/main" id="{5916B0B1-F310-95F4-6EF5-014E0302D3E2}"/>
                </a:ext>
              </a:extLst>
            </p:cNvPr>
            <p:cNvPicPr>
              <a:picLocks noChangeAspect="1"/>
            </p:cNvPicPr>
            <p:nvPr/>
          </p:nvPicPr>
          <p:blipFill>
            <a:blip r:embed="rId3"/>
            <a:srcRect l="8192" r="14710"/>
            <a:stretch>
              <a:fillRect/>
            </a:stretch>
          </p:blipFill>
          <p:spPr>
            <a:xfrm>
              <a:off x="5254236" y="2664868"/>
              <a:ext cx="4263656" cy="2928391"/>
            </a:xfrm>
            <a:prstGeom prst="rect">
              <a:avLst/>
            </a:prstGeom>
          </p:spPr>
        </p:pic>
        <p:pic>
          <p:nvPicPr>
            <p:cNvPr id="4" name="Picture 3">
              <a:extLst>
                <a:ext uri="{FF2B5EF4-FFF2-40B4-BE49-F238E27FC236}">
                  <a16:creationId xmlns:a16="http://schemas.microsoft.com/office/drawing/2014/main" id="{A4D0B95C-2A66-FD8B-A0F7-02227D4A4187}"/>
                </a:ext>
              </a:extLst>
            </p:cNvPr>
            <p:cNvPicPr>
              <a:picLocks noChangeAspect="1"/>
            </p:cNvPicPr>
            <p:nvPr/>
          </p:nvPicPr>
          <p:blipFill>
            <a:blip r:embed="rId4"/>
            <a:stretch>
              <a:fillRect/>
            </a:stretch>
          </p:blipFill>
          <p:spPr>
            <a:xfrm>
              <a:off x="8551611" y="3002542"/>
              <a:ext cx="808289" cy="604258"/>
            </a:xfrm>
            <a:prstGeom prst="rect">
              <a:avLst/>
            </a:prstGeom>
          </p:spPr>
        </p:pic>
      </p:grpSp>
    </p:spTree>
    <p:extLst>
      <p:ext uri="{BB962C8B-B14F-4D97-AF65-F5344CB8AC3E}">
        <p14:creationId xmlns:p14="http://schemas.microsoft.com/office/powerpoint/2010/main" val="90967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288972"/>
            <a:ext cx="10972800" cy="646331"/>
          </a:xfrm>
          <a:prstGeom prst="rect">
            <a:avLst/>
          </a:prstGeom>
          <a:noFill/>
        </p:spPr>
        <p:txBody>
          <a:bodyPr wrap="square">
            <a:spAutoFit/>
          </a:bodyPr>
          <a:lstStyle/>
          <a:p>
            <a:pPr algn="l">
              <a:lnSpc>
                <a:spcPct val="100000"/>
              </a:lnSpc>
            </a:pPr>
            <a:r>
              <a:rPr lang="en-US" sz="3600" b="1" dirty="0">
                <a:solidFill>
                  <a:srgbClr val="002060"/>
                </a:solidFill>
                <a:latin typeface="Calibri"/>
              </a:rPr>
              <a:t>Research Questions</a:t>
            </a:r>
          </a:p>
        </p:txBody>
      </p:sp>
      <p:sp>
        <p:nvSpPr>
          <p:cNvPr id="3" name="Rectangle 2"/>
          <p:cNvSpPr/>
          <p:nvPr/>
        </p:nvSpPr>
        <p:spPr>
          <a:xfrm>
            <a:off x="609600" y="1028700"/>
            <a:ext cx="10972800" cy="685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a:extLst>
              <a:ext uri="{FF2B5EF4-FFF2-40B4-BE49-F238E27FC236}">
                <a16:creationId xmlns:a16="http://schemas.microsoft.com/office/drawing/2014/main" id="{34FFE37B-09ED-77FB-9BBB-C874F4F5885A}"/>
              </a:ext>
            </a:extLst>
          </p:cNvPr>
          <p:cNvSpPr/>
          <p:nvPr/>
        </p:nvSpPr>
        <p:spPr>
          <a:xfrm>
            <a:off x="609600" y="1841500"/>
            <a:ext cx="10972800" cy="2159000"/>
          </a:xfrm>
          <a:prstGeom prst="roundRect">
            <a:avLst/>
          </a:prstGeom>
          <a:solidFill>
            <a:srgbClr val="EBF0F7"/>
          </a:solidFill>
          <a:ln w="12700" cap="flat" cmpd="sng" algn="ctr">
            <a:no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7D187B38-6F79-02E2-84F4-E420D5FF618F}"/>
              </a:ext>
            </a:extLst>
          </p:cNvPr>
          <p:cNvSpPr txBox="1"/>
          <p:nvPr/>
        </p:nvSpPr>
        <p:spPr>
          <a:xfrm>
            <a:off x="863600" y="1968500"/>
            <a:ext cx="10464800" cy="1205458"/>
          </a:xfrm>
          <a:prstGeom prst="rect">
            <a:avLst/>
          </a:prstGeom>
          <a:noFill/>
        </p:spPr>
        <p:txBody>
          <a:bodyPr wrap="square">
            <a:spAutoFit/>
          </a:bodyPr>
          <a:lstStyle/>
          <a:p>
            <a:pPr algn="l">
              <a:lnSpc>
                <a:spcPct val="100000"/>
              </a:lnSpc>
            </a:pPr>
            <a:r>
              <a:rPr lang="en-US" sz="2400" b="1" dirty="0">
                <a:solidFill>
                  <a:srgbClr val="0070C0"/>
                </a:solidFill>
                <a:latin typeface="Calibri"/>
              </a:rPr>
              <a:t>Q1: Neural Representations of Social Learning Rates in SAD (RSA)</a:t>
            </a:r>
          </a:p>
          <a:p>
            <a:pPr algn="l">
              <a:lnSpc>
                <a:spcPct val="100000"/>
              </a:lnSpc>
              <a:spcBef>
                <a:spcPts val="600"/>
              </a:spcBef>
            </a:pPr>
            <a:r>
              <a:rPr lang="en-US" sz="2000" b="1" dirty="0">
                <a:solidFill>
                  <a:srgbClr val="002060"/>
                </a:solidFill>
                <a:latin typeface="Calibri"/>
              </a:rPr>
              <a:t>Do neural representations in SAD reflect different rates of social learning?</a:t>
            </a:r>
          </a:p>
          <a:p>
            <a:pPr algn="l">
              <a:lnSpc>
                <a:spcPct val="100000"/>
              </a:lnSpc>
              <a:spcBef>
                <a:spcPts val="400"/>
              </a:spcBef>
            </a:pPr>
            <a:r>
              <a:rPr lang="en-US" sz="2000" i="1" dirty="0">
                <a:solidFill>
                  <a:srgbClr val="222222"/>
                </a:solidFill>
                <a:latin typeface="Calibri"/>
              </a:rPr>
              <a:t>Does the brain's representational geometry come to mirror the true peer/task structure over time?</a:t>
            </a:r>
          </a:p>
        </p:txBody>
      </p:sp>
      <p:sp>
        <p:nvSpPr>
          <p:cNvPr id="4" name="Rounded Rectangle 3">
            <a:extLst>
              <a:ext uri="{FF2B5EF4-FFF2-40B4-BE49-F238E27FC236}">
                <a16:creationId xmlns:a16="http://schemas.microsoft.com/office/drawing/2014/main" id="{820B3929-AA5D-5B52-8C38-EBDEA8C804DE}"/>
              </a:ext>
            </a:extLst>
          </p:cNvPr>
          <p:cNvSpPr/>
          <p:nvPr/>
        </p:nvSpPr>
        <p:spPr>
          <a:xfrm>
            <a:off x="609600" y="4254500"/>
            <a:ext cx="10972800" cy="2222500"/>
          </a:xfrm>
          <a:prstGeom prst="roundRect">
            <a:avLst/>
          </a:prstGeom>
          <a:solidFill>
            <a:srgbClr val="EBF0F7"/>
          </a:solidFill>
          <a:ln w="12700" cap="flat" cmpd="sng" algn="ctr">
            <a:no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a:extLst>
              <a:ext uri="{FF2B5EF4-FFF2-40B4-BE49-F238E27FC236}">
                <a16:creationId xmlns:a16="http://schemas.microsoft.com/office/drawing/2014/main" id="{B088DF0E-CD1C-EC0C-133C-38EDC29F4894}"/>
              </a:ext>
            </a:extLst>
          </p:cNvPr>
          <p:cNvSpPr txBox="1"/>
          <p:nvPr/>
        </p:nvSpPr>
        <p:spPr>
          <a:xfrm>
            <a:off x="863600" y="4381500"/>
            <a:ext cx="10464800" cy="1205458"/>
          </a:xfrm>
          <a:prstGeom prst="rect">
            <a:avLst/>
          </a:prstGeom>
          <a:noFill/>
        </p:spPr>
        <p:txBody>
          <a:bodyPr wrap="square">
            <a:spAutoFit/>
          </a:bodyPr>
          <a:lstStyle/>
          <a:p>
            <a:pPr algn="l">
              <a:lnSpc>
                <a:spcPct val="100000"/>
              </a:lnSpc>
            </a:pPr>
            <a:r>
              <a:rPr lang="en-US" sz="2400" b="1" dirty="0">
                <a:solidFill>
                  <a:srgbClr val="0070C0"/>
                </a:solidFill>
                <a:latin typeface="Calibri"/>
              </a:rPr>
              <a:t>Q2: Idiosyncrasy in SAD (ISC)</a:t>
            </a:r>
          </a:p>
          <a:p>
            <a:pPr algn="l">
              <a:lnSpc>
                <a:spcPct val="100000"/>
              </a:lnSpc>
              <a:spcBef>
                <a:spcPts val="600"/>
              </a:spcBef>
            </a:pPr>
            <a:r>
              <a:rPr lang="en-US" sz="2000" b="1" dirty="0">
                <a:solidFill>
                  <a:srgbClr val="002060"/>
                </a:solidFill>
                <a:latin typeface="Calibri"/>
              </a:rPr>
              <a:t>Is SAD related to increasingly divergent neural activation patterns during the task.</a:t>
            </a:r>
          </a:p>
          <a:p>
            <a:pPr algn="l">
              <a:lnSpc>
                <a:spcPct val="100000"/>
              </a:lnSpc>
              <a:spcBef>
                <a:spcPts val="400"/>
              </a:spcBef>
            </a:pPr>
            <a:r>
              <a:rPr lang="en-US" sz="2000" i="1" dirty="0">
                <a:solidFill>
                  <a:srgbClr val="222222"/>
                </a:solidFill>
                <a:latin typeface="Calibri"/>
              </a:rPr>
              <a:t>Do socially anxious adolescents each represent peer feedback in their own unique way?</a:t>
            </a:r>
          </a:p>
        </p:txBody>
      </p:sp>
    </p:spTree>
    <p:extLst>
      <p:ext uri="{BB962C8B-B14F-4D97-AF65-F5344CB8AC3E}">
        <p14:creationId xmlns:p14="http://schemas.microsoft.com/office/powerpoint/2010/main" val="2951163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4"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C7496-ACEA-B199-E08C-E95C9DF7A7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E2C475-4D59-F7A5-73C8-8CEB552A0C73}"/>
              </a:ext>
            </a:extLst>
          </p:cNvPr>
          <p:cNvSpPr txBox="1"/>
          <p:nvPr/>
        </p:nvSpPr>
        <p:spPr>
          <a:xfrm>
            <a:off x="838200" y="451381"/>
            <a:ext cx="10512552" cy="4066540"/>
          </a:xfrm>
          <a:prstGeom prst="rect">
            <a:avLst/>
          </a:prstGeom>
        </p:spPr>
        <p:txBody>
          <a:bodyPr vert="horz" lIns="91440" tIns="45720" rIns="91440" bIns="45720" rtlCol="0" anchor="b">
            <a:normAutofit/>
          </a:bodyPr>
          <a:lstStyle/>
          <a:p>
            <a:pPr marL="514350" indent="-514350" defTabSz="914400">
              <a:lnSpc>
                <a:spcPct val="90000"/>
              </a:lnSpc>
              <a:spcBef>
                <a:spcPct val="0"/>
              </a:spcBef>
              <a:spcAft>
                <a:spcPts val="600"/>
              </a:spcAft>
              <a:defRPr sz="1800" b="0" i="0">
                <a:solidFill>
                  <a:srgbClr val="8B95A5"/>
                </a:solidFill>
                <a:latin typeface="Calibri"/>
              </a:defRPr>
            </a:pPr>
            <a:r>
              <a:rPr lang="en-US" sz="6600" dirty="0">
                <a:solidFill>
                  <a:schemeClr val="tx1">
                    <a:lumMod val="95000"/>
                    <a:lumOff val="5000"/>
                  </a:schemeClr>
                </a:solidFill>
                <a:cs typeface="Times New Roman" panose="02020603050405020304" pitchFamily="18" charset="0"/>
              </a:rPr>
              <a:t>Task and fMRI method</a:t>
            </a:r>
            <a:endParaRPr lang="en-US" sz="6600" kern="1200" dirty="0">
              <a:solidFill>
                <a:schemeClr val="tx1"/>
              </a:solidFill>
              <a:latin typeface="+mj-lt"/>
              <a:ea typeface="+mj-ea"/>
              <a:cs typeface="+mj-cs"/>
            </a:endParaRPr>
          </a:p>
        </p:txBody>
      </p:sp>
    </p:spTree>
    <p:extLst>
      <p:ext uri="{BB962C8B-B14F-4D97-AF65-F5344CB8AC3E}">
        <p14:creationId xmlns:p14="http://schemas.microsoft.com/office/powerpoint/2010/main" val="2607176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0560" y="247170"/>
            <a:ext cx="10515600" cy="758669"/>
          </a:xfrm>
          <a:prstGeom prst="rect">
            <a:avLst/>
          </a:prstGeom>
          <a:noFill/>
        </p:spPr>
        <p:txBody>
          <a:bodyPr wrap="square">
            <a:spAutoFit/>
          </a:bodyPr>
          <a:lstStyle/>
          <a:p>
            <a:pPr algn="l">
              <a:lnSpc>
                <a:spcPct val="115000"/>
              </a:lnSpc>
              <a:spcAft>
                <a:spcPts val="0"/>
              </a:spcAft>
              <a:defRPr sz="3200" b="1" i="0">
                <a:solidFill>
                  <a:srgbClr val="002060"/>
                </a:solidFill>
                <a:latin typeface="Calibri"/>
              </a:defRPr>
            </a:pPr>
            <a:r>
              <a:rPr lang="en-US" sz="4000" dirty="0"/>
              <a:t>Method</a:t>
            </a:r>
            <a:endParaRPr sz="4000" dirty="0"/>
          </a:p>
        </p:txBody>
      </p:sp>
      <p:sp>
        <p:nvSpPr>
          <p:cNvPr id="3" name="Rectangle 2"/>
          <p:cNvSpPr/>
          <p:nvPr/>
        </p:nvSpPr>
        <p:spPr>
          <a:xfrm>
            <a:off x="731520" y="1005839"/>
            <a:ext cx="1078992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86399" y="1720840"/>
            <a:ext cx="11019202" cy="3293209"/>
          </a:xfrm>
          <a:prstGeom prst="rect">
            <a:avLst/>
          </a:prstGeom>
          <a:noFill/>
        </p:spPr>
        <p:txBody>
          <a:bodyPr wrap="square">
            <a:spAutoFit/>
          </a:bodyPr>
          <a:lstStyle/>
          <a:p>
            <a:r>
              <a:rPr lang="en-US" sz="2600" b="1" dirty="0"/>
              <a:t>Participants</a:t>
            </a:r>
            <a:r>
              <a:rPr lang="en-US" sz="2600" dirty="0"/>
              <a:t>: 33 (ages 10–15, M = 12.73; 18M/15F).</a:t>
            </a:r>
          </a:p>
          <a:p>
            <a:endParaRPr lang="en-US" sz="2600" dirty="0"/>
          </a:p>
          <a:p>
            <a:r>
              <a:rPr lang="en-US" sz="2600" b="1" dirty="0"/>
              <a:t>Clinical assessment</a:t>
            </a:r>
            <a:r>
              <a:rPr lang="en-US" sz="2600" dirty="0"/>
              <a:t>: Social anxiety measured dimensionally using the SCARED Social Anxiety subscale (</a:t>
            </a:r>
            <a:r>
              <a:rPr lang="en-US" sz="2600" dirty="0" err="1"/>
              <a:t>Birmaher</a:t>
            </a:r>
            <a:r>
              <a:rPr lang="en-US" sz="2600" dirty="0"/>
              <a:t> et al., 1997; scores ranged from 0–14, spanning no symptoms through clinical threshold)</a:t>
            </a:r>
          </a:p>
          <a:p>
            <a:endParaRPr lang="en-US" sz="2600" dirty="0"/>
          </a:p>
          <a:p>
            <a:r>
              <a:rPr lang="en-US" sz="2600" b="1" dirty="0"/>
              <a:t>~30% met diagnostic criteria for SAD (ADIS C/P)</a:t>
            </a:r>
            <a:endParaRPr lang="en-US" sz="2600" dirty="0"/>
          </a:p>
          <a:p>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20FC-254C-AEED-4BA8-1A55EB4475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428AC9-AC89-6124-AA4B-E49C6DD7F3DF}"/>
              </a:ext>
            </a:extLst>
          </p:cNvPr>
          <p:cNvSpPr txBox="1"/>
          <p:nvPr/>
        </p:nvSpPr>
        <p:spPr>
          <a:xfrm>
            <a:off x="731520" y="365760"/>
            <a:ext cx="10515600" cy="640080"/>
          </a:xfrm>
          <a:prstGeom prst="rect">
            <a:avLst/>
          </a:prstGeom>
          <a:noFill/>
        </p:spPr>
        <p:txBody>
          <a:bodyPr wrap="square">
            <a:spAutoFit/>
          </a:bodyPr>
          <a:lstStyle/>
          <a:p>
            <a:pPr>
              <a:lnSpc>
                <a:spcPct val="115000"/>
              </a:lnSpc>
              <a:defRPr sz="3200" b="1" i="0">
                <a:solidFill>
                  <a:srgbClr val="002060"/>
                </a:solidFill>
                <a:latin typeface="Calibri"/>
              </a:defRPr>
            </a:pPr>
            <a:r>
              <a:rPr lang="en-US" dirty="0"/>
              <a:t>The LEARN Task: A Virtual School</a:t>
            </a:r>
          </a:p>
        </p:txBody>
      </p:sp>
      <p:sp>
        <p:nvSpPr>
          <p:cNvPr id="3" name="Rectangle 2">
            <a:extLst>
              <a:ext uri="{FF2B5EF4-FFF2-40B4-BE49-F238E27FC236}">
                <a16:creationId xmlns:a16="http://schemas.microsoft.com/office/drawing/2014/main" id="{3034739E-0CE9-43CB-5C88-389AC9853BEC}"/>
              </a:ext>
            </a:extLst>
          </p:cNvPr>
          <p:cNvSpPr/>
          <p:nvPr/>
        </p:nvSpPr>
        <p:spPr>
          <a:xfrm>
            <a:off x="731520" y="1005839"/>
            <a:ext cx="1078992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Content Placeholder 9">
            <a:extLst>
              <a:ext uri="{FF2B5EF4-FFF2-40B4-BE49-F238E27FC236}">
                <a16:creationId xmlns:a16="http://schemas.microsoft.com/office/drawing/2014/main" id="{65DCADBB-3C33-C2A5-4B3E-5288F39613C0}"/>
              </a:ext>
            </a:extLst>
          </p:cNvPr>
          <p:cNvPicPr>
            <a:picLocks noChangeAspect="1"/>
          </p:cNvPicPr>
          <p:nvPr/>
        </p:nvPicPr>
        <p:blipFill>
          <a:blip r:embed="rId3"/>
          <a:srcRect l="4972" t="9781" r="73938" b="19948"/>
          <a:stretch>
            <a:fillRect/>
          </a:stretch>
        </p:blipFill>
        <p:spPr>
          <a:xfrm>
            <a:off x="1173480" y="2075696"/>
            <a:ext cx="1786742" cy="3387567"/>
          </a:xfrm>
          <a:prstGeom prst="rect">
            <a:avLst/>
          </a:prstGeom>
        </p:spPr>
      </p:pic>
      <p:sp>
        <p:nvSpPr>
          <p:cNvPr id="6" name="TextBox 5">
            <a:extLst>
              <a:ext uri="{FF2B5EF4-FFF2-40B4-BE49-F238E27FC236}">
                <a16:creationId xmlns:a16="http://schemas.microsoft.com/office/drawing/2014/main" id="{AEFABD19-F7D7-DD8B-DB46-71C5BB43F449}"/>
              </a:ext>
            </a:extLst>
          </p:cNvPr>
          <p:cNvSpPr txBox="1"/>
          <p:nvPr/>
        </p:nvSpPr>
        <p:spPr>
          <a:xfrm>
            <a:off x="936642" y="1394737"/>
            <a:ext cx="9510378" cy="523220"/>
          </a:xfrm>
          <a:prstGeom prst="rect">
            <a:avLst/>
          </a:prstGeom>
          <a:noFill/>
        </p:spPr>
        <p:txBody>
          <a:bodyPr wrap="square">
            <a:spAutoFit/>
          </a:bodyPr>
          <a:lstStyle/>
          <a:p>
            <a:r>
              <a:rPr lang="en-US" sz="2800" b="1" dirty="0">
                <a:cs typeface="Times New Roman" panose="02020603050405020304" pitchFamily="18" charset="0"/>
              </a:rPr>
              <a:t>The peers</a:t>
            </a:r>
            <a:r>
              <a:rPr lang="en-US" sz="2800" dirty="0">
                <a:cs typeface="Times New Roman" panose="02020603050405020304" pitchFamily="18" charset="0"/>
              </a:rPr>
              <a:t>:</a:t>
            </a:r>
          </a:p>
        </p:txBody>
      </p:sp>
      <p:pic>
        <p:nvPicPr>
          <p:cNvPr id="4" name="Content Placeholder 9">
            <a:extLst>
              <a:ext uri="{FF2B5EF4-FFF2-40B4-BE49-F238E27FC236}">
                <a16:creationId xmlns:a16="http://schemas.microsoft.com/office/drawing/2014/main" id="{40E139CF-3A67-4369-3650-76D395DCB28A}"/>
              </a:ext>
            </a:extLst>
          </p:cNvPr>
          <p:cNvPicPr>
            <a:picLocks noChangeAspect="1"/>
          </p:cNvPicPr>
          <p:nvPr/>
        </p:nvPicPr>
        <p:blipFill>
          <a:blip r:embed="rId3"/>
          <a:srcRect l="73081" t="12308" r="5135" b="19172"/>
          <a:stretch>
            <a:fillRect/>
          </a:stretch>
        </p:blipFill>
        <p:spPr>
          <a:xfrm>
            <a:off x="7942052" y="2058754"/>
            <a:ext cx="1902098" cy="3404509"/>
          </a:xfrm>
          <a:prstGeom prst="rect">
            <a:avLst/>
          </a:prstGeom>
        </p:spPr>
      </p:pic>
      <p:pic>
        <p:nvPicPr>
          <p:cNvPr id="7" name="Content Placeholder 9">
            <a:extLst>
              <a:ext uri="{FF2B5EF4-FFF2-40B4-BE49-F238E27FC236}">
                <a16:creationId xmlns:a16="http://schemas.microsoft.com/office/drawing/2014/main" id="{203E5993-80C5-D16B-B295-5CAADF6ACEBF}"/>
              </a:ext>
            </a:extLst>
          </p:cNvPr>
          <p:cNvPicPr>
            <a:picLocks noChangeAspect="1"/>
          </p:cNvPicPr>
          <p:nvPr/>
        </p:nvPicPr>
        <p:blipFill>
          <a:blip r:embed="rId4"/>
          <a:srcRect l="52038" t="8515" r="30590" b="21243"/>
          <a:stretch>
            <a:fillRect/>
          </a:stretch>
        </p:blipFill>
        <p:spPr>
          <a:xfrm>
            <a:off x="5654860" y="1866804"/>
            <a:ext cx="1563126" cy="3596459"/>
          </a:xfrm>
          <a:prstGeom prst="rect">
            <a:avLst/>
          </a:prstGeom>
        </p:spPr>
      </p:pic>
      <p:pic>
        <p:nvPicPr>
          <p:cNvPr id="8" name="Content Placeholder 9">
            <a:extLst>
              <a:ext uri="{FF2B5EF4-FFF2-40B4-BE49-F238E27FC236}">
                <a16:creationId xmlns:a16="http://schemas.microsoft.com/office/drawing/2014/main" id="{1BDAAA4D-82D8-0705-F08C-F671156FB78B}"/>
              </a:ext>
            </a:extLst>
          </p:cNvPr>
          <p:cNvPicPr>
            <a:picLocks noChangeAspect="1"/>
          </p:cNvPicPr>
          <p:nvPr/>
        </p:nvPicPr>
        <p:blipFill>
          <a:blip r:embed="rId3"/>
          <a:srcRect l="29745" t="8481" r="51804" b="20899"/>
          <a:stretch>
            <a:fillRect/>
          </a:stretch>
        </p:blipFill>
        <p:spPr>
          <a:xfrm>
            <a:off x="3525977" y="2058754"/>
            <a:ext cx="1563127" cy="3404509"/>
          </a:xfrm>
          <a:prstGeom prst="rect">
            <a:avLst/>
          </a:prstGeom>
        </p:spPr>
      </p:pic>
    </p:spTree>
    <p:extLst>
      <p:ext uri="{BB962C8B-B14F-4D97-AF65-F5344CB8AC3E}">
        <p14:creationId xmlns:p14="http://schemas.microsoft.com/office/powerpoint/2010/main" val="2886620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F4FF-9BC4-9A69-B101-DA7A3014F25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20B8C0-8835-8B61-7E16-A90A993F0A91}"/>
              </a:ext>
            </a:extLst>
          </p:cNvPr>
          <p:cNvSpPr txBox="1"/>
          <p:nvPr/>
        </p:nvSpPr>
        <p:spPr>
          <a:xfrm>
            <a:off x="731520" y="365760"/>
            <a:ext cx="10515600" cy="640080"/>
          </a:xfrm>
          <a:prstGeom prst="rect">
            <a:avLst/>
          </a:prstGeom>
          <a:noFill/>
        </p:spPr>
        <p:txBody>
          <a:bodyPr wrap="square">
            <a:spAutoFit/>
          </a:bodyPr>
          <a:lstStyle/>
          <a:p>
            <a:pPr>
              <a:lnSpc>
                <a:spcPct val="115000"/>
              </a:lnSpc>
              <a:defRPr sz="3200" b="1" i="0">
                <a:solidFill>
                  <a:srgbClr val="002060"/>
                </a:solidFill>
                <a:latin typeface="Calibri"/>
              </a:defRPr>
            </a:pPr>
            <a:r>
              <a:rPr lang="en-US" dirty="0"/>
              <a:t>The LEARN Task: A Virtual School</a:t>
            </a:r>
          </a:p>
        </p:txBody>
      </p:sp>
      <p:sp>
        <p:nvSpPr>
          <p:cNvPr id="3" name="Rectangle 2">
            <a:extLst>
              <a:ext uri="{FF2B5EF4-FFF2-40B4-BE49-F238E27FC236}">
                <a16:creationId xmlns:a16="http://schemas.microsoft.com/office/drawing/2014/main" id="{D3DE173D-F01F-943F-E73B-729671810FAA}"/>
              </a:ext>
            </a:extLst>
          </p:cNvPr>
          <p:cNvSpPr/>
          <p:nvPr/>
        </p:nvSpPr>
        <p:spPr>
          <a:xfrm>
            <a:off x="731520" y="1005839"/>
            <a:ext cx="1078992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Content Placeholder 9">
            <a:extLst>
              <a:ext uri="{FF2B5EF4-FFF2-40B4-BE49-F238E27FC236}">
                <a16:creationId xmlns:a16="http://schemas.microsoft.com/office/drawing/2014/main" id="{BC4DD0C0-D5C5-ACAD-DEB3-0207587EBF6B}"/>
              </a:ext>
            </a:extLst>
          </p:cNvPr>
          <p:cNvPicPr>
            <a:picLocks noChangeAspect="1"/>
          </p:cNvPicPr>
          <p:nvPr/>
        </p:nvPicPr>
        <p:blipFill>
          <a:blip r:embed="rId3"/>
          <a:srcRect l="4972" t="9781" r="73938" b="9649"/>
          <a:stretch>
            <a:fillRect/>
          </a:stretch>
        </p:blipFill>
        <p:spPr>
          <a:xfrm>
            <a:off x="1173480" y="2075696"/>
            <a:ext cx="1786742" cy="3884062"/>
          </a:xfrm>
          <a:prstGeom prst="rect">
            <a:avLst/>
          </a:prstGeom>
        </p:spPr>
      </p:pic>
      <p:sp>
        <p:nvSpPr>
          <p:cNvPr id="6" name="TextBox 5">
            <a:extLst>
              <a:ext uri="{FF2B5EF4-FFF2-40B4-BE49-F238E27FC236}">
                <a16:creationId xmlns:a16="http://schemas.microsoft.com/office/drawing/2014/main" id="{E9D55350-F022-6264-61A0-C5B748893D6D}"/>
              </a:ext>
            </a:extLst>
          </p:cNvPr>
          <p:cNvSpPr txBox="1"/>
          <p:nvPr/>
        </p:nvSpPr>
        <p:spPr>
          <a:xfrm>
            <a:off x="936642" y="1394737"/>
            <a:ext cx="9510378" cy="523220"/>
          </a:xfrm>
          <a:prstGeom prst="rect">
            <a:avLst/>
          </a:prstGeom>
          <a:noFill/>
        </p:spPr>
        <p:txBody>
          <a:bodyPr wrap="square">
            <a:spAutoFit/>
          </a:bodyPr>
          <a:lstStyle/>
          <a:p>
            <a:r>
              <a:rPr lang="en-US" sz="2800" b="1" dirty="0">
                <a:cs typeface="Times New Roman" panose="02020603050405020304" pitchFamily="18" charset="0"/>
              </a:rPr>
              <a:t>The peers</a:t>
            </a:r>
            <a:r>
              <a:rPr lang="en-US" sz="2800" dirty="0">
                <a:cs typeface="Times New Roman" panose="02020603050405020304" pitchFamily="18" charset="0"/>
              </a:rPr>
              <a:t>:</a:t>
            </a:r>
          </a:p>
        </p:txBody>
      </p:sp>
      <p:pic>
        <p:nvPicPr>
          <p:cNvPr id="4" name="Content Placeholder 9">
            <a:extLst>
              <a:ext uri="{FF2B5EF4-FFF2-40B4-BE49-F238E27FC236}">
                <a16:creationId xmlns:a16="http://schemas.microsoft.com/office/drawing/2014/main" id="{B27E7314-C396-7A05-ABB2-6FF2EE868ED3}"/>
              </a:ext>
            </a:extLst>
          </p:cNvPr>
          <p:cNvPicPr>
            <a:picLocks noChangeAspect="1"/>
          </p:cNvPicPr>
          <p:nvPr/>
        </p:nvPicPr>
        <p:blipFill>
          <a:blip r:embed="rId3"/>
          <a:srcRect l="73081" t="12308" r="5135" b="7361"/>
          <a:stretch>
            <a:fillRect/>
          </a:stretch>
        </p:blipFill>
        <p:spPr>
          <a:xfrm>
            <a:off x="7942052" y="2058754"/>
            <a:ext cx="1902098" cy="3991365"/>
          </a:xfrm>
          <a:prstGeom prst="rect">
            <a:avLst/>
          </a:prstGeom>
        </p:spPr>
      </p:pic>
      <p:pic>
        <p:nvPicPr>
          <p:cNvPr id="7" name="Content Placeholder 9">
            <a:extLst>
              <a:ext uri="{FF2B5EF4-FFF2-40B4-BE49-F238E27FC236}">
                <a16:creationId xmlns:a16="http://schemas.microsoft.com/office/drawing/2014/main" id="{F167F3AF-FC7B-0947-16F4-E6420F4EABC9}"/>
              </a:ext>
            </a:extLst>
          </p:cNvPr>
          <p:cNvPicPr>
            <a:picLocks noChangeAspect="1"/>
          </p:cNvPicPr>
          <p:nvPr/>
        </p:nvPicPr>
        <p:blipFill>
          <a:blip r:embed="rId4"/>
          <a:srcRect l="52038" t="8515" r="30590" b="9781"/>
          <a:stretch>
            <a:fillRect/>
          </a:stretch>
        </p:blipFill>
        <p:spPr>
          <a:xfrm>
            <a:off x="5654860" y="1866804"/>
            <a:ext cx="1563126" cy="4183315"/>
          </a:xfrm>
          <a:prstGeom prst="rect">
            <a:avLst/>
          </a:prstGeom>
        </p:spPr>
      </p:pic>
      <p:pic>
        <p:nvPicPr>
          <p:cNvPr id="8" name="Content Placeholder 9">
            <a:extLst>
              <a:ext uri="{FF2B5EF4-FFF2-40B4-BE49-F238E27FC236}">
                <a16:creationId xmlns:a16="http://schemas.microsoft.com/office/drawing/2014/main" id="{572A6C49-8B37-DA2B-77C9-70A101461C93}"/>
              </a:ext>
            </a:extLst>
          </p:cNvPr>
          <p:cNvPicPr>
            <a:picLocks noChangeAspect="1"/>
          </p:cNvPicPr>
          <p:nvPr/>
        </p:nvPicPr>
        <p:blipFill>
          <a:blip r:embed="rId3"/>
          <a:srcRect l="29745" t="8481" r="51804" b="9817"/>
          <a:stretch>
            <a:fillRect/>
          </a:stretch>
        </p:blipFill>
        <p:spPr>
          <a:xfrm>
            <a:off x="3525977" y="2058754"/>
            <a:ext cx="1563127" cy="3938697"/>
          </a:xfrm>
          <a:prstGeom prst="rect">
            <a:avLst/>
          </a:prstGeom>
        </p:spPr>
      </p:pic>
    </p:spTree>
    <p:extLst>
      <p:ext uri="{BB962C8B-B14F-4D97-AF65-F5344CB8AC3E}">
        <p14:creationId xmlns:p14="http://schemas.microsoft.com/office/powerpoint/2010/main" val="2636312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54F77-3771-0B9F-6C5A-39EF81CA78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D8F835-7905-7D15-310E-29C0298990AD}"/>
              </a:ext>
            </a:extLst>
          </p:cNvPr>
          <p:cNvSpPr txBox="1"/>
          <p:nvPr/>
        </p:nvSpPr>
        <p:spPr>
          <a:xfrm>
            <a:off x="731520" y="365760"/>
            <a:ext cx="10515600" cy="640080"/>
          </a:xfrm>
          <a:prstGeom prst="rect">
            <a:avLst/>
          </a:prstGeom>
          <a:noFill/>
        </p:spPr>
        <p:txBody>
          <a:bodyPr wrap="square">
            <a:spAutoFit/>
          </a:bodyPr>
          <a:lstStyle/>
          <a:p>
            <a:pPr>
              <a:lnSpc>
                <a:spcPct val="115000"/>
              </a:lnSpc>
              <a:defRPr sz="3200" b="1" i="0">
                <a:solidFill>
                  <a:srgbClr val="002060"/>
                </a:solidFill>
                <a:latin typeface="Calibri"/>
              </a:defRPr>
            </a:pPr>
            <a:r>
              <a:rPr lang="en-US" dirty="0"/>
              <a:t>The LEARN Task: A Virtual School</a:t>
            </a:r>
          </a:p>
        </p:txBody>
      </p:sp>
      <p:sp>
        <p:nvSpPr>
          <p:cNvPr id="3" name="Rectangle 2">
            <a:extLst>
              <a:ext uri="{FF2B5EF4-FFF2-40B4-BE49-F238E27FC236}">
                <a16:creationId xmlns:a16="http://schemas.microsoft.com/office/drawing/2014/main" id="{5E339B69-CD52-F12A-DEA0-BBB2FAB8C6C8}"/>
              </a:ext>
            </a:extLst>
          </p:cNvPr>
          <p:cNvSpPr/>
          <p:nvPr/>
        </p:nvSpPr>
        <p:spPr>
          <a:xfrm>
            <a:off x="731520" y="1005839"/>
            <a:ext cx="1078992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Content Placeholder 4">
            <a:extLst>
              <a:ext uri="{FF2B5EF4-FFF2-40B4-BE49-F238E27FC236}">
                <a16:creationId xmlns:a16="http://schemas.microsoft.com/office/drawing/2014/main" id="{B92D01D7-8B4F-FF46-C010-401F20EBA2BE}"/>
              </a:ext>
            </a:extLst>
          </p:cNvPr>
          <p:cNvPicPr>
            <a:picLocks noChangeAspect="1"/>
          </p:cNvPicPr>
          <p:nvPr/>
        </p:nvPicPr>
        <p:blipFill>
          <a:blip r:embed="rId3"/>
          <a:stretch>
            <a:fillRect/>
          </a:stretch>
        </p:blipFill>
        <p:spPr>
          <a:xfrm>
            <a:off x="1517368" y="1499520"/>
            <a:ext cx="9218224" cy="5185253"/>
          </a:xfrm>
          <a:prstGeom prst="rect">
            <a:avLst/>
          </a:prstGeom>
        </p:spPr>
      </p:pic>
      <p:sp>
        <p:nvSpPr>
          <p:cNvPr id="6" name="TextBox 5">
            <a:extLst>
              <a:ext uri="{FF2B5EF4-FFF2-40B4-BE49-F238E27FC236}">
                <a16:creationId xmlns:a16="http://schemas.microsoft.com/office/drawing/2014/main" id="{7BC859A4-1FD3-FC3F-1846-CFCF5B40E2C0}"/>
              </a:ext>
            </a:extLst>
          </p:cNvPr>
          <p:cNvSpPr txBox="1"/>
          <p:nvPr/>
        </p:nvSpPr>
        <p:spPr>
          <a:xfrm>
            <a:off x="701664" y="2066944"/>
            <a:ext cx="112268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ITI (0.5)</a:t>
            </a:r>
          </a:p>
        </p:txBody>
      </p:sp>
      <p:sp>
        <p:nvSpPr>
          <p:cNvPr id="7" name="TextBox 6">
            <a:extLst>
              <a:ext uri="{FF2B5EF4-FFF2-40B4-BE49-F238E27FC236}">
                <a16:creationId xmlns:a16="http://schemas.microsoft.com/office/drawing/2014/main" id="{18F350C1-6F66-A8D1-CA60-B9734CC2B30B}"/>
              </a:ext>
            </a:extLst>
          </p:cNvPr>
          <p:cNvSpPr txBox="1"/>
          <p:nvPr/>
        </p:nvSpPr>
        <p:spPr>
          <a:xfrm>
            <a:off x="10736780" y="4867540"/>
            <a:ext cx="112268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ITI (0.5)</a:t>
            </a:r>
          </a:p>
        </p:txBody>
      </p:sp>
    </p:spTree>
    <p:extLst>
      <p:ext uri="{BB962C8B-B14F-4D97-AF65-F5344CB8AC3E}">
        <p14:creationId xmlns:p14="http://schemas.microsoft.com/office/powerpoint/2010/main" val="2783756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9357E-2939-4532-52DB-8874133EAE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49C9F5-4BC1-749F-5991-B67E5E5E5DFB}"/>
              </a:ext>
            </a:extLst>
          </p:cNvPr>
          <p:cNvSpPr txBox="1"/>
          <p:nvPr/>
        </p:nvSpPr>
        <p:spPr>
          <a:xfrm>
            <a:off x="731520" y="365760"/>
            <a:ext cx="10515600" cy="640080"/>
          </a:xfrm>
          <a:prstGeom prst="rect">
            <a:avLst/>
          </a:prstGeom>
          <a:noFill/>
        </p:spPr>
        <p:txBody>
          <a:bodyPr wrap="square">
            <a:spAutoFit/>
          </a:bodyPr>
          <a:lstStyle/>
          <a:p>
            <a:pPr>
              <a:lnSpc>
                <a:spcPct val="115000"/>
              </a:lnSpc>
              <a:defRPr sz="3200" b="1" i="0">
                <a:solidFill>
                  <a:srgbClr val="002060"/>
                </a:solidFill>
                <a:latin typeface="Calibri"/>
              </a:defRPr>
            </a:pPr>
            <a:r>
              <a:rPr lang="en-US" dirty="0"/>
              <a:t>The LEARN Task: A Virtual School</a:t>
            </a:r>
          </a:p>
        </p:txBody>
      </p:sp>
      <p:sp>
        <p:nvSpPr>
          <p:cNvPr id="3" name="Rectangle 2">
            <a:extLst>
              <a:ext uri="{FF2B5EF4-FFF2-40B4-BE49-F238E27FC236}">
                <a16:creationId xmlns:a16="http://schemas.microsoft.com/office/drawing/2014/main" id="{75C356D6-A569-93D5-2512-9C609638627D}"/>
              </a:ext>
            </a:extLst>
          </p:cNvPr>
          <p:cNvSpPr/>
          <p:nvPr/>
        </p:nvSpPr>
        <p:spPr>
          <a:xfrm>
            <a:off x="731520" y="1005839"/>
            <a:ext cx="1078992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31D85F6-F373-CC87-671D-BE53A7E67E14}"/>
              </a:ext>
            </a:extLst>
          </p:cNvPr>
          <p:cNvSpPr txBox="1"/>
          <p:nvPr/>
        </p:nvSpPr>
        <p:spPr>
          <a:xfrm>
            <a:off x="593709" y="1209526"/>
            <a:ext cx="9450960" cy="3539430"/>
          </a:xfrm>
          <a:prstGeom prst="rect">
            <a:avLst/>
          </a:prstGeom>
          <a:noFill/>
        </p:spPr>
        <p:txBody>
          <a:bodyPr wrap="square">
            <a:spAutoFit/>
          </a:bodyPr>
          <a:lstStyle/>
          <a:p>
            <a:pPr marL="0" indent="0">
              <a:lnSpc>
                <a:spcPct val="100000"/>
              </a:lnSpc>
              <a:buNone/>
            </a:pPr>
            <a:endParaRPr lang="en-US" sz="2800" b="1" dirty="0">
              <a:solidFill>
                <a:srgbClr val="0070C0"/>
              </a:solidFill>
              <a:latin typeface="Calibri" panose="020F0502020204030204" pitchFamily="34" charset="0"/>
              <a:cs typeface="Calibri" panose="020F0502020204030204" pitchFamily="34" charset="0"/>
            </a:endParaRPr>
          </a:p>
          <a:p>
            <a:pPr marL="0" indent="0">
              <a:lnSpc>
                <a:spcPct val="100000"/>
              </a:lnSpc>
              <a:buNone/>
            </a:pPr>
            <a:r>
              <a:rPr lang="en-US" sz="2800" dirty="0">
                <a:latin typeface="Calibri" panose="020F0502020204030204" pitchFamily="34" charset="0"/>
                <a:cs typeface="Calibri" panose="020F0502020204030204" pitchFamily="34" charset="0"/>
              </a:rPr>
              <a:t>- Participants completed </a:t>
            </a:r>
            <a:r>
              <a:rPr lang="en-US" sz="2800" b="1" dirty="0">
                <a:latin typeface="Calibri" panose="020F0502020204030204" pitchFamily="34" charset="0"/>
                <a:cs typeface="Calibri" panose="020F0502020204030204" pitchFamily="34" charset="0"/>
              </a:rPr>
              <a:t>4 classrooms (runs)</a:t>
            </a:r>
          </a:p>
          <a:p>
            <a:pPr marL="0" indent="0">
              <a:lnSpc>
                <a:spcPct val="100000"/>
              </a:lnSpc>
              <a:buNone/>
            </a:pPr>
            <a:endParaRPr lang="en-US" sz="2800" dirty="0">
              <a:latin typeface="Calibri" panose="020F0502020204030204" pitchFamily="34" charset="0"/>
              <a:cs typeface="Calibri" panose="020F0502020204030204" pitchFamily="34" charset="0"/>
            </a:endParaRPr>
          </a:p>
          <a:p>
            <a:pPr marL="0" indent="0">
              <a:lnSpc>
                <a:spcPct val="100000"/>
              </a:lnSpc>
              <a:buNone/>
            </a:pPr>
            <a:r>
              <a:rPr lang="en-US" sz="2800" dirty="0">
                <a:latin typeface="Calibri" panose="020F0502020204030204" pitchFamily="34" charset="0"/>
                <a:cs typeface="Calibri" panose="020F0502020204030204" pitchFamily="34" charset="0"/>
              </a:rPr>
              <a:t>- Each run lasted about </a:t>
            </a:r>
            <a:r>
              <a:rPr lang="en-US" sz="2800" b="1" dirty="0">
                <a:latin typeface="Calibri" panose="020F0502020204030204" pitchFamily="34" charset="0"/>
                <a:cs typeface="Calibri" panose="020F0502020204030204" pitchFamily="34" charset="0"/>
              </a:rPr>
              <a:t>6:30 minutes</a:t>
            </a:r>
          </a:p>
          <a:p>
            <a:pPr marL="0" indent="0">
              <a:lnSpc>
                <a:spcPct val="100000"/>
              </a:lnSpc>
              <a:buNone/>
            </a:pPr>
            <a:endParaRPr lang="en-US" sz="2800" dirty="0">
              <a:latin typeface="Calibri" panose="020F0502020204030204" pitchFamily="34" charset="0"/>
              <a:cs typeface="Calibri" panose="020F0502020204030204" pitchFamily="34" charset="0"/>
            </a:endParaRPr>
          </a:p>
          <a:p>
            <a:pPr marL="0" indent="0">
              <a:lnSpc>
                <a:spcPct val="100000"/>
              </a:lnSpc>
              <a:buNone/>
            </a:pPr>
            <a:r>
              <a:rPr lang="en-US" sz="2800" dirty="0">
                <a:latin typeface="Calibri" panose="020F0502020204030204" pitchFamily="34" charset="0"/>
                <a:cs typeface="Calibri" panose="020F0502020204030204" pitchFamily="34" charset="0"/>
              </a:rPr>
              <a:t>- In each classroom, they interacted with the </a:t>
            </a:r>
            <a:r>
              <a:rPr lang="en-US" sz="2800" b="1" dirty="0">
                <a:latin typeface="Calibri" panose="020F0502020204030204" pitchFamily="34" charset="0"/>
                <a:cs typeface="Calibri" panose="020F0502020204030204" pitchFamily="34" charset="0"/>
              </a:rPr>
              <a:t>same 4 peers</a:t>
            </a:r>
            <a:r>
              <a:rPr lang="en-US" sz="2800" dirty="0">
                <a:latin typeface="Calibri" panose="020F0502020204030204" pitchFamily="34" charset="0"/>
                <a:cs typeface="Calibri" panose="020F0502020204030204" pitchFamily="34" charset="0"/>
              </a:rPr>
              <a:t>, 8 times each. (128 trials across 4 runs). Controlled random order across participants. </a:t>
            </a:r>
          </a:p>
        </p:txBody>
      </p:sp>
    </p:spTree>
    <p:extLst>
      <p:ext uri="{BB962C8B-B14F-4D97-AF65-F5344CB8AC3E}">
        <p14:creationId xmlns:p14="http://schemas.microsoft.com/office/powerpoint/2010/main" val="260325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CDDA2-AB80-F0DB-44BA-24B08FA31D24}"/>
            </a:ext>
          </a:extLst>
        </p:cNvPr>
        <p:cNvGrpSpPr/>
        <p:nvPr/>
      </p:nvGrpSpPr>
      <p:grpSpPr>
        <a:xfrm>
          <a:off x="0" y="0"/>
          <a:ext cx="0" cy="0"/>
          <a:chOff x="0" y="0"/>
          <a:chExt cx="0" cy="0"/>
        </a:xfrm>
      </p:grpSpPr>
      <p:sp>
        <p:nvSpPr>
          <p:cNvPr id="10" name="Title"/>
          <p:cNvSpPr/>
          <p:nvPr/>
        </p:nvSpPr>
        <p:spPr>
          <a:xfrm>
            <a:off x="609600" y="152400"/>
            <a:ext cx="10972800" cy="482600"/>
          </a:xfrm>
          <a:prstGeom prst="rect">
            <a:avLst/>
          </a:prstGeom>
          <a:noFill/>
          <a:ln>
            <a:noFill/>
          </a:ln>
        </p:spPr>
        <p:txBody>
          <a:bodyPr wrap="square" lIns="72000" tIns="36000" rIns="72000" bIns="36000" anchor="t"/>
          <a:lstStyle/>
          <a:p>
            <a:pPr algn="l">
              <a:lnSpc>
                <a:spcPct val="100000"/>
              </a:lnSpc>
            </a:pPr>
            <a:r>
              <a:rPr lang="en-US" sz="2800" b="1" dirty="0">
                <a:solidFill>
                  <a:srgbClr val="002060"/>
                </a:solidFill>
                <a:latin typeface="Calibri"/>
              </a:rPr>
              <a:t>35 A Priori Social Brain ROIs</a:t>
            </a:r>
          </a:p>
        </p:txBody>
      </p:sp>
      <p:sp>
        <p:nvSpPr>
          <p:cNvPr id="11" name="Subtitle"/>
          <p:cNvSpPr/>
          <p:nvPr/>
        </p:nvSpPr>
        <p:spPr>
          <a:xfrm>
            <a:off x="609600" y="635000"/>
            <a:ext cx="10972800" cy="355600"/>
          </a:xfrm>
          <a:prstGeom prst="rect">
            <a:avLst/>
          </a:prstGeom>
          <a:noFill/>
          <a:ln>
            <a:noFill/>
          </a:ln>
        </p:spPr>
        <p:txBody>
          <a:bodyPr wrap="square" lIns="72000" tIns="36000" rIns="72000" bIns="36000" anchor="t"/>
          <a:lstStyle/>
          <a:p>
            <a:pPr algn="l">
              <a:lnSpc>
                <a:spcPct val="100000"/>
              </a:lnSpc>
            </a:pPr>
            <a:r>
              <a:rPr lang="en-US" sz="2000" i="1" dirty="0">
                <a:solidFill>
                  <a:srgbClr val="555555"/>
                </a:solidFill>
                <a:latin typeface="Calibri"/>
              </a:rPr>
              <a:t>Alcalá-López et al., 2018, </a:t>
            </a:r>
          </a:p>
        </p:txBody>
      </p:sp>
      <p:sp>
        <p:nvSpPr>
          <p:cNvPr id="3" name="AccentBar"/>
          <p:cNvSpPr/>
          <p:nvPr/>
        </p:nvSpPr>
        <p:spPr>
          <a:xfrm>
            <a:off x="609600" y="1085850"/>
            <a:ext cx="10972800" cy="63500"/>
          </a:xfrm>
          <a:prstGeom prst="rect">
            <a:avLst/>
          </a:prstGeom>
          <a:solidFill>
            <a:srgbClr val="002060"/>
          </a:solidFill>
          <a:ln>
            <a:noFill/>
          </a:ln>
        </p:spPr>
        <p:txBody>
          <a:bodyPr wrap="square" lIns="72000" tIns="36000" rIns="72000" bIns="36000" anchor="t"/>
          <a:lstStyle/>
          <a:p>
            <a:endParaRPr lang="en-US"/>
          </a:p>
        </p:txBody>
      </p:sp>
      <p:sp>
        <p:nvSpPr>
          <p:cNvPr id="12" name="Blurb"/>
          <p:cNvSpPr/>
          <p:nvPr/>
        </p:nvSpPr>
        <p:spPr>
          <a:xfrm>
            <a:off x="584039" y="1349375"/>
            <a:ext cx="10972800" cy="762000"/>
          </a:xfrm>
          <a:prstGeom prst="rect">
            <a:avLst/>
          </a:prstGeom>
          <a:noFill/>
          <a:ln>
            <a:noFill/>
          </a:ln>
        </p:spPr>
        <p:txBody>
          <a:bodyPr wrap="square" lIns="72000" tIns="36000" rIns="72000" bIns="36000" anchor="t"/>
          <a:lstStyle/>
          <a:p>
            <a:pPr algn="l">
              <a:lnSpc>
                <a:spcPct val="110000"/>
              </a:lnSpc>
            </a:pPr>
            <a:r>
              <a:rPr lang="en-US" sz="2000" dirty="0">
                <a:solidFill>
                  <a:srgbClr val="333333"/>
                </a:solidFill>
                <a:latin typeface="Calibri"/>
              </a:rPr>
              <a:t>A coordinate-based meta-analysis of 3,972 neuroimaging experiments identified 35 regions in four functional subsystems (Alcalá-López et al., 2018). </a:t>
            </a:r>
          </a:p>
        </p:txBody>
      </p:sp>
      <p:sp>
        <p:nvSpPr>
          <p:cNvPr id="40" name="Hdr0"/>
          <p:cNvSpPr/>
          <p:nvPr/>
        </p:nvSpPr>
        <p:spPr>
          <a:xfrm>
            <a:off x="609600" y="3073400"/>
            <a:ext cx="2628900" cy="457200"/>
          </a:xfrm>
          <a:prstGeom prst="roundRect">
            <a:avLst>
              <a:gd name="adj" fmla="val 8000"/>
            </a:avLst>
          </a:prstGeom>
          <a:solidFill>
            <a:srgbClr val="4472C4"/>
          </a:solidFill>
          <a:ln>
            <a:noFill/>
          </a:ln>
        </p:spPr>
        <p:txBody>
          <a:bodyPr wrap="square" lIns="72000" tIns="36000" rIns="72000" bIns="36000" anchor="ctr"/>
          <a:lstStyle/>
          <a:p>
            <a:pPr algn="ctr">
              <a:lnSpc>
                <a:spcPct val="100000"/>
              </a:lnSpc>
            </a:pPr>
            <a:r>
              <a:rPr lang="en-US" sz="2000" b="1" dirty="0">
                <a:solidFill>
                  <a:srgbClr val="FFFFFF"/>
                </a:solidFill>
                <a:latin typeface="Calibri"/>
              </a:rPr>
              <a:t>Visual-Sensory</a:t>
            </a:r>
          </a:p>
        </p:txBody>
      </p:sp>
      <p:sp>
        <p:nvSpPr>
          <p:cNvPr id="41" name="Card0"/>
          <p:cNvSpPr/>
          <p:nvPr/>
        </p:nvSpPr>
        <p:spPr>
          <a:xfrm>
            <a:off x="609600" y="3581400"/>
            <a:ext cx="2628900" cy="2336800"/>
          </a:xfrm>
          <a:prstGeom prst="roundRect">
            <a:avLst>
              <a:gd name="adj" fmla="val 8000"/>
            </a:avLst>
          </a:prstGeom>
          <a:solidFill>
            <a:srgbClr val="D6E4F0"/>
          </a:solidFill>
          <a:ln w="9525">
            <a:solidFill>
              <a:srgbClr val="4472C4"/>
            </a:solidFill>
          </a:ln>
        </p:spPr>
        <p:txBody>
          <a:bodyPr wrap="square" lIns="72000" tIns="36000" rIns="72000" bIns="36000" anchor="t"/>
          <a:lstStyle/>
          <a:p>
            <a:endParaRPr lang="en-US"/>
          </a:p>
        </p:txBody>
      </p:sp>
      <p:sp>
        <p:nvSpPr>
          <p:cNvPr id="42" name="Rgn0"/>
          <p:cNvSpPr/>
          <p:nvPr/>
        </p:nvSpPr>
        <p:spPr>
          <a:xfrm>
            <a:off x="685800" y="3683000"/>
            <a:ext cx="2476500" cy="2133600"/>
          </a:xfrm>
          <a:prstGeom prst="rect">
            <a:avLst/>
          </a:prstGeom>
          <a:noFill/>
          <a:ln>
            <a:noFill/>
          </a:ln>
        </p:spPr>
        <p:txBody>
          <a:bodyPr wrap="square" lIns="72000" tIns="36000" rIns="72000" bIns="36000" anchor="t"/>
          <a:lstStyle/>
          <a:p>
            <a:pPr marL="228600" indent="-228600" algn="l">
              <a:lnSpc>
                <a:spcPts val="2600"/>
              </a:lnSpc>
              <a:spcBef>
                <a:spcPts val="0"/>
              </a:spcBef>
              <a:buFont typeface="Arial"/>
              <a:buChar char="•"/>
            </a:pPr>
            <a:r>
              <a:rPr lang="en-US" sz="2000" dirty="0">
                <a:solidFill>
                  <a:srgbClr val="222222"/>
                </a:solidFill>
                <a:latin typeface="Calibri"/>
              </a:rPr>
              <a:t>Fusiform gyrus</a:t>
            </a:r>
          </a:p>
          <a:p>
            <a:pPr marL="228600" indent="-228600" algn="l">
              <a:lnSpc>
                <a:spcPts val="2600"/>
              </a:lnSpc>
              <a:spcBef>
                <a:spcPts val="0"/>
              </a:spcBef>
              <a:buFont typeface="Arial"/>
              <a:buChar char="•"/>
            </a:pPr>
            <a:r>
              <a:rPr lang="en-US" sz="2000" dirty="0">
                <a:solidFill>
                  <a:srgbClr val="222222"/>
                </a:solidFill>
                <a:latin typeface="Calibri"/>
              </a:rPr>
              <a:t>Posterior STS</a:t>
            </a:r>
          </a:p>
          <a:p>
            <a:pPr marL="228600" indent="-228600" algn="l">
              <a:lnSpc>
                <a:spcPts val="2600"/>
              </a:lnSpc>
              <a:spcBef>
                <a:spcPts val="0"/>
              </a:spcBef>
              <a:buFont typeface="Arial"/>
              <a:buChar char="•"/>
            </a:pPr>
            <a:r>
              <a:rPr lang="en-US" sz="2000" dirty="0">
                <a:solidFill>
                  <a:srgbClr val="222222"/>
                </a:solidFill>
                <a:latin typeface="Calibri"/>
              </a:rPr>
              <a:t>MT/V5</a:t>
            </a:r>
          </a:p>
        </p:txBody>
      </p:sp>
      <p:sp>
        <p:nvSpPr>
          <p:cNvPr id="43" name="Hdr1"/>
          <p:cNvSpPr/>
          <p:nvPr/>
        </p:nvSpPr>
        <p:spPr>
          <a:xfrm>
            <a:off x="3390900" y="3073400"/>
            <a:ext cx="2628900" cy="457200"/>
          </a:xfrm>
          <a:prstGeom prst="roundRect">
            <a:avLst>
              <a:gd name="adj" fmla="val 8000"/>
            </a:avLst>
          </a:prstGeom>
          <a:solidFill>
            <a:srgbClr val="C0504D"/>
          </a:solidFill>
          <a:ln>
            <a:noFill/>
          </a:ln>
        </p:spPr>
        <p:txBody>
          <a:bodyPr wrap="square" lIns="72000" tIns="36000" rIns="72000" bIns="36000" anchor="ctr"/>
          <a:lstStyle/>
          <a:p>
            <a:pPr algn="ctr">
              <a:lnSpc>
                <a:spcPct val="100000"/>
              </a:lnSpc>
            </a:pPr>
            <a:r>
              <a:rPr lang="en-US" sz="2000" b="1" dirty="0">
                <a:solidFill>
                  <a:srgbClr val="FFFFFF"/>
                </a:solidFill>
                <a:latin typeface="Calibri"/>
              </a:rPr>
              <a:t>Limbic / Affective</a:t>
            </a:r>
          </a:p>
        </p:txBody>
      </p:sp>
      <p:sp>
        <p:nvSpPr>
          <p:cNvPr id="44" name="Card1"/>
          <p:cNvSpPr/>
          <p:nvPr/>
        </p:nvSpPr>
        <p:spPr>
          <a:xfrm>
            <a:off x="3390900" y="3581400"/>
            <a:ext cx="2628900" cy="2336800"/>
          </a:xfrm>
          <a:prstGeom prst="roundRect">
            <a:avLst>
              <a:gd name="adj" fmla="val 8000"/>
            </a:avLst>
          </a:prstGeom>
          <a:solidFill>
            <a:srgbClr val="F2DCDB"/>
          </a:solidFill>
          <a:ln w="9525">
            <a:solidFill>
              <a:srgbClr val="C0504D"/>
            </a:solidFill>
          </a:ln>
        </p:spPr>
        <p:txBody>
          <a:bodyPr wrap="square" lIns="72000" tIns="36000" rIns="72000" bIns="36000" anchor="t"/>
          <a:lstStyle/>
          <a:p>
            <a:endParaRPr lang="en-US"/>
          </a:p>
        </p:txBody>
      </p:sp>
      <p:sp>
        <p:nvSpPr>
          <p:cNvPr id="45" name="Rgn1"/>
          <p:cNvSpPr/>
          <p:nvPr/>
        </p:nvSpPr>
        <p:spPr>
          <a:xfrm>
            <a:off x="3467100" y="3683000"/>
            <a:ext cx="2476500" cy="2133600"/>
          </a:xfrm>
          <a:prstGeom prst="rect">
            <a:avLst/>
          </a:prstGeom>
          <a:noFill/>
          <a:ln>
            <a:noFill/>
          </a:ln>
        </p:spPr>
        <p:txBody>
          <a:bodyPr wrap="square" lIns="72000" tIns="36000" rIns="72000" bIns="36000" anchor="t"/>
          <a:lstStyle/>
          <a:p>
            <a:pPr marL="228600" indent="-228600" algn="l">
              <a:lnSpc>
                <a:spcPts val="2600"/>
              </a:lnSpc>
              <a:spcBef>
                <a:spcPts val="0"/>
              </a:spcBef>
              <a:buFont typeface="Arial"/>
              <a:buChar char="•"/>
            </a:pPr>
            <a:r>
              <a:rPr lang="en-US" sz="2000" dirty="0">
                <a:solidFill>
                  <a:srgbClr val="222222"/>
                </a:solidFill>
                <a:latin typeface="Calibri"/>
              </a:rPr>
              <a:t>Amygdala</a:t>
            </a:r>
          </a:p>
          <a:p>
            <a:pPr marL="228600" indent="-228600" algn="l">
              <a:lnSpc>
                <a:spcPts val="2600"/>
              </a:lnSpc>
              <a:spcBef>
                <a:spcPts val="0"/>
              </a:spcBef>
              <a:buFont typeface="Arial"/>
              <a:buChar char="•"/>
            </a:pPr>
            <a:r>
              <a:rPr lang="en-US" sz="2000" dirty="0">
                <a:solidFill>
                  <a:srgbClr val="222222"/>
                </a:solidFill>
                <a:latin typeface="Calibri"/>
              </a:rPr>
              <a:t>Nuc. accumbens</a:t>
            </a:r>
          </a:p>
          <a:p>
            <a:pPr marL="228600" indent="-228600" algn="l">
              <a:lnSpc>
                <a:spcPts val="2600"/>
              </a:lnSpc>
              <a:spcBef>
                <a:spcPts val="0"/>
              </a:spcBef>
              <a:buFont typeface="Arial"/>
              <a:buChar char="•"/>
            </a:pPr>
            <a:r>
              <a:rPr lang="en-US" sz="2000" dirty="0">
                <a:solidFill>
                  <a:srgbClr val="222222"/>
                </a:solidFill>
                <a:latin typeface="Calibri"/>
              </a:rPr>
              <a:t>vmPFC</a:t>
            </a:r>
          </a:p>
          <a:p>
            <a:pPr marL="228600" indent="-228600" algn="l">
              <a:lnSpc>
                <a:spcPts val="2600"/>
              </a:lnSpc>
              <a:spcBef>
                <a:spcPts val="0"/>
              </a:spcBef>
              <a:buFont typeface="Arial"/>
              <a:buChar char="•"/>
            </a:pPr>
            <a:r>
              <a:rPr lang="en-US" sz="2000" dirty="0">
                <a:solidFill>
                  <a:srgbClr val="222222"/>
                </a:solidFill>
                <a:latin typeface="Calibri"/>
              </a:rPr>
              <a:t>Rostral ACC</a:t>
            </a:r>
          </a:p>
          <a:p>
            <a:pPr marL="228600" indent="-228600" algn="l">
              <a:lnSpc>
                <a:spcPts val="2600"/>
              </a:lnSpc>
              <a:spcBef>
                <a:spcPts val="0"/>
              </a:spcBef>
              <a:buFont typeface="Arial"/>
              <a:buChar char="•"/>
            </a:pPr>
            <a:r>
              <a:rPr lang="en-US" sz="2000" dirty="0">
                <a:solidFill>
                  <a:srgbClr val="222222"/>
                </a:solidFill>
                <a:latin typeface="Calibri"/>
              </a:rPr>
              <a:t>Hippocampus</a:t>
            </a:r>
          </a:p>
        </p:txBody>
      </p:sp>
      <p:sp>
        <p:nvSpPr>
          <p:cNvPr id="46" name="Hdr2"/>
          <p:cNvSpPr/>
          <p:nvPr/>
        </p:nvSpPr>
        <p:spPr>
          <a:xfrm>
            <a:off x="6172200" y="3073400"/>
            <a:ext cx="2628900" cy="457200"/>
          </a:xfrm>
          <a:prstGeom prst="roundRect">
            <a:avLst>
              <a:gd name="adj" fmla="val 8000"/>
            </a:avLst>
          </a:prstGeom>
          <a:solidFill>
            <a:srgbClr val="B85A22"/>
          </a:solidFill>
          <a:ln>
            <a:noFill/>
          </a:ln>
        </p:spPr>
        <p:txBody>
          <a:bodyPr wrap="square" lIns="72000" tIns="36000" rIns="72000" bIns="36000" anchor="ctr"/>
          <a:lstStyle/>
          <a:p>
            <a:pPr algn="ctr">
              <a:lnSpc>
                <a:spcPct val="100000"/>
              </a:lnSpc>
            </a:pPr>
            <a:r>
              <a:rPr lang="en-US" sz="2000" b="1" dirty="0">
                <a:solidFill>
                  <a:srgbClr val="FFFFFF"/>
                </a:solidFill>
                <a:latin typeface="Calibri"/>
              </a:rPr>
              <a:t>Embodied Simulation</a:t>
            </a:r>
          </a:p>
        </p:txBody>
      </p:sp>
      <p:sp>
        <p:nvSpPr>
          <p:cNvPr id="47" name="Card2"/>
          <p:cNvSpPr/>
          <p:nvPr/>
        </p:nvSpPr>
        <p:spPr>
          <a:xfrm>
            <a:off x="6172200" y="3581400"/>
            <a:ext cx="2628900" cy="2336800"/>
          </a:xfrm>
          <a:prstGeom prst="roundRect">
            <a:avLst>
              <a:gd name="adj" fmla="val 8000"/>
            </a:avLst>
          </a:prstGeom>
          <a:solidFill>
            <a:srgbClr val="FBE5D6"/>
          </a:solidFill>
          <a:ln w="9525">
            <a:solidFill>
              <a:srgbClr val="B85A22"/>
            </a:solidFill>
          </a:ln>
        </p:spPr>
        <p:txBody>
          <a:bodyPr wrap="square" lIns="72000" tIns="36000" rIns="72000" bIns="36000" anchor="t"/>
          <a:lstStyle/>
          <a:p>
            <a:endParaRPr lang="en-US"/>
          </a:p>
        </p:txBody>
      </p:sp>
      <p:sp>
        <p:nvSpPr>
          <p:cNvPr id="48" name="Rgn2"/>
          <p:cNvSpPr/>
          <p:nvPr/>
        </p:nvSpPr>
        <p:spPr>
          <a:xfrm>
            <a:off x="6248400" y="3683000"/>
            <a:ext cx="2476500" cy="2133600"/>
          </a:xfrm>
          <a:prstGeom prst="rect">
            <a:avLst/>
          </a:prstGeom>
          <a:noFill/>
          <a:ln>
            <a:noFill/>
          </a:ln>
        </p:spPr>
        <p:txBody>
          <a:bodyPr wrap="square" lIns="72000" tIns="36000" rIns="72000" bIns="36000" anchor="t"/>
          <a:lstStyle/>
          <a:p>
            <a:pPr marL="228600" indent="-228600" algn="l">
              <a:lnSpc>
                <a:spcPts val="2600"/>
              </a:lnSpc>
              <a:spcBef>
                <a:spcPts val="0"/>
              </a:spcBef>
              <a:buFont typeface="Arial"/>
              <a:buChar char="•"/>
            </a:pPr>
            <a:r>
              <a:rPr lang="en-US" sz="2000" dirty="0">
                <a:solidFill>
                  <a:srgbClr val="222222"/>
                </a:solidFill>
                <a:latin typeface="Calibri"/>
              </a:rPr>
              <a:t>Anterior insula</a:t>
            </a:r>
          </a:p>
          <a:p>
            <a:pPr marL="228600" indent="-228600" algn="l">
              <a:lnSpc>
                <a:spcPts val="2600"/>
              </a:lnSpc>
              <a:spcBef>
                <a:spcPts val="0"/>
              </a:spcBef>
              <a:buFont typeface="Arial"/>
              <a:buChar char="•"/>
            </a:pPr>
            <a:r>
              <a:rPr lang="en-US" sz="2000" dirty="0">
                <a:solidFill>
                  <a:srgbClr val="222222"/>
                </a:solidFill>
                <a:latin typeface="Calibri"/>
              </a:rPr>
              <a:t>IFG</a:t>
            </a:r>
          </a:p>
          <a:p>
            <a:pPr marL="228600" indent="-228600" algn="l">
              <a:lnSpc>
                <a:spcPts val="2600"/>
              </a:lnSpc>
              <a:spcBef>
                <a:spcPts val="0"/>
              </a:spcBef>
              <a:buFont typeface="Arial"/>
              <a:buChar char="•"/>
            </a:pPr>
            <a:r>
              <a:rPr lang="en-US" sz="2000" dirty="0">
                <a:solidFill>
                  <a:srgbClr val="222222"/>
                </a:solidFill>
                <a:latin typeface="Calibri"/>
              </a:rPr>
              <a:t>SMG</a:t>
            </a:r>
          </a:p>
          <a:p>
            <a:pPr marL="228600" indent="-228600" algn="l">
              <a:lnSpc>
                <a:spcPts val="2600"/>
              </a:lnSpc>
              <a:spcBef>
                <a:spcPts val="0"/>
              </a:spcBef>
              <a:buFont typeface="Arial"/>
              <a:buChar char="•"/>
            </a:pPr>
            <a:r>
              <a:rPr lang="en-US" sz="2000" dirty="0">
                <a:solidFill>
                  <a:srgbClr val="222222"/>
                </a:solidFill>
                <a:latin typeface="Calibri"/>
              </a:rPr>
              <a:t>SMA</a:t>
            </a:r>
          </a:p>
          <a:p>
            <a:pPr marL="228600" indent="-228600" algn="l">
              <a:lnSpc>
                <a:spcPts val="2600"/>
              </a:lnSpc>
              <a:spcBef>
                <a:spcPts val="0"/>
              </a:spcBef>
              <a:buFont typeface="Arial"/>
              <a:buChar char="•"/>
            </a:pPr>
            <a:r>
              <a:rPr lang="en-US" sz="2000" dirty="0">
                <a:solidFill>
                  <a:srgbClr val="222222"/>
                </a:solidFill>
                <a:latin typeface="Calibri"/>
              </a:rPr>
              <a:t>Anterior MCC</a:t>
            </a:r>
          </a:p>
        </p:txBody>
      </p:sp>
      <p:sp>
        <p:nvSpPr>
          <p:cNvPr id="49" name="Hdr3"/>
          <p:cNvSpPr/>
          <p:nvPr/>
        </p:nvSpPr>
        <p:spPr>
          <a:xfrm>
            <a:off x="8953500" y="3073400"/>
            <a:ext cx="2628900" cy="457200"/>
          </a:xfrm>
          <a:prstGeom prst="roundRect">
            <a:avLst>
              <a:gd name="adj" fmla="val 8000"/>
            </a:avLst>
          </a:prstGeom>
          <a:solidFill>
            <a:srgbClr val="548235"/>
          </a:solidFill>
          <a:ln>
            <a:noFill/>
          </a:ln>
        </p:spPr>
        <p:txBody>
          <a:bodyPr wrap="square" lIns="72000" tIns="36000" rIns="72000" bIns="36000" anchor="ctr"/>
          <a:lstStyle/>
          <a:p>
            <a:pPr algn="ctr">
              <a:lnSpc>
                <a:spcPct val="100000"/>
              </a:lnSpc>
            </a:pPr>
            <a:r>
              <a:rPr lang="en-US" sz="2000" b="1" dirty="0">
                <a:solidFill>
                  <a:srgbClr val="FFFFFF"/>
                </a:solidFill>
                <a:latin typeface="Calibri"/>
              </a:rPr>
              <a:t>Mentalizing</a:t>
            </a:r>
          </a:p>
        </p:txBody>
      </p:sp>
      <p:sp>
        <p:nvSpPr>
          <p:cNvPr id="50" name="Card3"/>
          <p:cNvSpPr/>
          <p:nvPr/>
        </p:nvSpPr>
        <p:spPr>
          <a:xfrm>
            <a:off x="8953500" y="3581400"/>
            <a:ext cx="2628900" cy="2336800"/>
          </a:xfrm>
          <a:prstGeom prst="roundRect">
            <a:avLst>
              <a:gd name="adj" fmla="val 8000"/>
            </a:avLst>
          </a:prstGeom>
          <a:solidFill>
            <a:srgbClr val="E2EFDA"/>
          </a:solidFill>
          <a:ln w="9525">
            <a:solidFill>
              <a:srgbClr val="548235"/>
            </a:solidFill>
          </a:ln>
        </p:spPr>
        <p:txBody>
          <a:bodyPr wrap="square" lIns="72000" tIns="36000" rIns="72000" bIns="36000" anchor="t"/>
          <a:lstStyle/>
          <a:p>
            <a:endParaRPr lang="en-US"/>
          </a:p>
        </p:txBody>
      </p:sp>
      <p:sp>
        <p:nvSpPr>
          <p:cNvPr id="51" name="Rgn3"/>
          <p:cNvSpPr/>
          <p:nvPr/>
        </p:nvSpPr>
        <p:spPr>
          <a:xfrm>
            <a:off x="9029700" y="3683000"/>
            <a:ext cx="2476500" cy="2133600"/>
          </a:xfrm>
          <a:prstGeom prst="rect">
            <a:avLst/>
          </a:prstGeom>
          <a:noFill/>
          <a:ln>
            <a:noFill/>
          </a:ln>
        </p:spPr>
        <p:txBody>
          <a:bodyPr wrap="square" lIns="72000" tIns="36000" rIns="72000" bIns="36000" anchor="t"/>
          <a:lstStyle/>
          <a:p>
            <a:pPr marL="228600" indent="-228600" algn="l">
              <a:lnSpc>
                <a:spcPts val="2600"/>
              </a:lnSpc>
              <a:spcBef>
                <a:spcPts val="0"/>
              </a:spcBef>
              <a:buFont typeface="Arial"/>
              <a:buChar char="•"/>
            </a:pPr>
            <a:r>
              <a:rPr lang="en-US" sz="2000" dirty="0">
                <a:solidFill>
                  <a:srgbClr val="222222"/>
                </a:solidFill>
                <a:latin typeface="Calibri"/>
              </a:rPr>
              <a:t>dmPFC</a:t>
            </a:r>
          </a:p>
          <a:p>
            <a:pPr marL="228600" indent="-228600" algn="l">
              <a:lnSpc>
                <a:spcPts val="2600"/>
              </a:lnSpc>
              <a:spcBef>
                <a:spcPts val="0"/>
              </a:spcBef>
              <a:buFont typeface="Arial"/>
              <a:buChar char="•"/>
            </a:pPr>
            <a:r>
              <a:rPr lang="en-US" sz="2000" dirty="0">
                <a:solidFill>
                  <a:srgbClr val="222222"/>
                </a:solidFill>
                <a:latin typeface="Calibri"/>
              </a:rPr>
              <a:t>Med. frontal pole</a:t>
            </a:r>
          </a:p>
          <a:p>
            <a:pPr marL="228600" indent="-228600" algn="l">
              <a:lnSpc>
                <a:spcPts val="2600"/>
              </a:lnSpc>
              <a:spcBef>
                <a:spcPts val="0"/>
              </a:spcBef>
              <a:buFont typeface="Arial"/>
              <a:buChar char="•"/>
            </a:pPr>
            <a:r>
              <a:rPr lang="en-US" sz="2000" dirty="0">
                <a:solidFill>
                  <a:srgbClr val="222222"/>
                </a:solidFill>
                <a:latin typeface="Calibri"/>
              </a:rPr>
              <a:t>TPJ</a:t>
            </a:r>
          </a:p>
          <a:p>
            <a:pPr marL="228600" indent="-228600" algn="l">
              <a:lnSpc>
                <a:spcPts val="2600"/>
              </a:lnSpc>
              <a:spcBef>
                <a:spcPts val="0"/>
              </a:spcBef>
              <a:buFont typeface="Arial"/>
              <a:buChar char="•"/>
            </a:pPr>
            <a:r>
              <a:rPr lang="en-US" sz="2000" dirty="0">
                <a:solidFill>
                  <a:srgbClr val="222222"/>
                </a:solidFill>
                <a:latin typeface="Calibri"/>
              </a:rPr>
              <a:t>Precuneus / PCC</a:t>
            </a:r>
          </a:p>
          <a:p>
            <a:pPr marL="228600" indent="-228600" algn="l">
              <a:lnSpc>
                <a:spcPts val="2600"/>
              </a:lnSpc>
              <a:spcBef>
                <a:spcPts val="0"/>
              </a:spcBef>
              <a:buFont typeface="Arial"/>
              <a:buChar char="•"/>
            </a:pPr>
            <a:r>
              <a:rPr lang="en-US" sz="2000" dirty="0">
                <a:solidFill>
                  <a:srgbClr val="222222"/>
                </a:solidFill>
                <a:latin typeface="Calibri"/>
              </a:rPr>
              <a:t>Temporal pole</a:t>
            </a:r>
          </a:p>
          <a:p>
            <a:pPr marL="228600" indent="-228600" algn="l">
              <a:lnSpc>
                <a:spcPts val="2600"/>
              </a:lnSpc>
              <a:spcBef>
                <a:spcPts val="0"/>
              </a:spcBef>
              <a:buFont typeface="Arial"/>
              <a:buChar char="•"/>
            </a:pPr>
            <a:r>
              <a:rPr lang="en-US" sz="2000" dirty="0">
                <a:solidFill>
                  <a:srgbClr val="222222"/>
                </a:solidFill>
                <a:latin typeface="Calibri"/>
              </a:rPr>
              <a:t>Lateral MTG</a:t>
            </a:r>
          </a:p>
        </p:txBody>
      </p:sp>
    </p:spTree>
    <p:extLst>
      <p:ext uri="{BB962C8B-B14F-4D97-AF65-F5344CB8AC3E}">
        <p14:creationId xmlns:p14="http://schemas.microsoft.com/office/powerpoint/2010/main" val="77215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52472-A0AE-24C3-4E17-998479454A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4C4C7F4-73B3-7A89-D563-A8E4F929E168}"/>
              </a:ext>
            </a:extLst>
          </p:cNvPr>
          <p:cNvSpPr txBox="1"/>
          <p:nvPr/>
        </p:nvSpPr>
        <p:spPr>
          <a:xfrm>
            <a:off x="571500" y="211728"/>
            <a:ext cx="10949940" cy="4066540"/>
          </a:xfrm>
          <a:prstGeom prst="rect">
            <a:avLst/>
          </a:prstGeom>
        </p:spPr>
        <p:txBody>
          <a:bodyPr vert="horz" lIns="91440" tIns="45720" rIns="91440" bIns="45720" rtlCol="0" anchor="b">
            <a:normAutofit/>
          </a:bodyPr>
          <a:lstStyle/>
          <a:p>
            <a:r>
              <a:rPr lang="en-US" sz="5400" b="1" dirty="0">
                <a:latin typeface="Calibri" panose="020F0502020204030204" pitchFamily="34" charset="0"/>
                <a:cs typeface="Calibri" panose="020F0502020204030204" pitchFamily="34" charset="0"/>
              </a:rPr>
              <a:t>Neural Representations of Social Learning rates in SAD</a:t>
            </a:r>
            <a:r>
              <a:rPr lang="en-US" sz="6000" b="1" dirty="0">
                <a:latin typeface="Calibri" panose="020F0502020204030204" pitchFamily="34" charset="0"/>
                <a:cs typeface="Calibri" panose="020F0502020204030204" pitchFamily="34" charset="0"/>
              </a:rPr>
              <a:t>.</a:t>
            </a:r>
            <a:endParaRPr lang="en-US" sz="6000" b="1" dirty="0"/>
          </a:p>
        </p:txBody>
      </p:sp>
    </p:spTree>
    <p:extLst>
      <p:ext uri="{BB962C8B-B14F-4D97-AF65-F5344CB8AC3E}">
        <p14:creationId xmlns:p14="http://schemas.microsoft.com/office/powerpoint/2010/main" val="2532690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877CC-35BE-7F71-B4F9-7D48766E0F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29C566-F180-0C66-D2AD-BA4F85D163A7}"/>
              </a:ext>
            </a:extLst>
          </p:cNvPr>
          <p:cNvSpPr txBox="1"/>
          <p:nvPr/>
        </p:nvSpPr>
        <p:spPr>
          <a:xfrm>
            <a:off x="710685" y="313880"/>
            <a:ext cx="10515600" cy="640080"/>
          </a:xfrm>
          <a:prstGeom prst="rect">
            <a:avLst/>
          </a:prstGeom>
          <a:noFill/>
        </p:spPr>
        <p:txBody>
          <a:bodyPr wrap="square">
            <a:spAutoFit/>
          </a:bodyPr>
          <a:lstStyle/>
          <a:p>
            <a:pPr>
              <a:lnSpc>
                <a:spcPct val="115000"/>
              </a:lnSpc>
              <a:defRPr sz="3200" b="1" i="0">
                <a:solidFill>
                  <a:srgbClr val="002060"/>
                </a:solidFill>
                <a:latin typeface="Calibri"/>
              </a:defRPr>
            </a:pPr>
            <a:r>
              <a:rPr lang="en-US" dirty="0"/>
              <a:t>Neural RSA: Social Learning in SAD</a:t>
            </a:r>
            <a:endParaRPr dirty="0"/>
          </a:p>
        </p:txBody>
      </p:sp>
      <p:sp>
        <p:nvSpPr>
          <p:cNvPr id="3" name="Rectangle 2">
            <a:extLst>
              <a:ext uri="{FF2B5EF4-FFF2-40B4-BE49-F238E27FC236}">
                <a16:creationId xmlns:a16="http://schemas.microsoft.com/office/drawing/2014/main" id="{99D48FBB-6CBF-F82B-64E5-EDE7C3E0482A}"/>
              </a:ext>
            </a:extLst>
          </p:cNvPr>
          <p:cNvSpPr/>
          <p:nvPr/>
        </p:nvSpPr>
        <p:spPr>
          <a:xfrm>
            <a:off x="731520" y="1005840"/>
            <a:ext cx="10145746"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A2CD0EFD-A6CE-2BAB-B67A-2F18C5C04D33}"/>
              </a:ext>
            </a:extLst>
          </p:cNvPr>
          <p:cNvSpPr txBox="1"/>
          <p:nvPr/>
        </p:nvSpPr>
        <p:spPr>
          <a:xfrm>
            <a:off x="546593" y="1446237"/>
            <a:ext cx="10515600" cy="2246769"/>
          </a:xfrm>
          <a:prstGeom prst="rect">
            <a:avLst/>
          </a:prstGeom>
          <a:noFill/>
        </p:spPr>
        <p:txBody>
          <a:bodyPr wrap="square">
            <a:spAutoFit/>
          </a:bodyPr>
          <a:lstStyle/>
          <a:p>
            <a:pPr algn="l">
              <a:buNone/>
            </a:pPr>
            <a:r>
              <a:rPr lang="en-US" sz="2800" i="0" dirty="0">
                <a:effectLst/>
                <a:latin typeface="Calibri" panose="020F0502020204030204" pitchFamily="34" charset="0"/>
                <a:cs typeface="Calibri" panose="020F0502020204030204" pitchFamily="34" charset="0"/>
              </a:rPr>
              <a:t>Does social anxiety predict to what degree and at what rate, neural representation of the four peers comes to match the true peer-identity structure across the four runs of the task?</a:t>
            </a:r>
          </a:p>
          <a:p>
            <a:pPr algn="l">
              <a:buNone/>
            </a:pPr>
            <a:endParaRPr lang="en-US" sz="2800" dirty="0">
              <a:latin typeface="Calibri" panose="020F0502020204030204" pitchFamily="34" charset="0"/>
              <a:cs typeface="Calibri" panose="020F0502020204030204" pitchFamily="34" charset="0"/>
            </a:endParaRPr>
          </a:p>
          <a:p>
            <a:pPr algn="l">
              <a:buNone/>
            </a:pPr>
            <a:r>
              <a:rPr lang="en-US" sz="2800" i="0" dirty="0">
                <a:effectLst/>
                <a:latin typeface="Calibri" panose="020F0502020204030204" pitchFamily="34" charset="0"/>
                <a:cs typeface="Calibri" panose="020F0502020204030204" pitchFamily="34" charset="0"/>
              </a:rPr>
              <a:t>But how can we use RSA to ask this question?</a:t>
            </a:r>
          </a:p>
        </p:txBody>
      </p:sp>
    </p:spTree>
    <p:extLst>
      <p:ext uri="{BB962C8B-B14F-4D97-AF65-F5344CB8AC3E}">
        <p14:creationId xmlns:p14="http://schemas.microsoft.com/office/powerpoint/2010/main" val="145605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10904-4092-B050-DF5C-F2755A2091A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C581A1E-34A1-D8F5-9517-05AD4C569AC2}"/>
              </a:ext>
            </a:extLst>
          </p:cNvPr>
          <p:cNvPicPr>
            <a:picLocks noChangeAspect="1"/>
          </p:cNvPicPr>
          <p:nvPr/>
        </p:nvPicPr>
        <p:blipFill>
          <a:blip r:embed="rId3"/>
          <a:stretch>
            <a:fillRect/>
          </a:stretch>
        </p:blipFill>
        <p:spPr>
          <a:xfrm>
            <a:off x="2666789" y="3312042"/>
            <a:ext cx="673406" cy="1358422"/>
          </a:xfrm>
          <a:prstGeom prst="rect">
            <a:avLst/>
          </a:prstGeom>
        </p:spPr>
      </p:pic>
      <p:sp>
        <p:nvSpPr>
          <p:cNvPr id="2" name="TextBox 1">
            <a:extLst>
              <a:ext uri="{FF2B5EF4-FFF2-40B4-BE49-F238E27FC236}">
                <a16:creationId xmlns:a16="http://schemas.microsoft.com/office/drawing/2014/main" id="{4120F53A-E83C-2E0A-0C29-C3E8EA5D4489}"/>
              </a:ext>
            </a:extLst>
          </p:cNvPr>
          <p:cNvSpPr txBox="1"/>
          <p:nvPr/>
        </p:nvSpPr>
        <p:spPr>
          <a:xfrm>
            <a:off x="710685" y="313880"/>
            <a:ext cx="10515600" cy="625364"/>
          </a:xfrm>
          <a:prstGeom prst="rect">
            <a:avLst/>
          </a:prstGeom>
          <a:noFill/>
        </p:spPr>
        <p:txBody>
          <a:bodyPr wrap="square">
            <a:spAutoFit/>
          </a:bodyPr>
          <a:lstStyle/>
          <a:p>
            <a:pPr>
              <a:lnSpc>
                <a:spcPct val="115000"/>
              </a:lnSpc>
              <a:defRPr sz="3200" b="1" i="0">
                <a:solidFill>
                  <a:srgbClr val="002060"/>
                </a:solidFill>
                <a:latin typeface="Calibri"/>
              </a:defRPr>
            </a:pPr>
            <a:r>
              <a:rPr lang="en-US" dirty="0"/>
              <a:t>Per Subject, between condition</a:t>
            </a:r>
            <a:endParaRPr dirty="0"/>
          </a:p>
        </p:txBody>
      </p:sp>
      <p:sp>
        <p:nvSpPr>
          <p:cNvPr id="3" name="Rectangle 2">
            <a:extLst>
              <a:ext uri="{FF2B5EF4-FFF2-40B4-BE49-F238E27FC236}">
                <a16:creationId xmlns:a16="http://schemas.microsoft.com/office/drawing/2014/main" id="{58083736-4C4C-11E2-5B4B-1CB676BC77E8}"/>
              </a:ext>
            </a:extLst>
          </p:cNvPr>
          <p:cNvSpPr/>
          <p:nvPr/>
        </p:nvSpPr>
        <p:spPr>
          <a:xfrm>
            <a:off x="731520" y="1005840"/>
            <a:ext cx="10145746"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a:extLst>
              <a:ext uri="{FF2B5EF4-FFF2-40B4-BE49-F238E27FC236}">
                <a16:creationId xmlns:a16="http://schemas.microsoft.com/office/drawing/2014/main" id="{002A1F77-8176-0722-7599-8B19C35FEDC8}"/>
              </a:ext>
            </a:extLst>
          </p:cNvPr>
          <p:cNvPicPr>
            <a:picLocks noChangeAspect="1"/>
          </p:cNvPicPr>
          <p:nvPr/>
        </p:nvPicPr>
        <p:blipFill>
          <a:blip r:embed="rId4"/>
          <a:srcRect l="29255" t="42947"/>
          <a:stretch>
            <a:fillRect/>
          </a:stretch>
        </p:blipFill>
        <p:spPr>
          <a:xfrm>
            <a:off x="2264745" y="1866000"/>
            <a:ext cx="1396580" cy="1431803"/>
          </a:xfrm>
          <a:prstGeom prst="rect">
            <a:avLst/>
          </a:prstGeom>
        </p:spPr>
      </p:pic>
      <p:pic>
        <p:nvPicPr>
          <p:cNvPr id="26" name="Picture 25">
            <a:extLst>
              <a:ext uri="{FF2B5EF4-FFF2-40B4-BE49-F238E27FC236}">
                <a16:creationId xmlns:a16="http://schemas.microsoft.com/office/drawing/2014/main" id="{9A44EBF7-65BB-7860-BD01-EBB83A1116B7}"/>
              </a:ext>
            </a:extLst>
          </p:cNvPr>
          <p:cNvPicPr>
            <a:picLocks noChangeAspect="1"/>
          </p:cNvPicPr>
          <p:nvPr/>
        </p:nvPicPr>
        <p:blipFill>
          <a:blip r:embed="rId4"/>
          <a:srcRect t="33332" r="29255"/>
          <a:stretch>
            <a:fillRect/>
          </a:stretch>
        </p:blipFill>
        <p:spPr>
          <a:xfrm>
            <a:off x="2264744" y="4670464"/>
            <a:ext cx="1477495" cy="1547599"/>
          </a:xfrm>
          <a:prstGeom prst="rect">
            <a:avLst/>
          </a:prstGeom>
        </p:spPr>
      </p:pic>
      <p:sp>
        <p:nvSpPr>
          <p:cNvPr id="9" name="TextBox 8">
            <a:extLst>
              <a:ext uri="{FF2B5EF4-FFF2-40B4-BE49-F238E27FC236}">
                <a16:creationId xmlns:a16="http://schemas.microsoft.com/office/drawing/2014/main" id="{F48B5CF6-8C14-7CD8-DAD2-E4B96FB7E9EF}"/>
              </a:ext>
            </a:extLst>
          </p:cNvPr>
          <p:cNvSpPr txBox="1"/>
          <p:nvPr/>
        </p:nvSpPr>
        <p:spPr>
          <a:xfrm>
            <a:off x="3112287" y="3621921"/>
            <a:ext cx="455815" cy="461665"/>
          </a:xfrm>
          <a:prstGeom prst="rect">
            <a:avLst/>
          </a:prstGeom>
          <a:noFill/>
        </p:spPr>
        <p:txBody>
          <a:bodyPr wrap="square">
            <a:spAutoFit/>
          </a:bodyPr>
          <a:lstStyle/>
          <a:p>
            <a:r>
              <a:rPr lang="en-US" sz="2400" dirty="0"/>
              <a:t>r</a:t>
            </a:r>
          </a:p>
        </p:txBody>
      </p:sp>
      <p:pic>
        <p:nvPicPr>
          <p:cNvPr id="10" name="Picture 9">
            <a:extLst>
              <a:ext uri="{FF2B5EF4-FFF2-40B4-BE49-F238E27FC236}">
                <a16:creationId xmlns:a16="http://schemas.microsoft.com/office/drawing/2014/main" id="{D133D927-A68D-0E38-0637-595D3E6B5F16}"/>
              </a:ext>
            </a:extLst>
          </p:cNvPr>
          <p:cNvPicPr>
            <a:picLocks noChangeAspect="1"/>
          </p:cNvPicPr>
          <p:nvPr/>
        </p:nvPicPr>
        <p:blipFill>
          <a:blip r:embed="rId5"/>
          <a:stretch>
            <a:fillRect/>
          </a:stretch>
        </p:blipFill>
        <p:spPr>
          <a:xfrm>
            <a:off x="3661325" y="3772654"/>
            <a:ext cx="1232212" cy="310932"/>
          </a:xfrm>
          <a:prstGeom prst="rect">
            <a:avLst/>
          </a:prstGeom>
        </p:spPr>
      </p:pic>
      <p:sp>
        <p:nvSpPr>
          <p:cNvPr id="11" name="TextBox 10">
            <a:extLst>
              <a:ext uri="{FF2B5EF4-FFF2-40B4-BE49-F238E27FC236}">
                <a16:creationId xmlns:a16="http://schemas.microsoft.com/office/drawing/2014/main" id="{707C2147-4C55-CD8D-4A40-E25888624333}"/>
              </a:ext>
            </a:extLst>
          </p:cNvPr>
          <p:cNvSpPr txBox="1"/>
          <p:nvPr/>
        </p:nvSpPr>
        <p:spPr>
          <a:xfrm>
            <a:off x="4986760" y="3568992"/>
            <a:ext cx="987916" cy="461665"/>
          </a:xfrm>
          <a:prstGeom prst="rect">
            <a:avLst/>
          </a:prstGeom>
          <a:noFill/>
        </p:spPr>
        <p:txBody>
          <a:bodyPr wrap="square">
            <a:spAutoFit/>
          </a:bodyPr>
          <a:lstStyle/>
          <a:p>
            <a:r>
              <a:rPr lang="en-US" sz="2400" dirty="0"/>
              <a:t>1-r</a:t>
            </a:r>
          </a:p>
        </p:txBody>
      </p:sp>
      <p:pic>
        <p:nvPicPr>
          <p:cNvPr id="17" name="Picture 16">
            <a:extLst>
              <a:ext uri="{FF2B5EF4-FFF2-40B4-BE49-F238E27FC236}">
                <a16:creationId xmlns:a16="http://schemas.microsoft.com/office/drawing/2014/main" id="{343B08D3-423A-47E2-0B38-988FDAB94CAE}"/>
              </a:ext>
            </a:extLst>
          </p:cNvPr>
          <p:cNvPicPr>
            <a:picLocks noChangeAspect="1"/>
          </p:cNvPicPr>
          <p:nvPr/>
        </p:nvPicPr>
        <p:blipFill>
          <a:blip r:embed="rId5"/>
          <a:stretch>
            <a:fillRect/>
          </a:stretch>
        </p:blipFill>
        <p:spPr>
          <a:xfrm>
            <a:off x="5480718" y="3727232"/>
            <a:ext cx="1232212" cy="310932"/>
          </a:xfrm>
          <a:prstGeom prst="rect">
            <a:avLst/>
          </a:prstGeom>
        </p:spPr>
      </p:pic>
      <p:sp>
        <p:nvSpPr>
          <p:cNvPr id="20" name="TextBox 19">
            <a:extLst>
              <a:ext uri="{FF2B5EF4-FFF2-40B4-BE49-F238E27FC236}">
                <a16:creationId xmlns:a16="http://schemas.microsoft.com/office/drawing/2014/main" id="{CCD1E23C-1EC4-98D0-1A22-A952C4B4E864}"/>
              </a:ext>
            </a:extLst>
          </p:cNvPr>
          <p:cNvSpPr txBox="1"/>
          <p:nvPr/>
        </p:nvSpPr>
        <p:spPr>
          <a:xfrm>
            <a:off x="731520" y="2525014"/>
            <a:ext cx="1820294" cy="425501"/>
          </a:xfrm>
          <a:prstGeom prst="rect">
            <a:avLst/>
          </a:prstGeom>
          <a:noFill/>
        </p:spPr>
        <p:txBody>
          <a:bodyPr wrap="square">
            <a:spAutoFit/>
          </a:bodyPr>
          <a:lstStyle/>
          <a:p>
            <a:pPr>
              <a:lnSpc>
                <a:spcPct val="115000"/>
              </a:lnSpc>
              <a:defRPr sz="1800" b="1" i="0">
                <a:solidFill>
                  <a:srgbClr val="002060"/>
                </a:solidFill>
                <a:latin typeface="Calibri"/>
              </a:defRPr>
            </a:pPr>
            <a:r>
              <a:rPr lang="en-US" sz="2000" dirty="0">
                <a:solidFill>
                  <a:schemeClr val="tx1">
                    <a:lumMod val="95000"/>
                    <a:lumOff val="5000"/>
                  </a:schemeClr>
                </a:solidFill>
              </a:rPr>
              <a:t>Condition 1: </a:t>
            </a:r>
            <a:endParaRPr sz="2000" dirty="0"/>
          </a:p>
        </p:txBody>
      </p:sp>
      <p:sp>
        <p:nvSpPr>
          <p:cNvPr id="21" name="TextBox 20">
            <a:extLst>
              <a:ext uri="{FF2B5EF4-FFF2-40B4-BE49-F238E27FC236}">
                <a16:creationId xmlns:a16="http://schemas.microsoft.com/office/drawing/2014/main" id="{7A55FFE6-F56B-F0F9-0E99-69AC612825D6}"/>
              </a:ext>
            </a:extLst>
          </p:cNvPr>
          <p:cNvSpPr txBox="1"/>
          <p:nvPr/>
        </p:nvSpPr>
        <p:spPr>
          <a:xfrm>
            <a:off x="731520" y="4931494"/>
            <a:ext cx="1820294" cy="425501"/>
          </a:xfrm>
          <a:prstGeom prst="rect">
            <a:avLst/>
          </a:prstGeom>
          <a:noFill/>
        </p:spPr>
        <p:txBody>
          <a:bodyPr wrap="square">
            <a:spAutoFit/>
          </a:bodyPr>
          <a:lstStyle/>
          <a:p>
            <a:pPr>
              <a:lnSpc>
                <a:spcPct val="115000"/>
              </a:lnSpc>
              <a:defRPr sz="1800" b="1" i="0">
                <a:solidFill>
                  <a:srgbClr val="002060"/>
                </a:solidFill>
                <a:latin typeface="Calibri"/>
              </a:defRPr>
            </a:pPr>
            <a:r>
              <a:rPr lang="en-US" sz="2000" dirty="0">
                <a:solidFill>
                  <a:schemeClr val="tx1">
                    <a:lumMod val="95000"/>
                    <a:lumOff val="5000"/>
                  </a:schemeClr>
                </a:solidFill>
              </a:rPr>
              <a:t>Condition 2: </a:t>
            </a:r>
            <a:endParaRPr sz="2000" dirty="0"/>
          </a:p>
        </p:txBody>
      </p:sp>
      <p:pic>
        <p:nvPicPr>
          <p:cNvPr id="29" name="Picture 28">
            <a:extLst>
              <a:ext uri="{FF2B5EF4-FFF2-40B4-BE49-F238E27FC236}">
                <a16:creationId xmlns:a16="http://schemas.microsoft.com/office/drawing/2014/main" id="{7143970A-EFC4-0C41-39DC-641FAAE58904}"/>
              </a:ext>
            </a:extLst>
          </p:cNvPr>
          <p:cNvPicPr>
            <a:picLocks noChangeAspect="1"/>
          </p:cNvPicPr>
          <p:nvPr/>
        </p:nvPicPr>
        <p:blipFill>
          <a:blip r:embed="rId6"/>
          <a:stretch>
            <a:fillRect/>
          </a:stretch>
        </p:blipFill>
        <p:spPr>
          <a:xfrm>
            <a:off x="1795001" y="1251060"/>
            <a:ext cx="2470497" cy="337816"/>
          </a:xfrm>
          <a:prstGeom prst="rect">
            <a:avLst/>
          </a:prstGeom>
        </p:spPr>
      </p:pic>
      <p:pic>
        <p:nvPicPr>
          <p:cNvPr id="31" name="Picture 30">
            <a:extLst>
              <a:ext uri="{FF2B5EF4-FFF2-40B4-BE49-F238E27FC236}">
                <a16:creationId xmlns:a16="http://schemas.microsoft.com/office/drawing/2014/main" id="{23DE4DA5-D7A8-EF77-DC02-855EE6A2A1B1}"/>
              </a:ext>
            </a:extLst>
          </p:cNvPr>
          <p:cNvPicPr>
            <a:picLocks noChangeAspect="1"/>
          </p:cNvPicPr>
          <p:nvPr/>
        </p:nvPicPr>
        <p:blipFill>
          <a:blip r:embed="rId7"/>
          <a:stretch>
            <a:fillRect/>
          </a:stretch>
        </p:blipFill>
        <p:spPr>
          <a:xfrm>
            <a:off x="1830979" y="6412557"/>
            <a:ext cx="2562616" cy="346110"/>
          </a:xfrm>
          <a:prstGeom prst="rect">
            <a:avLst/>
          </a:prstGeom>
        </p:spPr>
      </p:pic>
      <p:pic>
        <p:nvPicPr>
          <p:cNvPr id="12" name="Content Placeholder 9">
            <a:extLst>
              <a:ext uri="{FF2B5EF4-FFF2-40B4-BE49-F238E27FC236}">
                <a16:creationId xmlns:a16="http://schemas.microsoft.com/office/drawing/2014/main" id="{E8022FEB-5C60-9816-DD2B-E6CC9D488BE0}"/>
              </a:ext>
            </a:extLst>
          </p:cNvPr>
          <p:cNvPicPr>
            <a:picLocks noChangeAspect="1"/>
          </p:cNvPicPr>
          <p:nvPr/>
        </p:nvPicPr>
        <p:blipFill>
          <a:blip r:embed="rId8"/>
          <a:srcRect l="4972" t="9781" r="73938" b="19742"/>
          <a:stretch>
            <a:fillRect/>
          </a:stretch>
        </p:blipFill>
        <p:spPr>
          <a:xfrm>
            <a:off x="4720036" y="1173495"/>
            <a:ext cx="1242043" cy="2361733"/>
          </a:xfrm>
          <a:prstGeom prst="rect">
            <a:avLst/>
          </a:prstGeom>
        </p:spPr>
      </p:pic>
      <p:pic>
        <p:nvPicPr>
          <p:cNvPr id="14" name="Content Placeholder 9">
            <a:extLst>
              <a:ext uri="{FF2B5EF4-FFF2-40B4-BE49-F238E27FC236}">
                <a16:creationId xmlns:a16="http://schemas.microsoft.com/office/drawing/2014/main" id="{F15AD361-1308-C484-B589-6E1912FF8401}"/>
              </a:ext>
            </a:extLst>
          </p:cNvPr>
          <p:cNvPicPr>
            <a:picLocks noChangeAspect="1"/>
          </p:cNvPicPr>
          <p:nvPr/>
        </p:nvPicPr>
        <p:blipFill>
          <a:blip r:embed="rId8"/>
          <a:srcRect l="29745" t="8481" r="51804" b="28337"/>
          <a:stretch>
            <a:fillRect/>
          </a:stretch>
        </p:blipFill>
        <p:spPr>
          <a:xfrm>
            <a:off x="4730094" y="4113465"/>
            <a:ext cx="1365906" cy="2661596"/>
          </a:xfrm>
          <a:prstGeom prst="rect">
            <a:avLst/>
          </a:prstGeom>
        </p:spPr>
      </p:pic>
    </p:spTree>
    <p:extLst>
      <p:ext uri="{BB962C8B-B14F-4D97-AF65-F5344CB8AC3E}">
        <p14:creationId xmlns:p14="http://schemas.microsoft.com/office/powerpoint/2010/main" val="97215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20"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DFE0E-12BB-CFED-6964-736CE16BFD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5FBF49-8EC3-1480-C2D4-334BF9540CAE}"/>
              </a:ext>
            </a:extLst>
          </p:cNvPr>
          <p:cNvSpPr txBox="1"/>
          <p:nvPr/>
        </p:nvSpPr>
        <p:spPr>
          <a:xfrm>
            <a:off x="731520" y="365760"/>
            <a:ext cx="10515600" cy="640080"/>
          </a:xfrm>
          <a:prstGeom prst="rect">
            <a:avLst/>
          </a:prstGeom>
          <a:noFill/>
        </p:spPr>
        <p:txBody>
          <a:bodyPr wrap="square">
            <a:spAutoFit/>
          </a:bodyPr>
          <a:lstStyle/>
          <a:p>
            <a:pPr>
              <a:lnSpc>
                <a:spcPct val="115000"/>
              </a:lnSpc>
              <a:defRPr sz="3200" b="1" i="0">
                <a:solidFill>
                  <a:srgbClr val="002060"/>
                </a:solidFill>
                <a:latin typeface="Calibri"/>
              </a:defRPr>
            </a:pPr>
            <a:r>
              <a:rPr lang="en-US" dirty="0"/>
              <a:t>Per subject, task alignment.</a:t>
            </a:r>
          </a:p>
        </p:txBody>
      </p:sp>
      <p:sp>
        <p:nvSpPr>
          <p:cNvPr id="3" name="Rectangle 2">
            <a:extLst>
              <a:ext uri="{FF2B5EF4-FFF2-40B4-BE49-F238E27FC236}">
                <a16:creationId xmlns:a16="http://schemas.microsoft.com/office/drawing/2014/main" id="{F8AA9157-387D-C0E3-593B-DA426619AB4A}"/>
              </a:ext>
            </a:extLst>
          </p:cNvPr>
          <p:cNvSpPr/>
          <p:nvPr/>
        </p:nvSpPr>
        <p:spPr>
          <a:xfrm>
            <a:off x="731520" y="1005839"/>
            <a:ext cx="1078992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Content Placeholder 9">
            <a:extLst>
              <a:ext uri="{FF2B5EF4-FFF2-40B4-BE49-F238E27FC236}">
                <a16:creationId xmlns:a16="http://schemas.microsoft.com/office/drawing/2014/main" id="{60F69CAD-07ED-2C2C-5614-008CFFBD7772}"/>
              </a:ext>
            </a:extLst>
          </p:cNvPr>
          <p:cNvPicPr>
            <a:picLocks noChangeAspect="1"/>
          </p:cNvPicPr>
          <p:nvPr/>
        </p:nvPicPr>
        <p:blipFill>
          <a:blip r:embed="rId3"/>
          <a:srcRect l="4972" t="9781" r="73938" b="9649"/>
          <a:stretch>
            <a:fillRect/>
          </a:stretch>
        </p:blipFill>
        <p:spPr>
          <a:xfrm>
            <a:off x="1331648" y="1408897"/>
            <a:ext cx="1472934" cy="3201899"/>
          </a:xfrm>
          <a:prstGeom prst="rect">
            <a:avLst/>
          </a:prstGeom>
        </p:spPr>
      </p:pic>
      <p:pic>
        <p:nvPicPr>
          <p:cNvPr id="4" name="Content Placeholder 9">
            <a:extLst>
              <a:ext uri="{FF2B5EF4-FFF2-40B4-BE49-F238E27FC236}">
                <a16:creationId xmlns:a16="http://schemas.microsoft.com/office/drawing/2014/main" id="{E3B35467-D14E-2D21-9AA1-EFD0574042D1}"/>
              </a:ext>
            </a:extLst>
          </p:cNvPr>
          <p:cNvPicPr>
            <a:picLocks noChangeAspect="1"/>
          </p:cNvPicPr>
          <p:nvPr/>
        </p:nvPicPr>
        <p:blipFill>
          <a:blip r:embed="rId3"/>
          <a:srcRect l="73081" t="12308" r="5135" b="7361"/>
          <a:stretch>
            <a:fillRect/>
          </a:stretch>
        </p:blipFill>
        <p:spPr>
          <a:xfrm>
            <a:off x="8089856" y="1522041"/>
            <a:ext cx="1507920" cy="3164221"/>
          </a:xfrm>
          <a:prstGeom prst="rect">
            <a:avLst/>
          </a:prstGeom>
        </p:spPr>
      </p:pic>
      <p:pic>
        <p:nvPicPr>
          <p:cNvPr id="7" name="Content Placeholder 9">
            <a:extLst>
              <a:ext uri="{FF2B5EF4-FFF2-40B4-BE49-F238E27FC236}">
                <a16:creationId xmlns:a16="http://schemas.microsoft.com/office/drawing/2014/main" id="{17B333E7-04F9-4826-B6FB-1E46E5798BB3}"/>
              </a:ext>
            </a:extLst>
          </p:cNvPr>
          <p:cNvPicPr>
            <a:picLocks noChangeAspect="1"/>
          </p:cNvPicPr>
          <p:nvPr/>
        </p:nvPicPr>
        <p:blipFill>
          <a:blip r:embed="rId4"/>
          <a:srcRect l="52038" t="8515" r="30590" b="9781"/>
          <a:stretch>
            <a:fillRect/>
          </a:stretch>
        </p:blipFill>
        <p:spPr>
          <a:xfrm>
            <a:off x="5774675" y="1237669"/>
            <a:ext cx="1288593" cy="3448594"/>
          </a:xfrm>
          <a:prstGeom prst="rect">
            <a:avLst/>
          </a:prstGeom>
        </p:spPr>
      </p:pic>
      <p:pic>
        <p:nvPicPr>
          <p:cNvPr id="8" name="Content Placeholder 9">
            <a:extLst>
              <a:ext uri="{FF2B5EF4-FFF2-40B4-BE49-F238E27FC236}">
                <a16:creationId xmlns:a16="http://schemas.microsoft.com/office/drawing/2014/main" id="{451EBC68-D478-39AA-2839-9CA5E5E3779F}"/>
              </a:ext>
            </a:extLst>
          </p:cNvPr>
          <p:cNvPicPr>
            <a:picLocks noChangeAspect="1"/>
          </p:cNvPicPr>
          <p:nvPr/>
        </p:nvPicPr>
        <p:blipFill>
          <a:blip r:embed="rId3"/>
          <a:srcRect l="29745" t="8481" r="51804" b="9817"/>
          <a:stretch>
            <a:fillRect/>
          </a:stretch>
        </p:blipFill>
        <p:spPr>
          <a:xfrm>
            <a:off x="3645332" y="1430606"/>
            <a:ext cx="1288593" cy="3246938"/>
          </a:xfrm>
          <a:prstGeom prst="rect">
            <a:avLst/>
          </a:prstGeom>
        </p:spPr>
      </p:pic>
      <p:pic>
        <p:nvPicPr>
          <p:cNvPr id="9" name="Picture 8">
            <a:extLst>
              <a:ext uri="{FF2B5EF4-FFF2-40B4-BE49-F238E27FC236}">
                <a16:creationId xmlns:a16="http://schemas.microsoft.com/office/drawing/2014/main" id="{19DE628B-7265-6CC9-5B4E-41B901B7B32F}"/>
              </a:ext>
            </a:extLst>
          </p:cNvPr>
          <p:cNvPicPr>
            <a:picLocks noChangeAspect="1"/>
          </p:cNvPicPr>
          <p:nvPr/>
        </p:nvPicPr>
        <p:blipFill>
          <a:blip r:embed="rId5"/>
          <a:srcRect l="-1196" t="4468" r="76540" b="76544"/>
          <a:stretch>
            <a:fillRect/>
          </a:stretch>
        </p:blipFill>
        <p:spPr>
          <a:xfrm>
            <a:off x="2968507" y="5991550"/>
            <a:ext cx="3755240" cy="613772"/>
          </a:xfrm>
          <a:prstGeom prst="rect">
            <a:avLst/>
          </a:prstGeom>
        </p:spPr>
      </p:pic>
      <p:pic>
        <p:nvPicPr>
          <p:cNvPr id="14" name="Picture 13">
            <a:extLst>
              <a:ext uri="{FF2B5EF4-FFF2-40B4-BE49-F238E27FC236}">
                <a16:creationId xmlns:a16="http://schemas.microsoft.com/office/drawing/2014/main" id="{6C978627-E3F2-8BD5-291A-CC931D1AA0DA}"/>
              </a:ext>
            </a:extLst>
          </p:cNvPr>
          <p:cNvPicPr>
            <a:picLocks noChangeAspect="1"/>
          </p:cNvPicPr>
          <p:nvPr/>
        </p:nvPicPr>
        <p:blipFill>
          <a:blip r:embed="rId6"/>
          <a:stretch>
            <a:fillRect/>
          </a:stretch>
        </p:blipFill>
        <p:spPr>
          <a:xfrm rot="16200000">
            <a:off x="4195471" y="5237616"/>
            <a:ext cx="1039107" cy="262205"/>
          </a:xfrm>
          <a:prstGeom prst="rect">
            <a:avLst/>
          </a:prstGeom>
        </p:spPr>
      </p:pic>
      <p:pic>
        <p:nvPicPr>
          <p:cNvPr id="15" name="Picture 14">
            <a:extLst>
              <a:ext uri="{FF2B5EF4-FFF2-40B4-BE49-F238E27FC236}">
                <a16:creationId xmlns:a16="http://schemas.microsoft.com/office/drawing/2014/main" id="{011673B9-4B0E-3FFA-A96D-16AE7D80B416}"/>
              </a:ext>
            </a:extLst>
          </p:cNvPr>
          <p:cNvPicPr>
            <a:picLocks noChangeAspect="1"/>
          </p:cNvPicPr>
          <p:nvPr/>
        </p:nvPicPr>
        <p:blipFill>
          <a:blip r:embed="rId6"/>
          <a:stretch>
            <a:fillRect/>
          </a:stretch>
        </p:blipFill>
        <p:spPr>
          <a:xfrm rot="16200000">
            <a:off x="6391535" y="5220061"/>
            <a:ext cx="1039107" cy="262205"/>
          </a:xfrm>
          <a:prstGeom prst="rect">
            <a:avLst/>
          </a:prstGeom>
        </p:spPr>
      </p:pic>
      <p:pic>
        <p:nvPicPr>
          <p:cNvPr id="16" name="Picture 15">
            <a:extLst>
              <a:ext uri="{FF2B5EF4-FFF2-40B4-BE49-F238E27FC236}">
                <a16:creationId xmlns:a16="http://schemas.microsoft.com/office/drawing/2014/main" id="{BE6003E0-B880-1CD8-7294-4B9E68ABBED6}"/>
              </a:ext>
            </a:extLst>
          </p:cNvPr>
          <p:cNvPicPr>
            <a:picLocks noChangeAspect="1"/>
          </p:cNvPicPr>
          <p:nvPr/>
        </p:nvPicPr>
        <p:blipFill>
          <a:blip r:embed="rId6"/>
          <a:stretch>
            <a:fillRect/>
          </a:stretch>
        </p:blipFill>
        <p:spPr>
          <a:xfrm rot="16200000">
            <a:off x="8910361" y="5245878"/>
            <a:ext cx="1039107" cy="262205"/>
          </a:xfrm>
          <a:prstGeom prst="rect">
            <a:avLst/>
          </a:prstGeom>
        </p:spPr>
      </p:pic>
      <p:pic>
        <p:nvPicPr>
          <p:cNvPr id="17" name="Picture 16">
            <a:extLst>
              <a:ext uri="{FF2B5EF4-FFF2-40B4-BE49-F238E27FC236}">
                <a16:creationId xmlns:a16="http://schemas.microsoft.com/office/drawing/2014/main" id="{5AC4323E-DFD0-EDC5-8338-72D933D4FA47}"/>
              </a:ext>
            </a:extLst>
          </p:cNvPr>
          <p:cNvPicPr>
            <a:picLocks noChangeAspect="1"/>
          </p:cNvPicPr>
          <p:nvPr/>
        </p:nvPicPr>
        <p:blipFill>
          <a:blip r:embed="rId6"/>
          <a:stretch>
            <a:fillRect/>
          </a:stretch>
        </p:blipFill>
        <p:spPr>
          <a:xfrm rot="16200000">
            <a:off x="2242532" y="5226893"/>
            <a:ext cx="1039107" cy="262205"/>
          </a:xfrm>
          <a:prstGeom prst="rect">
            <a:avLst/>
          </a:prstGeom>
        </p:spPr>
      </p:pic>
      <p:pic>
        <p:nvPicPr>
          <p:cNvPr id="19" name="Picture 18">
            <a:extLst>
              <a:ext uri="{FF2B5EF4-FFF2-40B4-BE49-F238E27FC236}">
                <a16:creationId xmlns:a16="http://schemas.microsoft.com/office/drawing/2014/main" id="{905D30D8-BAFA-D6AA-52BF-6004B19ABA07}"/>
              </a:ext>
            </a:extLst>
          </p:cNvPr>
          <p:cNvPicPr>
            <a:picLocks noChangeAspect="1"/>
          </p:cNvPicPr>
          <p:nvPr/>
        </p:nvPicPr>
        <p:blipFill>
          <a:blip r:embed="rId5"/>
          <a:srcRect l="12161" t="25977" r="81171" b="41558"/>
          <a:stretch>
            <a:fillRect/>
          </a:stretch>
        </p:blipFill>
        <p:spPr>
          <a:xfrm>
            <a:off x="3685330" y="5012573"/>
            <a:ext cx="705146" cy="728816"/>
          </a:xfrm>
          <a:prstGeom prst="rect">
            <a:avLst/>
          </a:prstGeom>
        </p:spPr>
      </p:pic>
      <p:pic>
        <p:nvPicPr>
          <p:cNvPr id="20" name="Picture 19">
            <a:extLst>
              <a:ext uri="{FF2B5EF4-FFF2-40B4-BE49-F238E27FC236}">
                <a16:creationId xmlns:a16="http://schemas.microsoft.com/office/drawing/2014/main" id="{72BBD9A8-BC8A-1B5C-60F6-21C24A36FD6F}"/>
              </a:ext>
            </a:extLst>
          </p:cNvPr>
          <p:cNvPicPr>
            <a:picLocks noChangeAspect="1"/>
          </p:cNvPicPr>
          <p:nvPr/>
        </p:nvPicPr>
        <p:blipFill>
          <a:blip r:embed="rId5"/>
          <a:srcRect l="14118" t="25793" r="79239" b="40842"/>
          <a:stretch>
            <a:fillRect/>
          </a:stretch>
        </p:blipFill>
        <p:spPr>
          <a:xfrm>
            <a:off x="5818246" y="4955806"/>
            <a:ext cx="741757" cy="790717"/>
          </a:xfrm>
          <a:prstGeom prst="rect">
            <a:avLst/>
          </a:prstGeom>
        </p:spPr>
      </p:pic>
      <p:pic>
        <p:nvPicPr>
          <p:cNvPr id="21" name="Picture 20">
            <a:extLst>
              <a:ext uri="{FF2B5EF4-FFF2-40B4-BE49-F238E27FC236}">
                <a16:creationId xmlns:a16="http://schemas.microsoft.com/office/drawing/2014/main" id="{386A21B6-E919-7914-5183-8FED8FACFBFE}"/>
              </a:ext>
            </a:extLst>
          </p:cNvPr>
          <p:cNvPicPr>
            <a:picLocks noChangeAspect="1"/>
          </p:cNvPicPr>
          <p:nvPr/>
        </p:nvPicPr>
        <p:blipFill>
          <a:blip r:embed="rId5"/>
          <a:srcRect l="4551" t="24659" r="88426" b="40525"/>
          <a:stretch>
            <a:fillRect/>
          </a:stretch>
        </p:blipFill>
        <p:spPr>
          <a:xfrm>
            <a:off x="1638630" y="4990101"/>
            <a:ext cx="686240" cy="722129"/>
          </a:xfrm>
          <a:prstGeom prst="rect">
            <a:avLst/>
          </a:prstGeom>
        </p:spPr>
      </p:pic>
      <p:pic>
        <p:nvPicPr>
          <p:cNvPr id="22" name="Picture 21">
            <a:extLst>
              <a:ext uri="{FF2B5EF4-FFF2-40B4-BE49-F238E27FC236}">
                <a16:creationId xmlns:a16="http://schemas.microsoft.com/office/drawing/2014/main" id="{E8D7FA7E-CE28-ACFB-4EF7-39DC8F87ECC3}"/>
              </a:ext>
            </a:extLst>
          </p:cNvPr>
          <p:cNvPicPr>
            <a:picLocks noChangeAspect="1"/>
          </p:cNvPicPr>
          <p:nvPr/>
        </p:nvPicPr>
        <p:blipFill>
          <a:blip r:embed="rId5"/>
          <a:srcRect l="23526" t="48205" r="69461" b="19987"/>
          <a:stretch>
            <a:fillRect/>
          </a:stretch>
        </p:blipFill>
        <p:spPr>
          <a:xfrm>
            <a:off x="8325864" y="4928522"/>
            <a:ext cx="814120" cy="783708"/>
          </a:xfrm>
          <a:prstGeom prst="rect">
            <a:avLst/>
          </a:prstGeom>
        </p:spPr>
      </p:pic>
    </p:spTree>
    <p:extLst>
      <p:ext uri="{BB962C8B-B14F-4D97-AF65-F5344CB8AC3E}">
        <p14:creationId xmlns:p14="http://schemas.microsoft.com/office/powerpoint/2010/main" val="87609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95D34-290D-BBB4-4F34-4AFF558A11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FD2777-1B35-F97E-96FF-B52ED6155EB1}"/>
              </a:ext>
            </a:extLst>
          </p:cNvPr>
          <p:cNvSpPr txBox="1"/>
          <p:nvPr/>
        </p:nvSpPr>
        <p:spPr>
          <a:xfrm>
            <a:off x="731520" y="365760"/>
            <a:ext cx="10515600" cy="640080"/>
          </a:xfrm>
          <a:prstGeom prst="rect">
            <a:avLst/>
          </a:prstGeom>
          <a:noFill/>
        </p:spPr>
        <p:txBody>
          <a:bodyPr wrap="square">
            <a:spAutoFit/>
          </a:bodyPr>
          <a:lstStyle/>
          <a:p>
            <a:pPr>
              <a:lnSpc>
                <a:spcPct val="115000"/>
              </a:lnSpc>
              <a:defRPr sz="3200" b="1" i="0">
                <a:solidFill>
                  <a:srgbClr val="002060"/>
                </a:solidFill>
                <a:latin typeface="Calibri"/>
              </a:defRPr>
            </a:pPr>
            <a:r>
              <a:rPr lang="en-US" dirty="0"/>
              <a:t>Per subject, task alignment.</a:t>
            </a:r>
          </a:p>
        </p:txBody>
      </p:sp>
      <p:sp>
        <p:nvSpPr>
          <p:cNvPr id="3" name="Rectangle 2">
            <a:extLst>
              <a:ext uri="{FF2B5EF4-FFF2-40B4-BE49-F238E27FC236}">
                <a16:creationId xmlns:a16="http://schemas.microsoft.com/office/drawing/2014/main" id="{988A93AA-F03E-ECD9-0755-CE61B4EB0643}"/>
              </a:ext>
            </a:extLst>
          </p:cNvPr>
          <p:cNvSpPr/>
          <p:nvPr/>
        </p:nvSpPr>
        <p:spPr>
          <a:xfrm>
            <a:off x="731520" y="1005839"/>
            <a:ext cx="10789920"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80161F16-C84D-471D-5973-74F98D347C9F}"/>
              </a:ext>
            </a:extLst>
          </p:cNvPr>
          <p:cNvPicPr>
            <a:picLocks noChangeAspect="1"/>
          </p:cNvPicPr>
          <p:nvPr/>
        </p:nvPicPr>
        <p:blipFill>
          <a:blip r:embed="rId3"/>
          <a:srcRect l="-1196" t="4468" r="76540" b="76544"/>
          <a:stretch>
            <a:fillRect/>
          </a:stretch>
        </p:blipFill>
        <p:spPr>
          <a:xfrm>
            <a:off x="3389093" y="5690054"/>
            <a:ext cx="3755240" cy="613772"/>
          </a:xfrm>
          <a:prstGeom prst="rect">
            <a:avLst/>
          </a:prstGeom>
        </p:spPr>
      </p:pic>
      <p:pic>
        <p:nvPicPr>
          <p:cNvPr id="19" name="Picture 18">
            <a:extLst>
              <a:ext uri="{FF2B5EF4-FFF2-40B4-BE49-F238E27FC236}">
                <a16:creationId xmlns:a16="http://schemas.microsoft.com/office/drawing/2014/main" id="{FA093DB1-5D94-FAA0-9B8C-73850EC16305}"/>
              </a:ext>
            </a:extLst>
          </p:cNvPr>
          <p:cNvPicPr>
            <a:picLocks noChangeAspect="1"/>
          </p:cNvPicPr>
          <p:nvPr/>
        </p:nvPicPr>
        <p:blipFill>
          <a:blip r:embed="rId3"/>
          <a:srcRect l="12161" t="25977" r="81171" b="41558"/>
          <a:stretch>
            <a:fillRect/>
          </a:stretch>
        </p:blipFill>
        <p:spPr>
          <a:xfrm>
            <a:off x="3770460" y="2739261"/>
            <a:ext cx="1387011" cy="1433569"/>
          </a:xfrm>
          <a:prstGeom prst="rect">
            <a:avLst/>
          </a:prstGeom>
        </p:spPr>
      </p:pic>
      <p:pic>
        <p:nvPicPr>
          <p:cNvPr id="20" name="Picture 19">
            <a:extLst>
              <a:ext uri="{FF2B5EF4-FFF2-40B4-BE49-F238E27FC236}">
                <a16:creationId xmlns:a16="http://schemas.microsoft.com/office/drawing/2014/main" id="{FB979CF9-4A78-9DF7-4C9D-E84529E8ABF9}"/>
              </a:ext>
            </a:extLst>
          </p:cNvPr>
          <p:cNvPicPr>
            <a:picLocks noChangeAspect="1"/>
          </p:cNvPicPr>
          <p:nvPr/>
        </p:nvPicPr>
        <p:blipFill>
          <a:blip r:embed="rId3"/>
          <a:srcRect l="14118" t="25793" r="79239" b="40842"/>
          <a:stretch>
            <a:fillRect/>
          </a:stretch>
        </p:blipFill>
        <p:spPr>
          <a:xfrm>
            <a:off x="6096000" y="2728543"/>
            <a:ext cx="1329488" cy="1417241"/>
          </a:xfrm>
          <a:prstGeom prst="rect">
            <a:avLst/>
          </a:prstGeom>
        </p:spPr>
      </p:pic>
      <p:pic>
        <p:nvPicPr>
          <p:cNvPr id="21" name="Picture 20">
            <a:extLst>
              <a:ext uri="{FF2B5EF4-FFF2-40B4-BE49-F238E27FC236}">
                <a16:creationId xmlns:a16="http://schemas.microsoft.com/office/drawing/2014/main" id="{25FEDC66-987A-66B6-4E44-FA275CA86DA5}"/>
              </a:ext>
            </a:extLst>
          </p:cNvPr>
          <p:cNvPicPr>
            <a:picLocks noChangeAspect="1"/>
          </p:cNvPicPr>
          <p:nvPr/>
        </p:nvPicPr>
        <p:blipFill>
          <a:blip r:embed="rId3"/>
          <a:srcRect l="4551" t="24659" r="88426" b="40525"/>
          <a:stretch>
            <a:fillRect/>
          </a:stretch>
        </p:blipFill>
        <p:spPr>
          <a:xfrm>
            <a:off x="1354373" y="2712215"/>
            <a:ext cx="1362323" cy="1433570"/>
          </a:xfrm>
          <a:prstGeom prst="rect">
            <a:avLst/>
          </a:prstGeom>
        </p:spPr>
      </p:pic>
      <p:pic>
        <p:nvPicPr>
          <p:cNvPr id="22" name="Picture 21">
            <a:extLst>
              <a:ext uri="{FF2B5EF4-FFF2-40B4-BE49-F238E27FC236}">
                <a16:creationId xmlns:a16="http://schemas.microsoft.com/office/drawing/2014/main" id="{ACB29F10-9749-1F0D-5464-1F904447B293}"/>
              </a:ext>
            </a:extLst>
          </p:cNvPr>
          <p:cNvPicPr>
            <a:picLocks noChangeAspect="1"/>
          </p:cNvPicPr>
          <p:nvPr/>
        </p:nvPicPr>
        <p:blipFill>
          <a:blip r:embed="rId3"/>
          <a:srcRect l="23526" t="48205" r="69461" b="19987"/>
          <a:stretch>
            <a:fillRect/>
          </a:stretch>
        </p:blipFill>
        <p:spPr>
          <a:xfrm>
            <a:off x="8438031" y="2712215"/>
            <a:ext cx="1517294" cy="1460615"/>
          </a:xfrm>
          <a:prstGeom prst="rect">
            <a:avLst/>
          </a:prstGeom>
        </p:spPr>
      </p:pic>
      <p:sp>
        <p:nvSpPr>
          <p:cNvPr id="10" name="TextBox 9">
            <a:extLst>
              <a:ext uri="{FF2B5EF4-FFF2-40B4-BE49-F238E27FC236}">
                <a16:creationId xmlns:a16="http://schemas.microsoft.com/office/drawing/2014/main" id="{46D1D937-D174-B551-82CC-B75D93ED5F72}"/>
              </a:ext>
            </a:extLst>
          </p:cNvPr>
          <p:cNvSpPr txBox="1"/>
          <p:nvPr/>
        </p:nvSpPr>
        <p:spPr>
          <a:xfrm>
            <a:off x="1354373" y="2100624"/>
            <a:ext cx="1173674" cy="492122"/>
          </a:xfrm>
          <a:prstGeom prst="rect">
            <a:avLst/>
          </a:prstGeom>
          <a:noFill/>
        </p:spPr>
        <p:txBody>
          <a:bodyPr wrap="square">
            <a:spAutoFit/>
          </a:bodyPr>
          <a:lstStyle/>
          <a:p>
            <a:pPr>
              <a:lnSpc>
                <a:spcPct val="115000"/>
              </a:lnSpc>
              <a:defRPr sz="3200" b="1" i="0">
                <a:solidFill>
                  <a:srgbClr val="002060"/>
                </a:solidFill>
                <a:latin typeface="Calibri"/>
              </a:defRPr>
            </a:pPr>
            <a:r>
              <a:rPr lang="en-US" sz="2400" dirty="0"/>
              <a:t>Nice 80</a:t>
            </a:r>
          </a:p>
        </p:txBody>
      </p:sp>
      <p:sp>
        <p:nvSpPr>
          <p:cNvPr id="12" name="TextBox 11">
            <a:extLst>
              <a:ext uri="{FF2B5EF4-FFF2-40B4-BE49-F238E27FC236}">
                <a16:creationId xmlns:a16="http://schemas.microsoft.com/office/drawing/2014/main" id="{FE294502-78DD-122E-E64F-8342E0421302}"/>
              </a:ext>
            </a:extLst>
          </p:cNvPr>
          <p:cNvSpPr txBox="1"/>
          <p:nvPr/>
        </p:nvSpPr>
        <p:spPr>
          <a:xfrm>
            <a:off x="3877128" y="2100624"/>
            <a:ext cx="1173674" cy="492122"/>
          </a:xfrm>
          <a:prstGeom prst="rect">
            <a:avLst/>
          </a:prstGeom>
          <a:noFill/>
        </p:spPr>
        <p:txBody>
          <a:bodyPr wrap="square">
            <a:spAutoFit/>
          </a:bodyPr>
          <a:lstStyle/>
          <a:p>
            <a:pPr>
              <a:lnSpc>
                <a:spcPct val="115000"/>
              </a:lnSpc>
              <a:defRPr sz="3200" b="1" i="0">
                <a:solidFill>
                  <a:srgbClr val="002060"/>
                </a:solidFill>
                <a:latin typeface="Calibri"/>
              </a:defRPr>
            </a:pPr>
            <a:r>
              <a:rPr lang="en-US" sz="2400" dirty="0"/>
              <a:t>Nice 60</a:t>
            </a:r>
          </a:p>
        </p:txBody>
      </p:sp>
      <p:sp>
        <p:nvSpPr>
          <p:cNvPr id="13" name="TextBox 12">
            <a:extLst>
              <a:ext uri="{FF2B5EF4-FFF2-40B4-BE49-F238E27FC236}">
                <a16:creationId xmlns:a16="http://schemas.microsoft.com/office/drawing/2014/main" id="{26233C50-158D-FE6A-1A9C-385A3227B8A1}"/>
              </a:ext>
            </a:extLst>
          </p:cNvPr>
          <p:cNvSpPr txBox="1"/>
          <p:nvPr/>
        </p:nvSpPr>
        <p:spPr>
          <a:xfrm>
            <a:off x="6173906" y="2100624"/>
            <a:ext cx="1517293" cy="492122"/>
          </a:xfrm>
          <a:prstGeom prst="rect">
            <a:avLst/>
          </a:prstGeom>
          <a:noFill/>
        </p:spPr>
        <p:txBody>
          <a:bodyPr wrap="square">
            <a:spAutoFit/>
          </a:bodyPr>
          <a:lstStyle/>
          <a:p>
            <a:pPr>
              <a:lnSpc>
                <a:spcPct val="115000"/>
              </a:lnSpc>
              <a:defRPr sz="3200" b="1" i="0">
                <a:solidFill>
                  <a:srgbClr val="002060"/>
                </a:solidFill>
                <a:latin typeface="Calibri"/>
              </a:defRPr>
            </a:pPr>
            <a:r>
              <a:rPr lang="en-US" sz="2400" dirty="0"/>
              <a:t>Mean 60</a:t>
            </a:r>
          </a:p>
        </p:txBody>
      </p:sp>
      <p:sp>
        <p:nvSpPr>
          <p:cNvPr id="18" name="TextBox 17">
            <a:extLst>
              <a:ext uri="{FF2B5EF4-FFF2-40B4-BE49-F238E27FC236}">
                <a16:creationId xmlns:a16="http://schemas.microsoft.com/office/drawing/2014/main" id="{91937323-8DBA-EC1C-6513-4F18701347CB}"/>
              </a:ext>
            </a:extLst>
          </p:cNvPr>
          <p:cNvSpPr txBox="1"/>
          <p:nvPr/>
        </p:nvSpPr>
        <p:spPr>
          <a:xfrm>
            <a:off x="8609840" y="2100624"/>
            <a:ext cx="1517293" cy="492122"/>
          </a:xfrm>
          <a:prstGeom prst="rect">
            <a:avLst/>
          </a:prstGeom>
          <a:noFill/>
        </p:spPr>
        <p:txBody>
          <a:bodyPr wrap="square">
            <a:spAutoFit/>
          </a:bodyPr>
          <a:lstStyle/>
          <a:p>
            <a:pPr>
              <a:lnSpc>
                <a:spcPct val="115000"/>
              </a:lnSpc>
              <a:defRPr sz="3200" b="1" i="0">
                <a:solidFill>
                  <a:srgbClr val="002060"/>
                </a:solidFill>
                <a:latin typeface="Calibri"/>
              </a:defRPr>
            </a:pPr>
            <a:r>
              <a:rPr lang="en-US" sz="2400" dirty="0"/>
              <a:t>Mean 80</a:t>
            </a:r>
          </a:p>
        </p:txBody>
      </p:sp>
      <p:sp>
        <p:nvSpPr>
          <p:cNvPr id="23" name="TextBox 22">
            <a:extLst>
              <a:ext uri="{FF2B5EF4-FFF2-40B4-BE49-F238E27FC236}">
                <a16:creationId xmlns:a16="http://schemas.microsoft.com/office/drawing/2014/main" id="{819017BF-7A44-29AF-43AC-627A636F25A1}"/>
              </a:ext>
            </a:extLst>
          </p:cNvPr>
          <p:cNvSpPr txBox="1"/>
          <p:nvPr/>
        </p:nvSpPr>
        <p:spPr>
          <a:xfrm>
            <a:off x="2924474" y="3180147"/>
            <a:ext cx="987916" cy="461665"/>
          </a:xfrm>
          <a:prstGeom prst="rect">
            <a:avLst/>
          </a:prstGeom>
          <a:noFill/>
        </p:spPr>
        <p:txBody>
          <a:bodyPr wrap="square">
            <a:spAutoFit/>
          </a:bodyPr>
          <a:lstStyle/>
          <a:p>
            <a:r>
              <a:rPr lang="en-US" sz="2400" dirty="0"/>
              <a:t>1-r</a:t>
            </a:r>
          </a:p>
        </p:txBody>
      </p:sp>
      <p:sp>
        <p:nvSpPr>
          <p:cNvPr id="24" name="TextBox 23">
            <a:extLst>
              <a:ext uri="{FF2B5EF4-FFF2-40B4-BE49-F238E27FC236}">
                <a16:creationId xmlns:a16="http://schemas.microsoft.com/office/drawing/2014/main" id="{24F06009-704B-B36D-D49B-A368BFD07832}"/>
              </a:ext>
            </a:extLst>
          </p:cNvPr>
          <p:cNvSpPr txBox="1"/>
          <p:nvPr/>
        </p:nvSpPr>
        <p:spPr>
          <a:xfrm>
            <a:off x="5315877" y="3180067"/>
            <a:ext cx="987916" cy="461665"/>
          </a:xfrm>
          <a:prstGeom prst="rect">
            <a:avLst/>
          </a:prstGeom>
          <a:noFill/>
        </p:spPr>
        <p:txBody>
          <a:bodyPr wrap="square">
            <a:spAutoFit/>
          </a:bodyPr>
          <a:lstStyle/>
          <a:p>
            <a:r>
              <a:rPr lang="en-US" sz="2400" dirty="0"/>
              <a:t>1-r</a:t>
            </a:r>
          </a:p>
        </p:txBody>
      </p:sp>
      <p:sp>
        <p:nvSpPr>
          <p:cNvPr id="25" name="TextBox 24">
            <a:extLst>
              <a:ext uri="{FF2B5EF4-FFF2-40B4-BE49-F238E27FC236}">
                <a16:creationId xmlns:a16="http://schemas.microsoft.com/office/drawing/2014/main" id="{2E1490FB-7440-35D0-D4DD-B322756B7B00}"/>
              </a:ext>
            </a:extLst>
          </p:cNvPr>
          <p:cNvSpPr txBox="1"/>
          <p:nvPr/>
        </p:nvSpPr>
        <p:spPr>
          <a:xfrm>
            <a:off x="7548859" y="3139973"/>
            <a:ext cx="987916" cy="461665"/>
          </a:xfrm>
          <a:prstGeom prst="rect">
            <a:avLst/>
          </a:prstGeom>
          <a:noFill/>
        </p:spPr>
        <p:txBody>
          <a:bodyPr wrap="square">
            <a:spAutoFit/>
          </a:bodyPr>
          <a:lstStyle/>
          <a:p>
            <a:r>
              <a:rPr lang="en-US" sz="2400" dirty="0"/>
              <a:t>1-r</a:t>
            </a:r>
          </a:p>
        </p:txBody>
      </p:sp>
    </p:spTree>
    <p:extLst>
      <p:ext uri="{BB962C8B-B14F-4D97-AF65-F5344CB8AC3E}">
        <p14:creationId xmlns:p14="http://schemas.microsoft.com/office/powerpoint/2010/main" val="3902550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0BF8-DFF8-6A36-33DA-5C24EB7521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41C0D7-C425-EF1D-3EDB-656E095877A9}"/>
              </a:ext>
            </a:extLst>
          </p:cNvPr>
          <p:cNvSpPr txBox="1"/>
          <p:nvPr/>
        </p:nvSpPr>
        <p:spPr>
          <a:xfrm>
            <a:off x="731519" y="387750"/>
            <a:ext cx="10515600"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Build a neural per-condition RDM</a:t>
            </a:r>
            <a:endParaRPr lang="en-US" sz="3200" b="1" dirty="0"/>
          </a:p>
        </p:txBody>
      </p:sp>
      <p:sp>
        <p:nvSpPr>
          <p:cNvPr id="3" name="Rectangle 2">
            <a:extLst>
              <a:ext uri="{FF2B5EF4-FFF2-40B4-BE49-F238E27FC236}">
                <a16:creationId xmlns:a16="http://schemas.microsoft.com/office/drawing/2014/main" id="{7F4551FB-1378-1247-570A-7F315B9A7467}"/>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 name="Group 13">
            <a:extLst>
              <a:ext uri="{FF2B5EF4-FFF2-40B4-BE49-F238E27FC236}">
                <a16:creationId xmlns:a16="http://schemas.microsoft.com/office/drawing/2014/main" id="{C69380BC-66F1-FA32-15BA-F4E709586D8E}"/>
              </a:ext>
            </a:extLst>
          </p:cNvPr>
          <p:cNvGrpSpPr/>
          <p:nvPr/>
        </p:nvGrpSpPr>
        <p:grpSpPr>
          <a:xfrm>
            <a:off x="2665148" y="1515805"/>
            <a:ext cx="5203127" cy="4605829"/>
            <a:chOff x="4743925" y="1533330"/>
            <a:chExt cx="3776409" cy="3622921"/>
          </a:xfrm>
        </p:grpSpPr>
        <p:pic>
          <p:nvPicPr>
            <p:cNvPr id="13" name="Picture 12">
              <a:extLst>
                <a:ext uri="{FF2B5EF4-FFF2-40B4-BE49-F238E27FC236}">
                  <a16:creationId xmlns:a16="http://schemas.microsoft.com/office/drawing/2014/main" id="{03205C17-130B-4570-798D-B99E2DAAFE75}"/>
                </a:ext>
              </a:extLst>
            </p:cNvPr>
            <p:cNvPicPr>
              <a:picLocks noChangeAspect="1"/>
            </p:cNvPicPr>
            <p:nvPr/>
          </p:nvPicPr>
          <p:blipFill>
            <a:blip r:embed="rId3"/>
            <a:srcRect l="4293" t="22513" r="71649" b="4930"/>
            <a:stretch>
              <a:fillRect/>
            </a:stretch>
          </p:blipFill>
          <p:spPr>
            <a:xfrm>
              <a:off x="4743925" y="1533330"/>
              <a:ext cx="3776409" cy="3622921"/>
            </a:xfrm>
            <a:prstGeom prst="rect">
              <a:avLst/>
            </a:prstGeom>
          </p:spPr>
        </p:pic>
        <p:pic>
          <p:nvPicPr>
            <p:cNvPr id="12" name="Picture 11">
              <a:extLst>
                <a:ext uri="{FF2B5EF4-FFF2-40B4-BE49-F238E27FC236}">
                  <a16:creationId xmlns:a16="http://schemas.microsoft.com/office/drawing/2014/main" id="{BA1EFDAF-FBA5-32AA-7309-76086C28BE79}"/>
                </a:ext>
              </a:extLst>
            </p:cNvPr>
            <p:cNvPicPr>
              <a:picLocks noChangeAspect="1"/>
            </p:cNvPicPr>
            <p:nvPr/>
          </p:nvPicPr>
          <p:blipFill>
            <a:blip r:embed="rId4"/>
            <a:stretch>
              <a:fillRect/>
            </a:stretch>
          </p:blipFill>
          <p:spPr>
            <a:xfrm>
              <a:off x="5277258" y="1893762"/>
              <a:ext cx="3243075" cy="3206431"/>
            </a:xfrm>
            <a:prstGeom prst="rect">
              <a:avLst/>
            </a:prstGeom>
          </p:spPr>
        </p:pic>
      </p:grpSp>
      <p:pic>
        <p:nvPicPr>
          <p:cNvPr id="4" name="Picture 3">
            <a:extLst>
              <a:ext uri="{FF2B5EF4-FFF2-40B4-BE49-F238E27FC236}">
                <a16:creationId xmlns:a16="http://schemas.microsoft.com/office/drawing/2014/main" id="{78B6FCDA-D1E6-DA4A-A9A8-773F4A1B860C}"/>
              </a:ext>
            </a:extLst>
          </p:cNvPr>
          <p:cNvPicPr>
            <a:picLocks noChangeAspect="1"/>
          </p:cNvPicPr>
          <p:nvPr/>
        </p:nvPicPr>
        <p:blipFill>
          <a:blip r:embed="rId5"/>
          <a:srcRect l="-1196" t="4468" r="76540" b="76544"/>
          <a:stretch>
            <a:fillRect/>
          </a:stretch>
        </p:blipFill>
        <p:spPr>
          <a:xfrm>
            <a:off x="3389092" y="6121634"/>
            <a:ext cx="3755240" cy="613772"/>
          </a:xfrm>
          <a:prstGeom prst="rect">
            <a:avLst/>
          </a:prstGeom>
        </p:spPr>
      </p:pic>
    </p:spTree>
    <p:extLst>
      <p:ext uri="{BB962C8B-B14F-4D97-AF65-F5344CB8AC3E}">
        <p14:creationId xmlns:p14="http://schemas.microsoft.com/office/powerpoint/2010/main" val="2700030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170E7-2BE9-CB0A-C5A3-F600F2704A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57DC1D-5C9A-37D2-201F-A67CF6E870C1}"/>
              </a:ext>
            </a:extLst>
          </p:cNvPr>
          <p:cNvSpPr txBox="1"/>
          <p:nvPr/>
        </p:nvSpPr>
        <p:spPr>
          <a:xfrm>
            <a:off x="731519" y="387750"/>
            <a:ext cx="10515600"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Build Ground Truth RDM’s</a:t>
            </a:r>
            <a:endParaRPr lang="en-US" sz="3200" b="1" dirty="0"/>
          </a:p>
        </p:txBody>
      </p:sp>
      <p:sp>
        <p:nvSpPr>
          <p:cNvPr id="3" name="Rectangle 2">
            <a:extLst>
              <a:ext uri="{FF2B5EF4-FFF2-40B4-BE49-F238E27FC236}">
                <a16:creationId xmlns:a16="http://schemas.microsoft.com/office/drawing/2014/main" id="{E57D515B-8A90-37BC-BDF3-A73D0136F82B}"/>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 name="Group 6">
            <a:extLst>
              <a:ext uri="{FF2B5EF4-FFF2-40B4-BE49-F238E27FC236}">
                <a16:creationId xmlns:a16="http://schemas.microsoft.com/office/drawing/2014/main" id="{72451F7B-9360-24A3-9663-D624F302B7C7}"/>
              </a:ext>
            </a:extLst>
          </p:cNvPr>
          <p:cNvGrpSpPr/>
          <p:nvPr/>
        </p:nvGrpSpPr>
        <p:grpSpPr>
          <a:xfrm>
            <a:off x="6235908" y="1492591"/>
            <a:ext cx="4880370" cy="4958921"/>
            <a:chOff x="2524238" y="1241335"/>
            <a:chExt cx="5763420" cy="5551007"/>
          </a:xfrm>
        </p:grpSpPr>
        <p:pic>
          <p:nvPicPr>
            <p:cNvPr id="5" name="Picture 4">
              <a:extLst>
                <a:ext uri="{FF2B5EF4-FFF2-40B4-BE49-F238E27FC236}">
                  <a16:creationId xmlns:a16="http://schemas.microsoft.com/office/drawing/2014/main" id="{471AFBD9-9F96-0ECD-11A9-67B705844555}"/>
                </a:ext>
              </a:extLst>
            </p:cNvPr>
            <p:cNvPicPr>
              <a:picLocks noChangeAspect="1"/>
            </p:cNvPicPr>
            <p:nvPr/>
          </p:nvPicPr>
          <p:blipFill>
            <a:blip r:embed="rId3"/>
            <a:srcRect r="66973"/>
            <a:stretch>
              <a:fillRect/>
            </a:stretch>
          </p:blipFill>
          <p:spPr>
            <a:xfrm>
              <a:off x="2524238" y="1241335"/>
              <a:ext cx="5763420" cy="5551007"/>
            </a:xfrm>
            <a:prstGeom prst="rect">
              <a:avLst/>
            </a:prstGeom>
          </p:spPr>
        </p:pic>
        <p:pic>
          <p:nvPicPr>
            <p:cNvPr id="6" name="Picture 5">
              <a:extLst>
                <a:ext uri="{FF2B5EF4-FFF2-40B4-BE49-F238E27FC236}">
                  <a16:creationId xmlns:a16="http://schemas.microsoft.com/office/drawing/2014/main" id="{51C13C54-1AB9-072B-2AEB-1417EA499089}"/>
                </a:ext>
              </a:extLst>
            </p:cNvPr>
            <p:cNvPicPr>
              <a:picLocks noChangeAspect="1"/>
            </p:cNvPicPr>
            <p:nvPr/>
          </p:nvPicPr>
          <p:blipFill>
            <a:blip r:embed="rId4"/>
            <a:stretch>
              <a:fillRect/>
            </a:stretch>
          </p:blipFill>
          <p:spPr>
            <a:xfrm>
              <a:off x="2723243" y="1241335"/>
              <a:ext cx="658586" cy="425148"/>
            </a:xfrm>
            <a:prstGeom prst="rect">
              <a:avLst/>
            </a:prstGeom>
          </p:spPr>
        </p:pic>
      </p:grpSp>
      <p:sp>
        <p:nvSpPr>
          <p:cNvPr id="9" name="TextBox 8">
            <a:extLst>
              <a:ext uri="{FF2B5EF4-FFF2-40B4-BE49-F238E27FC236}">
                <a16:creationId xmlns:a16="http://schemas.microsoft.com/office/drawing/2014/main" id="{40A9659E-95F8-777E-0C0E-AC3D54E8B54B}"/>
              </a:ext>
            </a:extLst>
          </p:cNvPr>
          <p:cNvSpPr txBox="1"/>
          <p:nvPr/>
        </p:nvSpPr>
        <p:spPr>
          <a:xfrm>
            <a:off x="797506" y="1880957"/>
            <a:ext cx="4707412" cy="3539430"/>
          </a:xfrm>
          <a:prstGeom prst="rect">
            <a:avLst/>
          </a:prstGeom>
          <a:noFill/>
        </p:spPr>
        <p:txBody>
          <a:bodyPr wrap="square">
            <a:spAutoFit/>
          </a:bodyPr>
          <a:lstStyle/>
          <a:p>
            <a:r>
              <a:rPr lang="en-US" sz="3200" dirty="0">
                <a:latin typeface="Calibri" panose="020F0502020204030204" pitchFamily="34" charset="0"/>
                <a:cs typeface="Calibri" panose="020F0502020204030204" pitchFamily="34" charset="0"/>
              </a:rPr>
              <a:t>How dissimilar are the conditions the participant is learning?</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Dissimilarity = difference in likelihood of positive feedback </a:t>
            </a:r>
            <a:endParaRPr lang="en-US" sz="3200" dirty="0"/>
          </a:p>
        </p:txBody>
      </p:sp>
    </p:spTree>
    <p:extLst>
      <p:ext uri="{BB962C8B-B14F-4D97-AF65-F5344CB8AC3E}">
        <p14:creationId xmlns:p14="http://schemas.microsoft.com/office/powerpoint/2010/main" val="590556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0AD90-8B1B-B8B0-45B1-464FF0EB5C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B91686-F4C6-DB82-9901-34FF16CD0FE7}"/>
              </a:ext>
            </a:extLst>
          </p:cNvPr>
          <p:cNvSpPr txBox="1"/>
          <p:nvPr/>
        </p:nvSpPr>
        <p:spPr>
          <a:xfrm>
            <a:off x="731519" y="387750"/>
            <a:ext cx="10515600" cy="584775"/>
          </a:xfrm>
          <a:prstGeom prst="rect">
            <a:avLst/>
          </a:prstGeom>
          <a:noFill/>
        </p:spPr>
        <p:txBody>
          <a:bodyPr wrap="square">
            <a:spAutoFit/>
          </a:bodyPr>
          <a:lstStyle/>
          <a:p>
            <a:r>
              <a:rPr lang="en-US" sz="3200" b="1" dirty="0">
                <a:solidFill>
                  <a:schemeClr val="accent4">
                    <a:lumMod val="75000"/>
                  </a:schemeClr>
                </a:solidFill>
                <a:latin typeface="Calibri" panose="020F0502020204030204" pitchFamily="34" charset="0"/>
                <a:cs typeface="Calibri" panose="020F0502020204030204" pitchFamily="34" charset="0"/>
              </a:rPr>
              <a:t>Step 2: Compare to each subject’s neural RDM</a:t>
            </a:r>
            <a:endParaRPr lang="en-US" sz="3200" b="1" dirty="0">
              <a:solidFill>
                <a:schemeClr val="accent4">
                  <a:lumMod val="75000"/>
                </a:schemeClr>
              </a:solidFill>
            </a:endParaRPr>
          </a:p>
        </p:txBody>
      </p:sp>
      <p:sp>
        <p:nvSpPr>
          <p:cNvPr id="3" name="Rectangle 2">
            <a:extLst>
              <a:ext uri="{FF2B5EF4-FFF2-40B4-BE49-F238E27FC236}">
                <a16:creationId xmlns:a16="http://schemas.microsoft.com/office/drawing/2014/main" id="{420DE7CB-593D-4661-4512-31C016A065F8}"/>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FF2B5EF4-FFF2-40B4-BE49-F238E27FC236}">
                <a16:creationId xmlns:a16="http://schemas.microsoft.com/office/drawing/2014/main" id="{EC6DFF34-DEB7-15DA-E027-10752C8C7CBE}"/>
              </a:ext>
            </a:extLst>
          </p:cNvPr>
          <p:cNvPicPr>
            <a:picLocks noChangeAspect="1"/>
          </p:cNvPicPr>
          <p:nvPr/>
        </p:nvPicPr>
        <p:blipFill>
          <a:blip r:embed="rId3"/>
          <a:srcRect l="4293" t="22513" r="71649" b="4930"/>
          <a:stretch>
            <a:fillRect/>
          </a:stretch>
        </p:blipFill>
        <p:spPr>
          <a:xfrm>
            <a:off x="731519" y="1365285"/>
            <a:ext cx="2940149" cy="2820650"/>
          </a:xfrm>
          <a:prstGeom prst="rect">
            <a:avLst/>
          </a:prstGeom>
        </p:spPr>
      </p:pic>
      <p:pic>
        <p:nvPicPr>
          <p:cNvPr id="4" name="Picture 3">
            <a:extLst>
              <a:ext uri="{FF2B5EF4-FFF2-40B4-BE49-F238E27FC236}">
                <a16:creationId xmlns:a16="http://schemas.microsoft.com/office/drawing/2014/main" id="{02595E78-EB86-E25E-E84A-B8104A9F60B1}"/>
              </a:ext>
            </a:extLst>
          </p:cNvPr>
          <p:cNvPicPr>
            <a:picLocks noChangeAspect="1"/>
          </p:cNvPicPr>
          <p:nvPr/>
        </p:nvPicPr>
        <p:blipFill>
          <a:blip r:embed="rId4"/>
          <a:srcRect l="-1196" t="4468" r="76540" b="76544"/>
          <a:stretch>
            <a:fillRect/>
          </a:stretch>
        </p:blipFill>
        <p:spPr>
          <a:xfrm>
            <a:off x="2305253" y="5046574"/>
            <a:ext cx="2933381" cy="479444"/>
          </a:xfrm>
          <a:prstGeom prst="rect">
            <a:avLst/>
          </a:prstGeom>
        </p:spPr>
      </p:pic>
      <p:pic>
        <p:nvPicPr>
          <p:cNvPr id="7" name="Picture 6">
            <a:extLst>
              <a:ext uri="{FF2B5EF4-FFF2-40B4-BE49-F238E27FC236}">
                <a16:creationId xmlns:a16="http://schemas.microsoft.com/office/drawing/2014/main" id="{AABA4E0F-9D58-1490-7343-AAF8AE5F324E}"/>
              </a:ext>
            </a:extLst>
          </p:cNvPr>
          <p:cNvPicPr>
            <a:picLocks noChangeAspect="1"/>
          </p:cNvPicPr>
          <p:nvPr/>
        </p:nvPicPr>
        <p:blipFill>
          <a:blip r:embed="rId5"/>
          <a:stretch>
            <a:fillRect/>
          </a:stretch>
        </p:blipFill>
        <p:spPr>
          <a:xfrm rot="13891793">
            <a:off x="2355146" y="4551744"/>
            <a:ext cx="1232212" cy="310932"/>
          </a:xfrm>
          <a:prstGeom prst="rect">
            <a:avLst/>
          </a:prstGeom>
        </p:spPr>
      </p:pic>
      <p:grpSp>
        <p:nvGrpSpPr>
          <p:cNvPr id="14" name="Group 13">
            <a:extLst>
              <a:ext uri="{FF2B5EF4-FFF2-40B4-BE49-F238E27FC236}">
                <a16:creationId xmlns:a16="http://schemas.microsoft.com/office/drawing/2014/main" id="{33C0034D-DC38-9CD2-4C99-A5BE1CCD75D8}"/>
              </a:ext>
            </a:extLst>
          </p:cNvPr>
          <p:cNvGrpSpPr/>
          <p:nvPr/>
        </p:nvGrpSpPr>
        <p:grpSpPr>
          <a:xfrm>
            <a:off x="4810303" y="3962294"/>
            <a:ext cx="3032921" cy="2820650"/>
            <a:chOff x="4743925" y="1533330"/>
            <a:chExt cx="3776409" cy="3622921"/>
          </a:xfrm>
        </p:grpSpPr>
        <p:pic>
          <p:nvPicPr>
            <p:cNvPr id="13" name="Picture 12">
              <a:extLst>
                <a:ext uri="{FF2B5EF4-FFF2-40B4-BE49-F238E27FC236}">
                  <a16:creationId xmlns:a16="http://schemas.microsoft.com/office/drawing/2014/main" id="{43F3835B-B589-7CE8-799F-2BC7F893DFCE}"/>
                </a:ext>
              </a:extLst>
            </p:cNvPr>
            <p:cNvPicPr>
              <a:picLocks noChangeAspect="1"/>
            </p:cNvPicPr>
            <p:nvPr/>
          </p:nvPicPr>
          <p:blipFill>
            <a:blip r:embed="rId3"/>
            <a:srcRect l="4293" t="22513" r="71649" b="4930"/>
            <a:stretch>
              <a:fillRect/>
            </a:stretch>
          </p:blipFill>
          <p:spPr>
            <a:xfrm>
              <a:off x="4743925" y="1533330"/>
              <a:ext cx="3776409" cy="3622921"/>
            </a:xfrm>
            <a:prstGeom prst="rect">
              <a:avLst/>
            </a:prstGeom>
          </p:spPr>
        </p:pic>
        <p:pic>
          <p:nvPicPr>
            <p:cNvPr id="12" name="Picture 11">
              <a:extLst>
                <a:ext uri="{FF2B5EF4-FFF2-40B4-BE49-F238E27FC236}">
                  <a16:creationId xmlns:a16="http://schemas.microsoft.com/office/drawing/2014/main" id="{7BCBDD8A-6EB7-2865-E9AA-BB420E7DFE6D}"/>
                </a:ext>
              </a:extLst>
            </p:cNvPr>
            <p:cNvPicPr>
              <a:picLocks noChangeAspect="1"/>
            </p:cNvPicPr>
            <p:nvPr/>
          </p:nvPicPr>
          <p:blipFill>
            <a:blip r:embed="rId6"/>
            <a:stretch>
              <a:fillRect/>
            </a:stretch>
          </p:blipFill>
          <p:spPr>
            <a:xfrm>
              <a:off x="5277258" y="1893762"/>
              <a:ext cx="3243075" cy="3206431"/>
            </a:xfrm>
            <a:prstGeom prst="rect">
              <a:avLst/>
            </a:prstGeom>
          </p:spPr>
        </p:pic>
      </p:grpSp>
    </p:spTree>
    <p:extLst>
      <p:ext uri="{BB962C8B-B14F-4D97-AF65-F5344CB8AC3E}">
        <p14:creationId xmlns:p14="http://schemas.microsoft.com/office/powerpoint/2010/main" val="405994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9F3D1-7D33-D274-1DDF-FE589A69AC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BFAE26-5FD8-3112-7D47-82DE8E11D53C}"/>
              </a:ext>
            </a:extLst>
          </p:cNvPr>
          <p:cNvSpPr txBox="1"/>
          <p:nvPr/>
        </p:nvSpPr>
        <p:spPr>
          <a:xfrm>
            <a:off x="731519" y="387750"/>
            <a:ext cx="10515600" cy="584775"/>
          </a:xfrm>
          <a:prstGeom prst="rect">
            <a:avLst/>
          </a:prstGeom>
          <a:noFill/>
        </p:spPr>
        <p:txBody>
          <a:bodyPr wrap="square">
            <a:spAutoFit/>
          </a:bodyPr>
          <a:lstStyle/>
          <a:p>
            <a:r>
              <a:rPr lang="en-US" sz="3200" b="1" dirty="0">
                <a:solidFill>
                  <a:schemeClr val="accent4">
                    <a:lumMod val="75000"/>
                  </a:schemeClr>
                </a:solidFill>
                <a:latin typeface="Calibri" panose="020F0502020204030204" pitchFamily="34" charset="0"/>
                <a:cs typeface="Calibri" panose="020F0502020204030204" pitchFamily="34" charset="0"/>
              </a:rPr>
              <a:t>Step 2: Compare to each subject’s neural RDM</a:t>
            </a:r>
            <a:endParaRPr lang="en-US" sz="3200" b="1" dirty="0">
              <a:solidFill>
                <a:schemeClr val="accent4">
                  <a:lumMod val="75000"/>
                </a:schemeClr>
              </a:solidFill>
            </a:endParaRPr>
          </a:p>
        </p:txBody>
      </p:sp>
      <p:sp>
        <p:nvSpPr>
          <p:cNvPr id="3" name="Rectangle 2">
            <a:extLst>
              <a:ext uri="{FF2B5EF4-FFF2-40B4-BE49-F238E27FC236}">
                <a16:creationId xmlns:a16="http://schemas.microsoft.com/office/drawing/2014/main" id="{0274A6D9-6C7B-DD25-DB1B-51CCA6823285}"/>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FF2B5EF4-FFF2-40B4-BE49-F238E27FC236}">
                <a16:creationId xmlns:a16="http://schemas.microsoft.com/office/drawing/2014/main" id="{B7C45383-7792-D434-EF8C-92CC816FE87B}"/>
              </a:ext>
            </a:extLst>
          </p:cNvPr>
          <p:cNvPicPr>
            <a:picLocks noChangeAspect="1"/>
          </p:cNvPicPr>
          <p:nvPr/>
        </p:nvPicPr>
        <p:blipFill>
          <a:blip r:embed="rId3"/>
          <a:srcRect l="4293" t="22513" r="71649" b="4930"/>
          <a:stretch>
            <a:fillRect/>
          </a:stretch>
        </p:blipFill>
        <p:spPr>
          <a:xfrm>
            <a:off x="731519" y="1365285"/>
            <a:ext cx="2940149" cy="2820650"/>
          </a:xfrm>
          <a:prstGeom prst="rect">
            <a:avLst/>
          </a:prstGeom>
        </p:spPr>
      </p:pic>
      <p:pic>
        <p:nvPicPr>
          <p:cNvPr id="4" name="Picture 3">
            <a:extLst>
              <a:ext uri="{FF2B5EF4-FFF2-40B4-BE49-F238E27FC236}">
                <a16:creationId xmlns:a16="http://schemas.microsoft.com/office/drawing/2014/main" id="{39844557-B22D-6442-BECB-F0579B20BE70}"/>
              </a:ext>
            </a:extLst>
          </p:cNvPr>
          <p:cNvPicPr>
            <a:picLocks noChangeAspect="1"/>
          </p:cNvPicPr>
          <p:nvPr/>
        </p:nvPicPr>
        <p:blipFill>
          <a:blip r:embed="rId4"/>
          <a:srcRect l="23052" t="5067" r="60686" b="76016"/>
          <a:stretch>
            <a:fillRect/>
          </a:stretch>
        </p:blipFill>
        <p:spPr>
          <a:xfrm>
            <a:off x="3966008" y="5134707"/>
            <a:ext cx="1450053" cy="358007"/>
          </a:xfrm>
          <a:prstGeom prst="rect">
            <a:avLst/>
          </a:prstGeom>
        </p:spPr>
      </p:pic>
      <p:pic>
        <p:nvPicPr>
          <p:cNvPr id="7" name="Picture 6">
            <a:extLst>
              <a:ext uri="{FF2B5EF4-FFF2-40B4-BE49-F238E27FC236}">
                <a16:creationId xmlns:a16="http://schemas.microsoft.com/office/drawing/2014/main" id="{270A9A1B-CD99-9915-8463-E592CB79299C}"/>
              </a:ext>
            </a:extLst>
          </p:cNvPr>
          <p:cNvPicPr>
            <a:picLocks noChangeAspect="1"/>
          </p:cNvPicPr>
          <p:nvPr/>
        </p:nvPicPr>
        <p:blipFill>
          <a:blip r:embed="rId5"/>
          <a:stretch>
            <a:fillRect/>
          </a:stretch>
        </p:blipFill>
        <p:spPr>
          <a:xfrm rot="13891793">
            <a:off x="3349902" y="4532752"/>
            <a:ext cx="1232212" cy="310932"/>
          </a:xfrm>
          <a:prstGeom prst="rect">
            <a:avLst/>
          </a:prstGeom>
        </p:spPr>
      </p:pic>
      <p:pic>
        <p:nvPicPr>
          <p:cNvPr id="10" name="Picture 9">
            <a:extLst>
              <a:ext uri="{FF2B5EF4-FFF2-40B4-BE49-F238E27FC236}">
                <a16:creationId xmlns:a16="http://schemas.microsoft.com/office/drawing/2014/main" id="{3BCFEEE2-CAD3-0931-E51A-C935C7CE7D1A}"/>
              </a:ext>
            </a:extLst>
          </p:cNvPr>
          <p:cNvPicPr>
            <a:picLocks noChangeAspect="1"/>
          </p:cNvPicPr>
          <p:nvPr/>
        </p:nvPicPr>
        <p:blipFill>
          <a:blip r:embed="rId6"/>
          <a:stretch>
            <a:fillRect/>
          </a:stretch>
        </p:blipFill>
        <p:spPr>
          <a:xfrm>
            <a:off x="5416061" y="4328124"/>
            <a:ext cx="2304930" cy="2337671"/>
          </a:xfrm>
          <a:prstGeom prst="rect">
            <a:avLst/>
          </a:prstGeom>
        </p:spPr>
      </p:pic>
    </p:spTree>
    <p:extLst>
      <p:ext uri="{BB962C8B-B14F-4D97-AF65-F5344CB8AC3E}">
        <p14:creationId xmlns:p14="http://schemas.microsoft.com/office/powerpoint/2010/main" val="3039891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A3B38-0562-8AF8-03BD-DE034B0413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1AFF15-9E38-E01A-C2C4-1019D73A81CD}"/>
              </a:ext>
            </a:extLst>
          </p:cNvPr>
          <p:cNvSpPr txBox="1"/>
          <p:nvPr/>
        </p:nvSpPr>
        <p:spPr>
          <a:xfrm>
            <a:off x="731519" y="387750"/>
            <a:ext cx="10515600" cy="584775"/>
          </a:xfrm>
          <a:prstGeom prst="rect">
            <a:avLst/>
          </a:prstGeom>
          <a:noFill/>
        </p:spPr>
        <p:txBody>
          <a:bodyPr wrap="square">
            <a:spAutoFit/>
          </a:bodyPr>
          <a:lstStyle/>
          <a:p>
            <a:r>
              <a:rPr lang="en-US" sz="3200" b="1" dirty="0">
                <a:solidFill>
                  <a:schemeClr val="accent4">
                    <a:lumMod val="75000"/>
                  </a:schemeClr>
                </a:solidFill>
                <a:latin typeface="Calibri" panose="020F0502020204030204" pitchFamily="34" charset="0"/>
                <a:cs typeface="Calibri" panose="020F0502020204030204" pitchFamily="34" charset="0"/>
              </a:rPr>
              <a:t>…Separately Per run (1,2,3,4)</a:t>
            </a:r>
            <a:endParaRPr lang="en-US" sz="3200" b="1" dirty="0">
              <a:solidFill>
                <a:schemeClr val="accent4">
                  <a:lumMod val="75000"/>
                </a:schemeClr>
              </a:solidFill>
            </a:endParaRPr>
          </a:p>
        </p:txBody>
      </p:sp>
      <p:sp>
        <p:nvSpPr>
          <p:cNvPr id="3" name="Rectangle 2">
            <a:extLst>
              <a:ext uri="{FF2B5EF4-FFF2-40B4-BE49-F238E27FC236}">
                <a16:creationId xmlns:a16="http://schemas.microsoft.com/office/drawing/2014/main" id="{7EB18378-B5B4-A598-12D2-8BE2C8A9275D}"/>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FF2B5EF4-FFF2-40B4-BE49-F238E27FC236}">
                <a16:creationId xmlns:a16="http://schemas.microsoft.com/office/drawing/2014/main" id="{30EECC1F-EFE9-7952-23AA-3F82C6D0AE0D}"/>
              </a:ext>
            </a:extLst>
          </p:cNvPr>
          <p:cNvPicPr>
            <a:picLocks noChangeAspect="1"/>
          </p:cNvPicPr>
          <p:nvPr/>
        </p:nvPicPr>
        <p:blipFill>
          <a:blip r:embed="rId3"/>
          <a:srcRect l="4293" t="22513" r="71649" b="4930"/>
          <a:stretch>
            <a:fillRect/>
          </a:stretch>
        </p:blipFill>
        <p:spPr>
          <a:xfrm>
            <a:off x="731519" y="1365285"/>
            <a:ext cx="2940149" cy="2820650"/>
          </a:xfrm>
          <a:prstGeom prst="rect">
            <a:avLst/>
          </a:prstGeom>
        </p:spPr>
      </p:pic>
      <p:sp>
        <p:nvSpPr>
          <p:cNvPr id="10" name="TextBox 9">
            <a:extLst>
              <a:ext uri="{FF2B5EF4-FFF2-40B4-BE49-F238E27FC236}">
                <a16:creationId xmlns:a16="http://schemas.microsoft.com/office/drawing/2014/main" id="{C6D76134-3F13-3A20-E8CE-0CD6921FCC0E}"/>
              </a:ext>
            </a:extLst>
          </p:cNvPr>
          <p:cNvSpPr txBox="1"/>
          <p:nvPr/>
        </p:nvSpPr>
        <p:spPr>
          <a:xfrm>
            <a:off x="3990798" y="1889787"/>
            <a:ext cx="1374185" cy="2308324"/>
          </a:xfrm>
          <a:prstGeom prst="rect">
            <a:avLst/>
          </a:prstGeom>
          <a:noFill/>
        </p:spPr>
        <p:txBody>
          <a:bodyPr wrap="square">
            <a:spAutoFit/>
          </a:bodyPr>
          <a:lstStyle/>
          <a:p>
            <a:r>
              <a:rPr lang="en-US" sz="2800" b="1" dirty="0">
                <a:solidFill>
                  <a:schemeClr val="accent4">
                    <a:lumMod val="75000"/>
                  </a:schemeClr>
                </a:solidFill>
                <a:latin typeface="Calibri" panose="020F0502020204030204" pitchFamily="34" charset="0"/>
                <a:cs typeface="Calibri" panose="020F0502020204030204" pitchFamily="34" charset="0"/>
              </a:rPr>
              <a:t>Run 1 </a:t>
            </a:r>
            <a:r>
              <a:rPr lang="el-GR" sz="2800" b="1" dirty="0">
                <a:solidFill>
                  <a:srgbClr val="0070C0"/>
                </a:solidFill>
              </a:rPr>
              <a:t>ρ</a:t>
            </a:r>
            <a:endParaRPr lang="en-US" sz="2800" b="1" dirty="0">
              <a:solidFill>
                <a:schemeClr val="accent4">
                  <a:lumMod val="75000"/>
                </a:schemeClr>
              </a:solidFill>
              <a:latin typeface="Calibri" panose="020F0502020204030204" pitchFamily="34" charset="0"/>
              <a:cs typeface="Calibri" panose="020F0502020204030204" pitchFamily="34" charset="0"/>
            </a:endParaRPr>
          </a:p>
          <a:p>
            <a:r>
              <a:rPr lang="en-US" sz="2800" b="1" dirty="0">
                <a:solidFill>
                  <a:schemeClr val="accent4">
                    <a:lumMod val="75000"/>
                  </a:schemeClr>
                </a:solidFill>
                <a:latin typeface="Calibri" panose="020F0502020204030204" pitchFamily="34" charset="0"/>
                <a:cs typeface="Calibri" panose="020F0502020204030204" pitchFamily="34" charset="0"/>
              </a:rPr>
              <a:t>Run 2 </a:t>
            </a:r>
            <a:r>
              <a:rPr lang="el-GR" sz="2800" b="1" dirty="0">
                <a:solidFill>
                  <a:srgbClr val="0070C0"/>
                </a:solidFill>
              </a:rPr>
              <a:t>ρ</a:t>
            </a:r>
            <a:endParaRPr lang="en-US" sz="2800" b="1" dirty="0">
              <a:solidFill>
                <a:schemeClr val="accent4">
                  <a:lumMod val="75000"/>
                </a:schemeClr>
              </a:solidFill>
              <a:latin typeface="Calibri" panose="020F0502020204030204" pitchFamily="34" charset="0"/>
              <a:cs typeface="Calibri" panose="020F0502020204030204" pitchFamily="34" charset="0"/>
            </a:endParaRPr>
          </a:p>
          <a:p>
            <a:r>
              <a:rPr lang="en-US" sz="2800" b="1" dirty="0">
                <a:solidFill>
                  <a:schemeClr val="accent4">
                    <a:lumMod val="75000"/>
                  </a:schemeClr>
                </a:solidFill>
                <a:latin typeface="Calibri" panose="020F0502020204030204" pitchFamily="34" charset="0"/>
                <a:cs typeface="Calibri" panose="020F0502020204030204" pitchFamily="34" charset="0"/>
              </a:rPr>
              <a:t>Run 3 </a:t>
            </a:r>
            <a:r>
              <a:rPr lang="el-GR" sz="2800" b="1" dirty="0">
                <a:solidFill>
                  <a:srgbClr val="0070C0"/>
                </a:solidFill>
              </a:rPr>
              <a:t>ρ</a:t>
            </a:r>
            <a:endParaRPr lang="en-US" sz="2800" b="1" dirty="0">
              <a:solidFill>
                <a:schemeClr val="accent4">
                  <a:lumMod val="75000"/>
                </a:schemeClr>
              </a:solidFill>
              <a:latin typeface="Calibri" panose="020F0502020204030204" pitchFamily="34" charset="0"/>
              <a:cs typeface="Calibri" panose="020F0502020204030204" pitchFamily="34" charset="0"/>
            </a:endParaRPr>
          </a:p>
          <a:p>
            <a:r>
              <a:rPr lang="en-US" sz="2800" b="1" dirty="0">
                <a:solidFill>
                  <a:schemeClr val="accent4">
                    <a:lumMod val="75000"/>
                  </a:schemeClr>
                </a:solidFill>
                <a:latin typeface="Calibri" panose="020F0502020204030204" pitchFamily="34" charset="0"/>
                <a:cs typeface="Calibri" panose="020F0502020204030204" pitchFamily="34" charset="0"/>
              </a:rPr>
              <a:t>Run 4 </a:t>
            </a:r>
            <a:r>
              <a:rPr lang="el-GR" sz="2800" b="1" dirty="0">
                <a:solidFill>
                  <a:srgbClr val="0070C0"/>
                </a:solidFill>
              </a:rPr>
              <a:t>ρ</a:t>
            </a:r>
            <a:endParaRPr lang="en-US" sz="2800" b="1" dirty="0">
              <a:solidFill>
                <a:schemeClr val="accent4">
                  <a:lumMod val="75000"/>
                </a:schemeClr>
              </a:solidFill>
              <a:latin typeface="Calibri" panose="020F0502020204030204" pitchFamily="34" charset="0"/>
              <a:cs typeface="Calibri" panose="020F0502020204030204" pitchFamily="34" charset="0"/>
            </a:endParaRPr>
          </a:p>
          <a:p>
            <a:endParaRPr lang="en-US" sz="3200" b="1" dirty="0">
              <a:solidFill>
                <a:schemeClr val="accent4">
                  <a:lumMod val="75000"/>
                </a:schemeClr>
              </a:solidFill>
            </a:endParaRPr>
          </a:p>
        </p:txBody>
      </p:sp>
      <p:pic>
        <p:nvPicPr>
          <p:cNvPr id="13" name="Picture 12">
            <a:extLst>
              <a:ext uri="{FF2B5EF4-FFF2-40B4-BE49-F238E27FC236}">
                <a16:creationId xmlns:a16="http://schemas.microsoft.com/office/drawing/2014/main" id="{AE114853-715F-8FCB-8A16-534692650ADD}"/>
              </a:ext>
            </a:extLst>
          </p:cNvPr>
          <p:cNvPicPr>
            <a:picLocks noChangeAspect="1"/>
          </p:cNvPicPr>
          <p:nvPr/>
        </p:nvPicPr>
        <p:blipFill>
          <a:blip r:embed="rId4"/>
          <a:stretch>
            <a:fillRect/>
          </a:stretch>
        </p:blipFill>
        <p:spPr>
          <a:xfrm rot="16200000">
            <a:off x="1954402" y="4581985"/>
            <a:ext cx="1059435" cy="267334"/>
          </a:xfrm>
          <a:prstGeom prst="rect">
            <a:avLst/>
          </a:prstGeom>
        </p:spPr>
      </p:pic>
      <p:pic>
        <p:nvPicPr>
          <p:cNvPr id="4" name="Picture 3">
            <a:extLst>
              <a:ext uri="{FF2B5EF4-FFF2-40B4-BE49-F238E27FC236}">
                <a16:creationId xmlns:a16="http://schemas.microsoft.com/office/drawing/2014/main" id="{D83644A1-7731-FDD9-5993-94E518FE1B0A}"/>
              </a:ext>
            </a:extLst>
          </p:cNvPr>
          <p:cNvPicPr>
            <a:picLocks noChangeAspect="1"/>
          </p:cNvPicPr>
          <p:nvPr/>
        </p:nvPicPr>
        <p:blipFill>
          <a:blip r:embed="rId5"/>
          <a:srcRect l="-1196" t="4468" r="1196" b="77566"/>
          <a:stretch>
            <a:fillRect/>
          </a:stretch>
        </p:blipFill>
        <p:spPr>
          <a:xfrm>
            <a:off x="219351" y="5075359"/>
            <a:ext cx="8917078" cy="340023"/>
          </a:xfrm>
          <a:prstGeom prst="rect">
            <a:avLst/>
          </a:prstGeom>
        </p:spPr>
      </p:pic>
      <p:pic>
        <p:nvPicPr>
          <p:cNvPr id="7" name="Picture 6">
            <a:extLst>
              <a:ext uri="{FF2B5EF4-FFF2-40B4-BE49-F238E27FC236}">
                <a16:creationId xmlns:a16="http://schemas.microsoft.com/office/drawing/2014/main" id="{6D0586AA-7693-6E54-A9AD-107DAFE0A2FB}"/>
              </a:ext>
            </a:extLst>
          </p:cNvPr>
          <p:cNvPicPr>
            <a:picLocks noChangeAspect="1"/>
          </p:cNvPicPr>
          <p:nvPr/>
        </p:nvPicPr>
        <p:blipFill>
          <a:blip r:embed="rId5"/>
          <a:srcRect t="20555" b="14587"/>
          <a:stretch>
            <a:fillRect/>
          </a:stretch>
        </p:blipFill>
        <p:spPr>
          <a:xfrm>
            <a:off x="387128" y="5492715"/>
            <a:ext cx="8917078" cy="1227543"/>
          </a:xfrm>
          <a:prstGeom prst="rect">
            <a:avLst/>
          </a:prstGeom>
        </p:spPr>
      </p:pic>
    </p:spTree>
    <p:extLst>
      <p:ext uri="{BB962C8B-B14F-4D97-AF65-F5344CB8AC3E}">
        <p14:creationId xmlns:p14="http://schemas.microsoft.com/office/powerpoint/2010/main" val="3679572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003D0-B8BF-E8B1-BD42-DE84FBBE61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0B319C-7C42-5A72-0C14-4D8BCC893CC0}"/>
              </a:ext>
            </a:extLst>
          </p:cNvPr>
          <p:cNvSpPr txBox="1"/>
          <p:nvPr/>
        </p:nvSpPr>
        <p:spPr>
          <a:xfrm>
            <a:off x="731519" y="387750"/>
            <a:ext cx="10515600" cy="523220"/>
          </a:xfrm>
          <a:prstGeom prst="rect">
            <a:avLst/>
          </a:prstGeom>
          <a:noFill/>
        </p:spPr>
        <p:txBody>
          <a:bodyPr wrap="square">
            <a:spAutoFit/>
          </a:bodyPr>
          <a:lstStyle/>
          <a:p>
            <a:r>
              <a:rPr lang="en-US" sz="2800" b="1" dirty="0">
                <a:solidFill>
                  <a:srgbClr val="002060"/>
                </a:solidFill>
              </a:rPr>
              <a:t>Within-subject slope moderation analysis.</a:t>
            </a:r>
            <a:endParaRPr lang="en-US" sz="4400" b="1" dirty="0">
              <a:solidFill>
                <a:srgbClr val="002060"/>
              </a:solidFill>
            </a:endParaRPr>
          </a:p>
        </p:txBody>
      </p:sp>
      <p:sp>
        <p:nvSpPr>
          <p:cNvPr id="3" name="Rectangle 2">
            <a:extLst>
              <a:ext uri="{FF2B5EF4-FFF2-40B4-BE49-F238E27FC236}">
                <a16:creationId xmlns:a16="http://schemas.microsoft.com/office/drawing/2014/main" id="{1410AFEE-960B-0865-7FA1-2D2BB8EB9FC7}"/>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8572530-71D6-1B97-393F-86446C78A247}"/>
              </a:ext>
            </a:extLst>
          </p:cNvPr>
          <p:cNvSpPr txBox="1"/>
          <p:nvPr/>
        </p:nvSpPr>
        <p:spPr>
          <a:xfrm>
            <a:off x="606899" y="1415087"/>
            <a:ext cx="10266360" cy="2246769"/>
          </a:xfrm>
          <a:prstGeom prst="rect">
            <a:avLst/>
          </a:prstGeom>
          <a:noFill/>
        </p:spPr>
        <p:txBody>
          <a:bodyPr wrap="square">
            <a:spAutoFit/>
          </a:bodyPr>
          <a:lstStyle/>
          <a:p>
            <a:r>
              <a:rPr lang="en-US" sz="2800" dirty="0">
                <a:latin typeface="Calibri" panose="020F0502020204030204" pitchFamily="34" charset="0"/>
                <a:cs typeface="Calibri" panose="020F0502020204030204" pitchFamily="34" charset="0"/>
              </a:rPr>
              <a:t>We used a linear mixed-effects moderation to test whether baseline alignment and the rate of increase per run were moderated by social anxiety.</a:t>
            </a:r>
          </a:p>
          <a:p>
            <a:pPr>
              <a:buNone/>
            </a:pPr>
            <a:br>
              <a:rPr lang="en-US" sz="2800" b="1" dirty="0">
                <a:solidFill>
                  <a:schemeClr val="accent4">
                    <a:lumMod val="50000"/>
                  </a:schemeClr>
                </a:solidFill>
              </a:rPr>
            </a:br>
            <a:endParaRPr lang="en-US" sz="2800" b="1" dirty="0">
              <a:solidFill>
                <a:schemeClr val="accent4">
                  <a:lumMod val="50000"/>
                </a:schemeClr>
              </a:solidFill>
            </a:endParaRPr>
          </a:p>
        </p:txBody>
      </p:sp>
      <p:sp>
        <p:nvSpPr>
          <p:cNvPr id="11" name="TextBox 10">
            <a:extLst>
              <a:ext uri="{FF2B5EF4-FFF2-40B4-BE49-F238E27FC236}">
                <a16:creationId xmlns:a16="http://schemas.microsoft.com/office/drawing/2014/main" id="{619FBB59-1D07-ED89-0441-7364C676B99C}"/>
              </a:ext>
            </a:extLst>
          </p:cNvPr>
          <p:cNvSpPr txBox="1"/>
          <p:nvPr/>
        </p:nvSpPr>
        <p:spPr>
          <a:xfrm>
            <a:off x="606899" y="3499277"/>
            <a:ext cx="10515600" cy="2246769"/>
          </a:xfrm>
          <a:prstGeom prst="rect">
            <a:avLst/>
          </a:prstGeom>
          <a:noFill/>
        </p:spPr>
        <p:txBody>
          <a:bodyPr wrap="square">
            <a:spAutoFit/>
          </a:bodyPr>
          <a:lstStyle/>
          <a:p>
            <a:r>
              <a:rPr lang="en-US" sz="2800" dirty="0">
                <a:latin typeface="+mj-lt"/>
              </a:rPr>
              <a:t>L</a:t>
            </a:r>
            <a:r>
              <a:rPr lang="en-US" sz="2800" b="0" i="0" dirty="0">
                <a:effectLst/>
                <a:latin typeface="+mj-lt"/>
              </a:rPr>
              <a:t>inear OLS mixed-effects moderation: </a:t>
            </a:r>
          </a:p>
          <a:p>
            <a:endParaRPr lang="en-US" sz="2800" dirty="0">
              <a:solidFill>
                <a:srgbClr val="C00000"/>
              </a:solidFill>
              <a:latin typeface="+mj-lt"/>
            </a:endParaRPr>
          </a:p>
          <a:p>
            <a:r>
              <a:rPr lang="en-US" sz="2800" dirty="0">
                <a:latin typeface="+mj-lt"/>
              </a:rPr>
              <a:t>neural–model fit = </a:t>
            </a:r>
            <a:r>
              <a:rPr lang="en-US" sz="2800" dirty="0">
                <a:solidFill>
                  <a:schemeClr val="tx2">
                    <a:lumMod val="60000"/>
                    <a:lumOff val="40000"/>
                  </a:schemeClr>
                </a:solidFill>
                <a:latin typeface="+mj-lt"/>
              </a:rPr>
              <a:t>b0 baseline alignment + b2 alignment increase per run </a:t>
            </a:r>
            <a:r>
              <a:rPr lang="en-US" sz="2800" dirty="0">
                <a:latin typeface="+mj-lt"/>
              </a:rPr>
              <a:t>+ </a:t>
            </a:r>
            <a:r>
              <a:rPr lang="en-US" sz="2800" dirty="0">
                <a:solidFill>
                  <a:srgbClr val="C00000"/>
                </a:solidFill>
                <a:latin typeface="+mj-lt"/>
              </a:rPr>
              <a:t>b3 SA * total alignment + SA * alignment increase </a:t>
            </a:r>
          </a:p>
          <a:p>
            <a:endParaRPr lang="en-US" sz="2800" dirty="0">
              <a:solidFill>
                <a:srgbClr val="C00000"/>
              </a:solidFill>
              <a:latin typeface="+mj-lt"/>
            </a:endParaRPr>
          </a:p>
        </p:txBody>
      </p:sp>
    </p:spTree>
    <p:extLst>
      <p:ext uri="{BB962C8B-B14F-4D97-AF65-F5344CB8AC3E}">
        <p14:creationId xmlns:p14="http://schemas.microsoft.com/office/powerpoint/2010/main" val="42716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1403B-5814-BDC7-7FE7-7511C9E4A9A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FAFDBB-7DA7-5BB9-E029-B1D2B2D0C661}"/>
              </a:ext>
            </a:extLst>
          </p:cNvPr>
          <p:cNvSpPr txBox="1"/>
          <p:nvPr/>
        </p:nvSpPr>
        <p:spPr>
          <a:xfrm>
            <a:off x="731518" y="387750"/>
            <a:ext cx="11460481"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Results:</a:t>
            </a:r>
            <a:endParaRPr lang="en-US" sz="3200" b="1" dirty="0">
              <a:solidFill>
                <a:schemeClr val="accent4">
                  <a:lumMod val="75000"/>
                </a:schemeClr>
              </a:solidFill>
            </a:endParaRPr>
          </a:p>
        </p:txBody>
      </p:sp>
      <p:sp>
        <p:nvSpPr>
          <p:cNvPr id="3" name="Rectangle 2">
            <a:extLst>
              <a:ext uri="{FF2B5EF4-FFF2-40B4-BE49-F238E27FC236}">
                <a16:creationId xmlns:a16="http://schemas.microsoft.com/office/drawing/2014/main" id="{F2A907BE-22D9-53B5-9B26-CE3CE4523648}"/>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0FE5A820-DE2F-7A2E-E0E8-49DC85BBDC4D}"/>
              </a:ext>
            </a:extLst>
          </p:cNvPr>
          <p:cNvPicPr>
            <a:picLocks noChangeAspect="1"/>
          </p:cNvPicPr>
          <p:nvPr/>
        </p:nvPicPr>
        <p:blipFill>
          <a:blip r:embed="rId3"/>
          <a:stretch>
            <a:fillRect/>
          </a:stretch>
        </p:blipFill>
        <p:spPr>
          <a:xfrm>
            <a:off x="540244" y="1975686"/>
            <a:ext cx="4384261" cy="4260512"/>
          </a:xfrm>
          <a:prstGeom prst="rect">
            <a:avLst/>
          </a:prstGeom>
        </p:spPr>
      </p:pic>
      <p:pic>
        <p:nvPicPr>
          <p:cNvPr id="6" name="Picture 5">
            <a:extLst>
              <a:ext uri="{FF2B5EF4-FFF2-40B4-BE49-F238E27FC236}">
                <a16:creationId xmlns:a16="http://schemas.microsoft.com/office/drawing/2014/main" id="{1EDE51A3-7ED3-34EA-7776-B5D3EEF162B5}"/>
              </a:ext>
            </a:extLst>
          </p:cNvPr>
          <p:cNvPicPr>
            <a:picLocks noChangeAspect="1"/>
          </p:cNvPicPr>
          <p:nvPr/>
        </p:nvPicPr>
        <p:blipFill>
          <a:blip r:embed="rId4"/>
          <a:stretch>
            <a:fillRect/>
          </a:stretch>
        </p:blipFill>
        <p:spPr>
          <a:xfrm>
            <a:off x="4675307" y="2046869"/>
            <a:ext cx="5549900" cy="2324100"/>
          </a:xfrm>
          <a:prstGeom prst="rect">
            <a:avLst/>
          </a:prstGeom>
        </p:spPr>
      </p:pic>
      <p:pic>
        <p:nvPicPr>
          <p:cNvPr id="9" name="Picture 8">
            <a:extLst>
              <a:ext uri="{FF2B5EF4-FFF2-40B4-BE49-F238E27FC236}">
                <a16:creationId xmlns:a16="http://schemas.microsoft.com/office/drawing/2014/main" id="{C4B227A1-7432-2367-5F14-406DB6E4EAC3}"/>
              </a:ext>
            </a:extLst>
          </p:cNvPr>
          <p:cNvPicPr>
            <a:picLocks noChangeAspect="1"/>
          </p:cNvPicPr>
          <p:nvPr/>
        </p:nvPicPr>
        <p:blipFill>
          <a:blip r:embed="rId5"/>
          <a:stretch>
            <a:fillRect/>
          </a:stretch>
        </p:blipFill>
        <p:spPr>
          <a:xfrm>
            <a:off x="5330170" y="4511863"/>
            <a:ext cx="4902200" cy="1866900"/>
          </a:xfrm>
          <a:prstGeom prst="rect">
            <a:avLst/>
          </a:prstGeom>
        </p:spPr>
      </p:pic>
      <p:sp>
        <p:nvSpPr>
          <p:cNvPr id="7" name="TextBox 6">
            <a:extLst>
              <a:ext uri="{FF2B5EF4-FFF2-40B4-BE49-F238E27FC236}">
                <a16:creationId xmlns:a16="http://schemas.microsoft.com/office/drawing/2014/main" id="{B6E8BC92-F4C5-B8B2-4742-B9055D6937BC}"/>
              </a:ext>
            </a:extLst>
          </p:cNvPr>
          <p:cNvSpPr txBox="1"/>
          <p:nvPr/>
        </p:nvSpPr>
        <p:spPr>
          <a:xfrm>
            <a:off x="858840" y="1217309"/>
            <a:ext cx="8942660"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SAD predicted increased alignment rate &amp; accuracy </a:t>
            </a:r>
          </a:p>
        </p:txBody>
      </p:sp>
    </p:spTree>
    <p:extLst>
      <p:ext uri="{BB962C8B-B14F-4D97-AF65-F5344CB8AC3E}">
        <p14:creationId xmlns:p14="http://schemas.microsoft.com/office/powerpoint/2010/main" val="577730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F76D2-6F11-B016-97CA-6E1A4ECA1D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922362-E350-FF78-A8AB-C11DA1C39FDD}"/>
              </a:ext>
            </a:extLst>
          </p:cNvPr>
          <p:cNvSpPr txBox="1"/>
          <p:nvPr/>
        </p:nvSpPr>
        <p:spPr>
          <a:xfrm>
            <a:off x="731518" y="387750"/>
            <a:ext cx="11460481"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SAD increased alignment rate: </a:t>
            </a:r>
            <a:r>
              <a:rPr lang="en-US" sz="3200" b="1" dirty="0">
                <a:solidFill>
                  <a:schemeClr val="accent4">
                    <a:lumMod val="75000"/>
                  </a:schemeClr>
                </a:solidFill>
                <a:latin typeface="Calibri" panose="020F0502020204030204" pitchFamily="34" charset="0"/>
                <a:cs typeface="Calibri" panose="020F0502020204030204" pitchFamily="34" charset="0"/>
              </a:rPr>
              <a:t>mentalizing regions </a:t>
            </a:r>
            <a:endParaRPr lang="en-US" sz="3200" b="1" dirty="0">
              <a:solidFill>
                <a:schemeClr val="accent4">
                  <a:lumMod val="75000"/>
                </a:schemeClr>
              </a:solidFill>
            </a:endParaRPr>
          </a:p>
        </p:txBody>
      </p:sp>
      <p:sp>
        <p:nvSpPr>
          <p:cNvPr id="3" name="Rectangle 2">
            <a:extLst>
              <a:ext uri="{FF2B5EF4-FFF2-40B4-BE49-F238E27FC236}">
                <a16:creationId xmlns:a16="http://schemas.microsoft.com/office/drawing/2014/main" id="{EAFBA7AF-5BC3-AE06-C5F1-A578F47257B5}"/>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0A2CC83-8743-7379-437B-A47F3D90D10C}"/>
              </a:ext>
            </a:extLst>
          </p:cNvPr>
          <p:cNvSpPr txBox="1"/>
          <p:nvPr/>
        </p:nvSpPr>
        <p:spPr>
          <a:xfrm>
            <a:off x="8963903" y="1953026"/>
            <a:ext cx="6096000" cy="1015663"/>
          </a:xfrm>
          <a:prstGeom prst="rect">
            <a:avLst/>
          </a:prstGeom>
          <a:noFill/>
        </p:spPr>
        <p:txBody>
          <a:bodyPr wrap="square">
            <a:spAutoFit/>
          </a:bodyPr>
          <a:lstStyle/>
          <a:p>
            <a:pPr>
              <a:buNone/>
            </a:pPr>
            <a:r>
              <a:rPr lang="en-US" sz="2000" dirty="0">
                <a:effectLst/>
                <a:latin typeface="Calibri" panose="020F0502020204030204" pitchFamily="34" charset="0"/>
                <a:cs typeface="Calibri" panose="020F0502020204030204" pitchFamily="34" charset="0"/>
              </a:rPr>
              <a:t>+0.032 / run</a:t>
            </a:r>
          </a:p>
          <a:p>
            <a:pPr>
              <a:buNone/>
            </a:pPr>
            <a:r>
              <a:rPr lang="en-US" sz="2000" dirty="0">
                <a:latin typeface="Calibri" panose="020F0502020204030204" pitchFamily="34" charset="0"/>
                <a:cs typeface="Calibri" panose="020F0502020204030204" pitchFamily="34" charset="0"/>
              </a:rPr>
              <a:t>P = 0.0013</a:t>
            </a:r>
          </a:p>
          <a:p>
            <a:pPr>
              <a:buNone/>
            </a:pPr>
            <a:r>
              <a:rPr lang="en-US" sz="2000" b="1" cap="all" dirty="0" err="1">
                <a:latin typeface="Calibri" panose="020F0502020204030204" pitchFamily="34" charset="0"/>
                <a:cs typeface="Calibri" panose="020F0502020204030204" pitchFamily="34" charset="0"/>
              </a:rPr>
              <a:t>q</a:t>
            </a:r>
            <a:r>
              <a:rPr lang="en-US" sz="2000" b="1" cap="all" baseline="-25000" dirty="0" err="1">
                <a:latin typeface="Calibri" panose="020F0502020204030204" pitchFamily="34" charset="0"/>
                <a:cs typeface="Calibri" panose="020F0502020204030204" pitchFamily="34" charset="0"/>
              </a:rPr>
              <a:t>FDR</a:t>
            </a:r>
            <a:r>
              <a:rPr lang="en-US" sz="2000" b="1" cap="all" baseline="-25000" dirty="0">
                <a:latin typeface="Calibri" panose="020F0502020204030204" pitchFamily="34" charset="0"/>
                <a:cs typeface="Calibri" panose="020F0502020204030204" pitchFamily="34" charset="0"/>
              </a:rPr>
              <a:t> = </a:t>
            </a:r>
            <a:r>
              <a:rPr lang="en-US" sz="2000" dirty="0">
                <a:latin typeface="Calibri" panose="020F0502020204030204" pitchFamily="34" charset="0"/>
                <a:cs typeface="Calibri" panose="020F0502020204030204" pitchFamily="34" charset="0"/>
              </a:rPr>
              <a:t>0.045</a:t>
            </a:r>
            <a:endParaRPr lang="en-US" sz="2000" dirty="0">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8690B030-266C-2772-5334-E2940D2B806F}"/>
              </a:ext>
            </a:extLst>
          </p:cNvPr>
          <p:cNvSpPr txBox="1"/>
          <p:nvPr/>
        </p:nvSpPr>
        <p:spPr>
          <a:xfrm>
            <a:off x="8879520" y="4559509"/>
            <a:ext cx="6096000" cy="707886"/>
          </a:xfrm>
          <a:prstGeom prst="rect">
            <a:avLst/>
          </a:prstGeom>
          <a:noFill/>
        </p:spPr>
        <p:txBody>
          <a:bodyPr wrap="square">
            <a:spAutoFit/>
          </a:bodyPr>
          <a:lstStyle/>
          <a:p>
            <a:pPr>
              <a:buNone/>
            </a:pPr>
            <a:r>
              <a:rPr lang="en-US" sz="2000" dirty="0">
                <a:effectLst/>
                <a:latin typeface="Calibri" panose="020F0502020204030204" pitchFamily="34" charset="0"/>
                <a:cs typeface="Calibri" panose="020F0502020204030204" pitchFamily="34" charset="0"/>
              </a:rPr>
              <a:t>+0.027 / run</a:t>
            </a:r>
          </a:p>
          <a:p>
            <a:pPr>
              <a:buNone/>
            </a:pPr>
            <a:r>
              <a:rPr lang="en-US" sz="2000" dirty="0">
                <a:latin typeface="Calibri" panose="020F0502020204030204" pitchFamily="34" charset="0"/>
                <a:cs typeface="Calibri" panose="020F0502020204030204" pitchFamily="34" charset="0"/>
              </a:rPr>
              <a:t>P = 0.0160</a:t>
            </a:r>
          </a:p>
        </p:txBody>
      </p:sp>
      <p:grpSp>
        <p:nvGrpSpPr>
          <p:cNvPr id="12" name="Group 11">
            <a:extLst>
              <a:ext uri="{FF2B5EF4-FFF2-40B4-BE49-F238E27FC236}">
                <a16:creationId xmlns:a16="http://schemas.microsoft.com/office/drawing/2014/main" id="{925DB8EC-0138-8EC3-0DD7-764690C9D410}"/>
              </a:ext>
            </a:extLst>
          </p:cNvPr>
          <p:cNvGrpSpPr/>
          <p:nvPr/>
        </p:nvGrpSpPr>
        <p:grpSpPr>
          <a:xfrm>
            <a:off x="180098" y="1402784"/>
            <a:ext cx="8329492" cy="2231082"/>
            <a:chOff x="180098" y="1402784"/>
            <a:chExt cx="8329492" cy="2231082"/>
          </a:xfrm>
        </p:grpSpPr>
        <p:pic>
          <p:nvPicPr>
            <p:cNvPr id="6" name="Picture 5">
              <a:extLst>
                <a:ext uri="{FF2B5EF4-FFF2-40B4-BE49-F238E27FC236}">
                  <a16:creationId xmlns:a16="http://schemas.microsoft.com/office/drawing/2014/main" id="{8EEE06C1-9086-6917-E284-489D44C00CB7}"/>
                </a:ext>
              </a:extLst>
            </p:cNvPr>
            <p:cNvPicPr>
              <a:picLocks noChangeAspect="1"/>
            </p:cNvPicPr>
            <p:nvPr/>
          </p:nvPicPr>
          <p:blipFill>
            <a:blip r:embed="rId3"/>
            <a:srcRect r="3438"/>
            <a:stretch>
              <a:fillRect/>
            </a:stretch>
          </p:blipFill>
          <p:spPr>
            <a:xfrm>
              <a:off x="180098" y="1402784"/>
              <a:ext cx="8329492" cy="2231082"/>
            </a:xfrm>
            <a:prstGeom prst="rect">
              <a:avLst/>
            </a:prstGeom>
          </p:spPr>
        </p:pic>
        <p:grpSp>
          <p:nvGrpSpPr>
            <p:cNvPr id="4" name="Group 3">
              <a:extLst>
                <a:ext uri="{FF2B5EF4-FFF2-40B4-BE49-F238E27FC236}">
                  <a16:creationId xmlns:a16="http://schemas.microsoft.com/office/drawing/2014/main" id="{F9430FDB-0066-163D-284C-7D651A1CE16D}"/>
                </a:ext>
              </a:extLst>
            </p:cNvPr>
            <p:cNvGrpSpPr/>
            <p:nvPr/>
          </p:nvGrpSpPr>
          <p:grpSpPr>
            <a:xfrm>
              <a:off x="345689" y="1541846"/>
              <a:ext cx="4778855" cy="1952958"/>
              <a:chOff x="274320" y="1396157"/>
              <a:chExt cx="4537989" cy="2103120"/>
            </a:xfrm>
          </p:grpSpPr>
          <p:pic>
            <p:nvPicPr>
              <p:cNvPr id="7" name="Picture 6" descr="rACC.png">
                <a:extLst>
                  <a:ext uri="{FF2B5EF4-FFF2-40B4-BE49-F238E27FC236}">
                    <a16:creationId xmlns:a16="http://schemas.microsoft.com/office/drawing/2014/main" id="{0153E9C3-3BEC-FB21-BE40-DC3159958AB7}"/>
                  </a:ext>
                </a:extLst>
              </p:cNvPr>
              <p:cNvPicPr>
                <a:picLocks noChangeAspect="1"/>
              </p:cNvPicPr>
              <p:nvPr/>
            </p:nvPicPr>
            <p:blipFill>
              <a:blip r:embed="rId4"/>
              <a:srcRect r="61777"/>
              <a:stretch>
                <a:fillRect/>
              </a:stretch>
            </p:blipFill>
            <p:spPr>
              <a:xfrm>
                <a:off x="274320" y="1396157"/>
                <a:ext cx="2446578" cy="2103120"/>
              </a:xfrm>
              <a:prstGeom prst="rect">
                <a:avLst/>
              </a:prstGeom>
            </p:spPr>
          </p:pic>
          <p:pic>
            <p:nvPicPr>
              <p:cNvPr id="10" name="Picture 9" descr="rACC.png">
                <a:extLst>
                  <a:ext uri="{FF2B5EF4-FFF2-40B4-BE49-F238E27FC236}">
                    <a16:creationId xmlns:a16="http://schemas.microsoft.com/office/drawing/2014/main" id="{C7626ACB-47E7-CC5D-5FA0-C69879FDD4BC}"/>
                  </a:ext>
                </a:extLst>
              </p:cNvPr>
              <p:cNvPicPr>
                <a:picLocks noChangeAspect="1"/>
              </p:cNvPicPr>
              <p:nvPr/>
            </p:nvPicPr>
            <p:blipFill>
              <a:blip r:embed="rId4"/>
              <a:srcRect l="66866"/>
              <a:stretch>
                <a:fillRect/>
              </a:stretch>
            </p:blipFill>
            <p:spPr>
              <a:xfrm>
                <a:off x="2691483" y="1396157"/>
                <a:ext cx="2120826" cy="2103120"/>
              </a:xfrm>
              <a:prstGeom prst="rect">
                <a:avLst/>
              </a:prstGeom>
            </p:spPr>
          </p:pic>
        </p:grpSp>
      </p:grpSp>
      <p:grpSp>
        <p:nvGrpSpPr>
          <p:cNvPr id="16" name="Group 15">
            <a:extLst>
              <a:ext uri="{FF2B5EF4-FFF2-40B4-BE49-F238E27FC236}">
                <a16:creationId xmlns:a16="http://schemas.microsoft.com/office/drawing/2014/main" id="{6159D63F-F3ED-AC4A-0F0B-040DE28FC88C}"/>
              </a:ext>
            </a:extLst>
          </p:cNvPr>
          <p:cNvGrpSpPr/>
          <p:nvPr/>
        </p:nvGrpSpPr>
        <p:grpSpPr>
          <a:xfrm>
            <a:off x="222288" y="3786610"/>
            <a:ext cx="8245956" cy="2231082"/>
            <a:chOff x="222288" y="3786610"/>
            <a:chExt cx="8245956" cy="2231082"/>
          </a:xfrm>
        </p:grpSpPr>
        <p:pic>
          <p:nvPicPr>
            <p:cNvPr id="9" name="Picture 8">
              <a:extLst>
                <a:ext uri="{FF2B5EF4-FFF2-40B4-BE49-F238E27FC236}">
                  <a16:creationId xmlns:a16="http://schemas.microsoft.com/office/drawing/2014/main" id="{D3608FBD-BA14-9662-3151-30E55EDD1E8E}"/>
                </a:ext>
              </a:extLst>
            </p:cNvPr>
            <p:cNvPicPr>
              <a:picLocks noChangeAspect="1"/>
            </p:cNvPicPr>
            <p:nvPr/>
          </p:nvPicPr>
          <p:blipFill>
            <a:blip r:embed="rId5"/>
            <a:srcRect r="12561" b="4066"/>
            <a:stretch>
              <a:fillRect/>
            </a:stretch>
          </p:blipFill>
          <p:spPr>
            <a:xfrm>
              <a:off x="222288" y="3786610"/>
              <a:ext cx="8245956" cy="2231082"/>
            </a:xfrm>
            <a:prstGeom prst="rect">
              <a:avLst/>
            </a:prstGeom>
          </p:spPr>
        </p:pic>
        <p:grpSp>
          <p:nvGrpSpPr>
            <p:cNvPr id="13" name="Group 12">
              <a:extLst>
                <a:ext uri="{FF2B5EF4-FFF2-40B4-BE49-F238E27FC236}">
                  <a16:creationId xmlns:a16="http://schemas.microsoft.com/office/drawing/2014/main" id="{EC158FA7-61B6-1889-7B20-D9832D67D051}"/>
                </a:ext>
              </a:extLst>
            </p:cNvPr>
            <p:cNvGrpSpPr/>
            <p:nvPr/>
          </p:nvGrpSpPr>
          <p:grpSpPr>
            <a:xfrm>
              <a:off x="591015" y="3869473"/>
              <a:ext cx="4895385" cy="2148219"/>
              <a:chOff x="274320" y="3977639"/>
              <a:chExt cx="4537988" cy="2103120"/>
            </a:xfrm>
          </p:grpSpPr>
          <p:pic>
            <p:nvPicPr>
              <p:cNvPr id="14" name="Picture 13" descr="dmPFC.png">
                <a:extLst>
                  <a:ext uri="{FF2B5EF4-FFF2-40B4-BE49-F238E27FC236}">
                    <a16:creationId xmlns:a16="http://schemas.microsoft.com/office/drawing/2014/main" id="{9D5EB2E1-EEC2-2A9D-C755-C61C4AD6A53A}"/>
                  </a:ext>
                </a:extLst>
              </p:cNvPr>
              <p:cNvPicPr>
                <a:picLocks noChangeAspect="1"/>
              </p:cNvPicPr>
              <p:nvPr/>
            </p:nvPicPr>
            <p:blipFill>
              <a:blip r:embed="rId6"/>
              <a:srcRect r="61777"/>
              <a:stretch>
                <a:fillRect/>
              </a:stretch>
            </p:blipFill>
            <p:spPr>
              <a:xfrm>
                <a:off x="274320" y="3977639"/>
                <a:ext cx="2446578" cy="2103120"/>
              </a:xfrm>
              <a:prstGeom prst="rect">
                <a:avLst/>
              </a:prstGeom>
            </p:spPr>
          </p:pic>
          <p:pic>
            <p:nvPicPr>
              <p:cNvPr id="15" name="Picture 14" descr="dmPFC.png">
                <a:extLst>
                  <a:ext uri="{FF2B5EF4-FFF2-40B4-BE49-F238E27FC236}">
                    <a16:creationId xmlns:a16="http://schemas.microsoft.com/office/drawing/2014/main" id="{C45CD3D5-58B7-41B7-FCA2-C35EBBD0BA91}"/>
                  </a:ext>
                </a:extLst>
              </p:cNvPr>
              <p:cNvPicPr>
                <a:picLocks noChangeAspect="1"/>
              </p:cNvPicPr>
              <p:nvPr/>
            </p:nvPicPr>
            <p:blipFill>
              <a:blip r:embed="rId6"/>
              <a:srcRect l="66504"/>
              <a:stretch>
                <a:fillRect/>
              </a:stretch>
            </p:blipFill>
            <p:spPr>
              <a:xfrm>
                <a:off x="2668299" y="3984464"/>
                <a:ext cx="2144009" cy="2096295"/>
              </a:xfrm>
              <a:prstGeom prst="rect">
                <a:avLst/>
              </a:prstGeom>
            </p:spPr>
          </p:pic>
        </p:grpSp>
      </p:grpSp>
    </p:spTree>
    <p:extLst>
      <p:ext uri="{BB962C8B-B14F-4D97-AF65-F5344CB8AC3E}">
        <p14:creationId xmlns:p14="http://schemas.microsoft.com/office/powerpoint/2010/main" val="2183204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EA495-49E3-5DD6-034E-C6656A99F9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6BAC3A-F6C7-843E-B37C-6ABCC02514FE}"/>
              </a:ext>
            </a:extLst>
          </p:cNvPr>
          <p:cNvSpPr txBox="1"/>
          <p:nvPr/>
        </p:nvSpPr>
        <p:spPr>
          <a:xfrm>
            <a:off x="731518" y="387750"/>
            <a:ext cx="11460481"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SAD increased alignment rate: </a:t>
            </a:r>
            <a:r>
              <a:rPr lang="en-US" sz="3200" b="1" dirty="0">
                <a:solidFill>
                  <a:schemeClr val="accent4">
                    <a:lumMod val="75000"/>
                  </a:schemeClr>
                </a:solidFill>
                <a:latin typeface="Calibri" panose="020F0502020204030204" pitchFamily="34" charset="0"/>
                <a:cs typeface="Calibri" panose="020F0502020204030204" pitchFamily="34" charset="0"/>
              </a:rPr>
              <a:t>threat/salience regions </a:t>
            </a:r>
            <a:endParaRPr lang="en-US" sz="3200" b="1" dirty="0">
              <a:solidFill>
                <a:schemeClr val="accent4">
                  <a:lumMod val="75000"/>
                </a:schemeClr>
              </a:solidFill>
            </a:endParaRPr>
          </a:p>
        </p:txBody>
      </p:sp>
      <p:sp>
        <p:nvSpPr>
          <p:cNvPr id="3" name="Rectangle 2">
            <a:extLst>
              <a:ext uri="{FF2B5EF4-FFF2-40B4-BE49-F238E27FC236}">
                <a16:creationId xmlns:a16="http://schemas.microsoft.com/office/drawing/2014/main" id="{69FCF385-29A1-1C93-E20E-A37E7FBA0CB2}"/>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D9D21154-6AA7-2ACC-804E-D150F7903182}"/>
              </a:ext>
            </a:extLst>
          </p:cNvPr>
          <p:cNvSpPr txBox="1"/>
          <p:nvPr/>
        </p:nvSpPr>
        <p:spPr>
          <a:xfrm>
            <a:off x="8686800" y="1953025"/>
            <a:ext cx="6373103" cy="707886"/>
          </a:xfrm>
          <a:prstGeom prst="rect">
            <a:avLst/>
          </a:prstGeom>
          <a:noFill/>
        </p:spPr>
        <p:txBody>
          <a:bodyPr wrap="square">
            <a:spAutoFit/>
          </a:bodyPr>
          <a:lstStyle/>
          <a:p>
            <a:pPr>
              <a:buNone/>
            </a:pPr>
            <a:r>
              <a:rPr lang="en-US" sz="2000" dirty="0">
                <a:effectLst/>
                <a:latin typeface="Calibri" panose="020F0502020204030204" pitchFamily="34" charset="0"/>
                <a:cs typeface="Calibri" panose="020F0502020204030204" pitchFamily="34" charset="0"/>
              </a:rPr>
              <a:t>+0.025 / run</a:t>
            </a:r>
          </a:p>
          <a:p>
            <a:r>
              <a:rPr lang="en-US" sz="2000" dirty="0">
                <a:latin typeface="Calibri" panose="020F0502020204030204" pitchFamily="34" charset="0"/>
                <a:cs typeface="Calibri" panose="020F0502020204030204" pitchFamily="34" charset="0"/>
              </a:rPr>
              <a:t>P = 0.0177</a:t>
            </a:r>
          </a:p>
        </p:txBody>
      </p:sp>
      <p:sp>
        <p:nvSpPr>
          <p:cNvPr id="10" name="TextBox 9">
            <a:extLst>
              <a:ext uri="{FF2B5EF4-FFF2-40B4-BE49-F238E27FC236}">
                <a16:creationId xmlns:a16="http://schemas.microsoft.com/office/drawing/2014/main" id="{E734CC14-5EF5-4174-C50B-137CAC8DC444}"/>
              </a:ext>
            </a:extLst>
          </p:cNvPr>
          <p:cNvSpPr txBox="1"/>
          <p:nvPr/>
        </p:nvSpPr>
        <p:spPr>
          <a:xfrm>
            <a:off x="8442960" y="4328160"/>
            <a:ext cx="6532560" cy="707886"/>
          </a:xfrm>
          <a:prstGeom prst="rect">
            <a:avLst/>
          </a:prstGeom>
          <a:noFill/>
        </p:spPr>
        <p:txBody>
          <a:bodyPr wrap="square">
            <a:spAutoFit/>
          </a:bodyPr>
          <a:lstStyle/>
          <a:p>
            <a:pPr>
              <a:buNone/>
            </a:pPr>
            <a:r>
              <a:rPr lang="en-US" sz="2000" dirty="0">
                <a:effectLst/>
                <a:latin typeface="Calibri" panose="020F0502020204030204" pitchFamily="34" charset="0"/>
                <a:cs typeface="Calibri" panose="020F0502020204030204" pitchFamily="34" charset="0"/>
              </a:rPr>
              <a:t>+0.024 / run</a:t>
            </a:r>
          </a:p>
          <a:p>
            <a:pPr>
              <a:buNone/>
            </a:pPr>
            <a:r>
              <a:rPr lang="en-US" sz="2000" dirty="0">
                <a:latin typeface="Calibri" panose="020F0502020204030204" pitchFamily="34" charset="0"/>
                <a:cs typeface="Calibri" panose="020F0502020204030204" pitchFamily="34" charset="0"/>
              </a:rPr>
              <a:t>P = 0.0160</a:t>
            </a:r>
          </a:p>
        </p:txBody>
      </p:sp>
      <p:grpSp>
        <p:nvGrpSpPr>
          <p:cNvPr id="14" name="Group 13">
            <a:extLst>
              <a:ext uri="{FF2B5EF4-FFF2-40B4-BE49-F238E27FC236}">
                <a16:creationId xmlns:a16="http://schemas.microsoft.com/office/drawing/2014/main" id="{3B32CC55-8720-69B1-0231-16BA24DC5423}"/>
              </a:ext>
            </a:extLst>
          </p:cNvPr>
          <p:cNvGrpSpPr/>
          <p:nvPr/>
        </p:nvGrpSpPr>
        <p:grpSpPr>
          <a:xfrm>
            <a:off x="262659" y="1642184"/>
            <a:ext cx="7966941" cy="4528279"/>
            <a:chOff x="262659" y="1642184"/>
            <a:chExt cx="7966941" cy="4528279"/>
          </a:xfrm>
        </p:grpSpPr>
        <p:grpSp>
          <p:nvGrpSpPr>
            <p:cNvPr id="6" name="Group 5">
              <a:extLst>
                <a:ext uri="{FF2B5EF4-FFF2-40B4-BE49-F238E27FC236}">
                  <a16:creationId xmlns:a16="http://schemas.microsoft.com/office/drawing/2014/main" id="{27091BE7-B7CA-E5DB-9FFC-39B26E99C4B5}"/>
                </a:ext>
              </a:extLst>
            </p:cNvPr>
            <p:cNvGrpSpPr/>
            <p:nvPr/>
          </p:nvGrpSpPr>
          <p:grpSpPr>
            <a:xfrm>
              <a:off x="262659" y="1642184"/>
              <a:ext cx="7966941" cy="4528279"/>
              <a:chOff x="262659" y="1642184"/>
              <a:chExt cx="7966941" cy="4528279"/>
            </a:xfrm>
          </p:grpSpPr>
          <p:pic>
            <p:nvPicPr>
              <p:cNvPr id="12" name="Picture 11">
                <a:extLst>
                  <a:ext uri="{FF2B5EF4-FFF2-40B4-BE49-F238E27FC236}">
                    <a16:creationId xmlns:a16="http://schemas.microsoft.com/office/drawing/2014/main" id="{8D29A99A-394D-FBDC-1736-C1113146618B}"/>
                  </a:ext>
                </a:extLst>
              </p:cNvPr>
              <p:cNvPicPr>
                <a:picLocks noChangeAspect="1"/>
              </p:cNvPicPr>
              <p:nvPr/>
            </p:nvPicPr>
            <p:blipFill>
              <a:blip r:embed="rId3"/>
              <a:stretch>
                <a:fillRect/>
              </a:stretch>
            </p:blipFill>
            <p:spPr>
              <a:xfrm>
                <a:off x="262659" y="1642184"/>
                <a:ext cx="7966941" cy="4528279"/>
              </a:xfrm>
              <a:prstGeom prst="rect">
                <a:avLst/>
              </a:prstGeom>
            </p:spPr>
          </p:pic>
          <p:pic>
            <p:nvPicPr>
              <p:cNvPr id="5" name="Picture 4">
                <a:extLst>
                  <a:ext uri="{FF2B5EF4-FFF2-40B4-BE49-F238E27FC236}">
                    <a16:creationId xmlns:a16="http://schemas.microsoft.com/office/drawing/2014/main" id="{9BD5F326-B6DA-BE04-2ED8-DEA38205EDC2}"/>
                  </a:ext>
                </a:extLst>
              </p:cNvPr>
              <p:cNvPicPr>
                <a:picLocks noChangeAspect="1"/>
              </p:cNvPicPr>
              <p:nvPr/>
            </p:nvPicPr>
            <p:blipFill>
              <a:blip r:embed="rId4"/>
              <a:srcRect r="32483"/>
              <a:stretch>
                <a:fillRect/>
              </a:stretch>
            </p:blipFill>
            <p:spPr>
              <a:xfrm>
                <a:off x="372481" y="1748784"/>
                <a:ext cx="4322182" cy="1950461"/>
              </a:xfrm>
              <a:prstGeom prst="rect">
                <a:avLst/>
              </a:prstGeom>
            </p:spPr>
          </p:pic>
        </p:grpSp>
        <p:grpSp>
          <p:nvGrpSpPr>
            <p:cNvPr id="13" name="Group 12">
              <a:extLst>
                <a:ext uri="{FF2B5EF4-FFF2-40B4-BE49-F238E27FC236}">
                  <a16:creationId xmlns:a16="http://schemas.microsoft.com/office/drawing/2014/main" id="{7369F52B-3E48-349B-050A-2E6AE8A1DF2F}"/>
                </a:ext>
              </a:extLst>
            </p:cNvPr>
            <p:cNvGrpSpPr/>
            <p:nvPr/>
          </p:nvGrpSpPr>
          <p:grpSpPr>
            <a:xfrm>
              <a:off x="472843" y="4104651"/>
              <a:ext cx="4322181" cy="1950461"/>
              <a:chOff x="2956560" y="559196"/>
              <a:chExt cx="5501640" cy="2677291"/>
            </a:xfrm>
          </p:grpSpPr>
          <p:pic>
            <p:nvPicPr>
              <p:cNvPr id="9" name="Picture 8">
                <a:extLst>
                  <a:ext uri="{FF2B5EF4-FFF2-40B4-BE49-F238E27FC236}">
                    <a16:creationId xmlns:a16="http://schemas.microsoft.com/office/drawing/2014/main" id="{BE7D22D3-AABC-CAEB-3189-1BA5D4E1EFE8}"/>
                  </a:ext>
                </a:extLst>
              </p:cNvPr>
              <p:cNvPicPr>
                <a:picLocks noChangeAspect="1"/>
              </p:cNvPicPr>
              <p:nvPr/>
            </p:nvPicPr>
            <p:blipFill>
              <a:blip r:embed="rId5"/>
              <a:srcRect r="61569"/>
              <a:stretch>
                <a:fillRect/>
              </a:stretch>
            </p:blipFill>
            <p:spPr>
              <a:xfrm>
                <a:off x="2956560" y="559196"/>
                <a:ext cx="2987040" cy="2677291"/>
              </a:xfrm>
              <a:prstGeom prst="rect">
                <a:avLst/>
              </a:prstGeom>
            </p:spPr>
          </p:pic>
          <p:pic>
            <p:nvPicPr>
              <p:cNvPr id="11" name="Picture 10">
                <a:extLst>
                  <a:ext uri="{FF2B5EF4-FFF2-40B4-BE49-F238E27FC236}">
                    <a16:creationId xmlns:a16="http://schemas.microsoft.com/office/drawing/2014/main" id="{82E8EC93-455E-BD57-765B-79B4C64F85CF}"/>
                  </a:ext>
                </a:extLst>
              </p:cNvPr>
              <p:cNvPicPr>
                <a:picLocks noChangeAspect="1"/>
              </p:cNvPicPr>
              <p:nvPr/>
            </p:nvPicPr>
            <p:blipFill>
              <a:blip r:embed="rId5"/>
              <a:srcRect l="67647"/>
              <a:stretch>
                <a:fillRect/>
              </a:stretch>
            </p:blipFill>
            <p:spPr>
              <a:xfrm>
                <a:off x="5943600" y="559196"/>
                <a:ext cx="2514600" cy="2677291"/>
              </a:xfrm>
              <a:prstGeom prst="rect">
                <a:avLst/>
              </a:prstGeom>
            </p:spPr>
          </p:pic>
        </p:grpSp>
      </p:grpSp>
    </p:spTree>
    <p:extLst>
      <p:ext uri="{BB962C8B-B14F-4D97-AF65-F5344CB8AC3E}">
        <p14:creationId xmlns:p14="http://schemas.microsoft.com/office/powerpoint/2010/main" val="2917216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28892-EDEE-6292-40D7-D0E1A94EA4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DFC6C8-3A59-16B7-C668-8AACD5050E32}"/>
              </a:ext>
            </a:extLst>
          </p:cNvPr>
          <p:cNvSpPr txBox="1"/>
          <p:nvPr/>
        </p:nvSpPr>
        <p:spPr>
          <a:xfrm>
            <a:off x="731518" y="387750"/>
            <a:ext cx="11460481"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Discussion</a:t>
            </a:r>
          </a:p>
        </p:txBody>
      </p:sp>
      <p:sp>
        <p:nvSpPr>
          <p:cNvPr id="3" name="Rectangle 2">
            <a:extLst>
              <a:ext uri="{FF2B5EF4-FFF2-40B4-BE49-F238E27FC236}">
                <a16:creationId xmlns:a16="http://schemas.microsoft.com/office/drawing/2014/main" id="{316CF2F5-C4A0-A298-1A15-18D5AF441E12}"/>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49F8B64-55D3-0C5A-B3D4-D9EE5BE4C266}"/>
              </a:ext>
            </a:extLst>
          </p:cNvPr>
          <p:cNvSpPr txBox="1"/>
          <p:nvPr/>
        </p:nvSpPr>
        <p:spPr>
          <a:xfrm>
            <a:off x="620005" y="1287282"/>
            <a:ext cx="11460481" cy="4832092"/>
          </a:xfrm>
          <a:prstGeom prst="rect">
            <a:avLst/>
          </a:prstGeom>
          <a:noFill/>
        </p:spPr>
        <p:txBody>
          <a:bodyPr wrap="square">
            <a:spAutoFit/>
          </a:bodyPr>
          <a:lstStyle/>
          <a:p>
            <a:r>
              <a:rPr lang="en-US" sz="2800" dirty="0">
                <a:latin typeface="Calibri" panose="020F0502020204030204" pitchFamily="34" charset="0"/>
                <a:cs typeface="Calibri" panose="020F0502020204030204" pitchFamily="34" charset="0"/>
              </a:rPr>
              <a:t>Higher social anxiety predicted faster, more accurate neural learning of peer structure in social-cognitive and salience regions</a:t>
            </a:r>
          </a:p>
          <a:p>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This was not threat-specific: adolescents with higher social anxiety differentiated mean from nice peers more effectively</a:t>
            </a:r>
          </a:p>
          <a:p>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Social anxiety may involve heightened attunement to socially relevant cues, not simply impaired social understanding or global negative bias.</a:t>
            </a:r>
          </a:p>
          <a:p>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Greater accuracy may not always be adaptive: more precise social mapping could reflect, effortful monitoring of others rather than social ease</a:t>
            </a:r>
          </a:p>
        </p:txBody>
      </p:sp>
    </p:spTree>
    <p:extLst>
      <p:ext uri="{BB962C8B-B14F-4D97-AF65-F5344CB8AC3E}">
        <p14:creationId xmlns:p14="http://schemas.microsoft.com/office/powerpoint/2010/main" val="353402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9F8B8-6B73-CE5E-1AAD-1336A027B2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F6C0C4-6B39-88DD-A1F5-F6C1398C672B}"/>
              </a:ext>
            </a:extLst>
          </p:cNvPr>
          <p:cNvSpPr txBox="1"/>
          <p:nvPr/>
        </p:nvSpPr>
        <p:spPr>
          <a:xfrm>
            <a:off x="571500" y="211728"/>
            <a:ext cx="10949940" cy="4066540"/>
          </a:xfrm>
          <a:prstGeom prst="rect">
            <a:avLst/>
          </a:prstGeom>
        </p:spPr>
        <p:txBody>
          <a:bodyPr vert="horz" lIns="91440" tIns="45720" rIns="91440" bIns="45720" rtlCol="0" anchor="b">
            <a:normAutofit/>
          </a:bodyPr>
          <a:lstStyle/>
          <a:p>
            <a:r>
              <a:rPr lang="en-US" sz="5400" b="1" dirty="0">
                <a:latin typeface="Calibri" panose="020F0502020204030204" pitchFamily="34" charset="0"/>
                <a:cs typeface="Calibri" panose="020F0502020204030204" pitchFamily="34" charset="0"/>
              </a:rPr>
              <a:t>Neural inter-subject differences in social anxiety</a:t>
            </a:r>
            <a:endParaRPr lang="en-US" sz="6000" b="1" dirty="0"/>
          </a:p>
        </p:txBody>
      </p:sp>
    </p:spTree>
    <p:extLst>
      <p:ext uri="{BB962C8B-B14F-4D97-AF65-F5344CB8AC3E}">
        <p14:creationId xmlns:p14="http://schemas.microsoft.com/office/powerpoint/2010/main" val="1272323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D7DA9-A28D-588A-BF3E-8F8BE2857911}"/>
            </a:ext>
          </a:extLst>
        </p:cNvPr>
        <p:cNvGrpSpPr/>
        <p:nvPr/>
      </p:nvGrpSpPr>
      <p:grpSpPr>
        <a:xfrm>
          <a:off x="0" y="0"/>
          <a:ext cx="0" cy="0"/>
          <a:chOff x="0" y="0"/>
          <a:chExt cx="0" cy="0"/>
        </a:xfrm>
      </p:grpSpPr>
      <p:sp>
        <p:nvSpPr>
          <p:cNvPr id="10" name="Title">
            <a:extLst>
              <a:ext uri="{FF2B5EF4-FFF2-40B4-BE49-F238E27FC236}">
                <a16:creationId xmlns:a16="http://schemas.microsoft.com/office/drawing/2014/main" id="{74C8FCD4-2404-4935-A8DA-40D0A8D2B0F4}"/>
              </a:ext>
            </a:extLst>
          </p:cNvPr>
          <p:cNvSpPr/>
          <p:nvPr/>
        </p:nvSpPr>
        <p:spPr>
          <a:xfrm>
            <a:off x="736600" y="317500"/>
            <a:ext cx="10668000" cy="635000"/>
          </a:xfrm>
          <a:prstGeom prst="rect">
            <a:avLst/>
          </a:prstGeom>
          <a:noFill/>
        </p:spPr>
        <p:txBody>
          <a:bodyPr wrap="square" lIns="0" tIns="0" rIns="0" bIns="0" anchor="b"/>
          <a:lstStyle/>
          <a:p>
            <a:pPr algn="l">
              <a:lnSpc>
                <a:spcPct val="115000"/>
              </a:lnSpc>
              <a:buNone/>
            </a:pPr>
            <a:r>
              <a:rPr lang="en-US" sz="3200" b="1" dirty="0">
                <a:solidFill>
                  <a:srgbClr val="002060"/>
                </a:solidFill>
                <a:latin typeface="Calibri" panose="020F0502020204030204" pitchFamily="34" charset="0"/>
                <a:cs typeface="Calibri" panose="020F0502020204030204" pitchFamily="34" charset="0"/>
              </a:rPr>
              <a:t>Temporal ISC</a:t>
            </a:r>
          </a:p>
        </p:txBody>
      </p:sp>
      <p:sp>
        <p:nvSpPr>
          <p:cNvPr id="11" name="AccentLine">
            <a:extLst>
              <a:ext uri="{FF2B5EF4-FFF2-40B4-BE49-F238E27FC236}">
                <a16:creationId xmlns:a16="http://schemas.microsoft.com/office/drawing/2014/main" id="{AB88D8A3-8030-5F0A-28E2-06A7121C76E0}"/>
              </a:ext>
            </a:extLst>
          </p:cNvPr>
          <p:cNvSpPr/>
          <p:nvPr/>
        </p:nvSpPr>
        <p:spPr>
          <a:xfrm>
            <a:off x="736600" y="1003300"/>
            <a:ext cx="10668000" cy="50800"/>
          </a:xfrm>
          <a:prstGeom prst="rect">
            <a:avLst/>
          </a:prstGeom>
          <a:solidFill>
            <a:schemeClr val="accent4">
              <a:lumMod val="75000"/>
            </a:schemeClr>
          </a:solidFill>
          <a:ln>
            <a:noFill/>
          </a:ln>
        </p:spPr>
        <p:txBody>
          <a:bodyPr/>
          <a:lstStyle/>
          <a:p>
            <a:endParaRPr lang="en-US"/>
          </a:p>
        </p:txBody>
      </p:sp>
      <p:sp>
        <p:nvSpPr>
          <p:cNvPr id="12" name="Body">
            <a:extLst>
              <a:ext uri="{FF2B5EF4-FFF2-40B4-BE49-F238E27FC236}">
                <a16:creationId xmlns:a16="http://schemas.microsoft.com/office/drawing/2014/main" id="{75DA1E0C-6A1F-0EF3-182D-D650F6AD5547}"/>
              </a:ext>
            </a:extLst>
          </p:cNvPr>
          <p:cNvSpPr/>
          <p:nvPr/>
        </p:nvSpPr>
        <p:spPr>
          <a:xfrm>
            <a:off x="736600" y="1270000"/>
            <a:ext cx="10668000" cy="4318000"/>
          </a:xfrm>
          <a:prstGeom prst="rect">
            <a:avLst/>
          </a:prstGeom>
          <a:noFill/>
        </p:spPr>
        <p:txBody>
          <a:bodyPr wrap="square" lIns="0" tIns="0" rIns="0" bIns="0" anchor="t"/>
          <a:lstStyle/>
          <a:p>
            <a:r>
              <a:rPr lang="en-US" sz="2400" dirty="0"/>
              <a:t>For each subject and each ROI, each subject’s BOLD timecourse is correlated to the average timecourse of the other subjects across all runs (leave-one-out), to get one ISC value per subject.</a:t>
            </a:r>
          </a:p>
          <a:p>
            <a:endParaRPr lang="en-US" sz="2400" dirty="0"/>
          </a:p>
          <a:p>
            <a:pPr marL="228600" indent="-228600">
              <a:spcAft>
                <a:spcPts val="800"/>
              </a:spcAft>
              <a:buFont typeface="Arial"/>
              <a:buChar char="•"/>
            </a:pPr>
            <a:endParaRPr lang="en-US" sz="2200" dirty="0">
              <a:solidFill>
                <a:schemeClr val="tx1">
                  <a:lumMod val="95000"/>
                  <a:lumOff val="5000"/>
                </a:schemeClr>
              </a:solidFill>
              <a:latin typeface="Calibri"/>
            </a:endParaRPr>
          </a:p>
        </p:txBody>
      </p:sp>
      <p:sp>
        <p:nvSpPr>
          <p:cNvPr id="30" name="Citation">
            <a:extLst>
              <a:ext uri="{FF2B5EF4-FFF2-40B4-BE49-F238E27FC236}">
                <a16:creationId xmlns:a16="http://schemas.microsoft.com/office/drawing/2014/main" id="{A7911C09-6B62-1DEB-AF87-DE736E16F37D}"/>
              </a:ext>
            </a:extLst>
          </p:cNvPr>
          <p:cNvSpPr/>
          <p:nvPr/>
        </p:nvSpPr>
        <p:spPr>
          <a:xfrm>
            <a:off x="3167566" y="477327"/>
            <a:ext cx="10668000" cy="457200"/>
          </a:xfrm>
          <a:prstGeom prst="rect">
            <a:avLst/>
          </a:prstGeom>
          <a:noFill/>
        </p:spPr>
        <p:txBody>
          <a:bodyPr wrap="square" lIns="0" tIns="0" rIns="0" bIns="0" anchor="b"/>
          <a:lstStyle/>
          <a:p>
            <a:pPr algn="l">
              <a:buNone/>
            </a:pPr>
            <a:r>
              <a:rPr lang="en-US" sz="2000" dirty="0">
                <a:solidFill>
                  <a:schemeClr val="tx1">
                    <a:lumMod val="65000"/>
                    <a:lumOff val="35000"/>
                  </a:schemeClr>
                </a:solidFill>
                <a:latin typeface="Calibri"/>
              </a:rPr>
              <a:t>(Nastase et al., 2019; Hasson et al., 2004)</a:t>
            </a:r>
          </a:p>
        </p:txBody>
      </p:sp>
      <p:pic>
        <p:nvPicPr>
          <p:cNvPr id="6" name="Picture 5">
            <a:extLst>
              <a:ext uri="{FF2B5EF4-FFF2-40B4-BE49-F238E27FC236}">
                <a16:creationId xmlns:a16="http://schemas.microsoft.com/office/drawing/2014/main" id="{F64B2F8F-D196-C681-B929-5B3663AC3F7D}"/>
              </a:ext>
            </a:extLst>
          </p:cNvPr>
          <p:cNvPicPr>
            <a:picLocks noChangeAspect="1"/>
          </p:cNvPicPr>
          <p:nvPr/>
        </p:nvPicPr>
        <p:blipFill>
          <a:blip r:embed="rId3"/>
          <a:srcRect l="33201" t="25353"/>
          <a:stretch>
            <a:fillRect/>
          </a:stretch>
        </p:blipFill>
        <p:spPr>
          <a:xfrm>
            <a:off x="906820" y="2890404"/>
            <a:ext cx="9927293" cy="3572164"/>
          </a:xfrm>
          <a:prstGeom prst="rect">
            <a:avLst/>
          </a:prstGeom>
        </p:spPr>
      </p:pic>
      <p:pic>
        <p:nvPicPr>
          <p:cNvPr id="8" name="Picture 7">
            <a:extLst>
              <a:ext uri="{FF2B5EF4-FFF2-40B4-BE49-F238E27FC236}">
                <a16:creationId xmlns:a16="http://schemas.microsoft.com/office/drawing/2014/main" id="{466F4C5A-D35E-95DD-807B-0BF1AAB7582D}"/>
              </a:ext>
            </a:extLst>
          </p:cNvPr>
          <p:cNvPicPr>
            <a:picLocks noChangeAspect="1"/>
          </p:cNvPicPr>
          <p:nvPr/>
        </p:nvPicPr>
        <p:blipFill>
          <a:blip r:embed="rId4"/>
          <a:stretch>
            <a:fillRect/>
          </a:stretch>
        </p:blipFill>
        <p:spPr>
          <a:xfrm>
            <a:off x="6625359" y="2853459"/>
            <a:ext cx="317500" cy="393700"/>
          </a:xfrm>
          <a:prstGeom prst="rect">
            <a:avLst/>
          </a:prstGeom>
        </p:spPr>
      </p:pic>
    </p:spTree>
    <p:extLst>
      <p:ext uri="{BB962C8B-B14F-4D97-AF65-F5344CB8AC3E}">
        <p14:creationId xmlns:p14="http://schemas.microsoft.com/office/powerpoint/2010/main" val="1621662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922362-E350-FF78-A8AB-C11DA1C39FDD}"/>
              </a:ext>
            </a:extLst>
          </p:cNvPr>
          <p:cNvSpPr txBox="1"/>
          <p:nvPr/>
        </p:nvSpPr>
        <p:spPr>
          <a:xfrm>
            <a:off x="731518" y="387750"/>
            <a:ext cx="11460481" cy="584775"/>
          </a:xfrm>
          <a:prstGeom prst="rect">
            <a:avLst/>
          </a:prstGeom>
          <a:noFill/>
        </p:spPr>
        <p:txBody>
          <a:bodyPr wrap="square">
            <a:spAutoFit/>
          </a:bodyPr>
          <a:lstStyle/>
          <a:p>
            <a:r>
              <a:rPr sz="3000" b="1" dirty="0"/>
              <a:t>Temporal idiosyncrasy: </a:t>
            </a:r>
            <a:r>
              <a:rPr sz="3000" b="1" dirty="0" err="1"/>
              <a:t>rACC</a:t>
            </a:r>
            <a:r>
              <a:rPr sz="3000" b="1" dirty="0"/>
              <a:t> &amp; </a:t>
            </a:r>
            <a:r>
              <a:rPr sz="3000" b="1" dirty="0" err="1"/>
              <a:t>aMCC</a:t>
            </a:r>
            <a:endParaRPr sz="3000" b="1" dirty="0"/>
          </a:p>
        </p:txBody>
      </p:sp>
      <p:sp>
        <p:nvSpPr>
          <p:cNvPr id="3" name="Rectangle 2">
            <a:extLst>
              <a:ext uri="{FF2B5EF4-FFF2-40B4-BE49-F238E27FC236}">
                <a16:creationId xmlns:a16="http://schemas.microsoft.com/office/drawing/2014/main" id="{EAFBA7AF-5BC3-AE06-C5F1-A578F47257B5}"/>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0A2CC83-8743-7379-437B-A47F3D90D10C}"/>
              </a:ext>
            </a:extLst>
          </p:cNvPr>
          <p:cNvSpPr txBox="1"/>
          <p:nvPr/>
        </p:nvSpPr>
        <p:spPr>
          <a:xfrm>
            <a:off x="8963903" y="1953026"/>
            <a:ext cx="6096000" cy="1015663"/>
          </a:xfrm>
          <a:prstGeom prst="rect">
            <a:avLst/>
          </a:prstGeom>
          <a:noFill/>
        </p:spPr>
        <p:txBody>
          <a:bodyPr wrap="square">
            <a:spAutoFit/>
          </a:bodyPr>
          <a:lstStyle/>
          <a:p>
            <a:pPr>
              <a:buNone/>
            </a:pPr>
            <a:r>
              <a:rPr sz="2200" b="1" dirty="0" err="1"/>
              <a:t>ρ</a:t>
            </a:r>
            <a:r>
              <a:rPr sz="2200" b="1" dirty="0"/>
              <a:t> = −0.53</a:t>
            </a:r>
          </a:p>
          <a:p>
            <a:r>
              <a:rPr sz="2000" b="0" dirty="0"/>
              <a:t>P = 0.0014</a:t>
            </a:r>
          </a:p>
          <a:p>
            <a:r>
              <a:rPr sz="1800" b="0" dirty="0" err="1"/>
              <a:t>qFDR</a:t>
            </a:r>
            <a:r>
              <a:rPr sz="1800" b="0" dirty="0"/>
              <a:t> = 0.05</a:t>
            </a:r>
          </a:p>
        </p:txBody>
      </p:sp>
      <p:sp>
        <p:nvSpPr>
          <p:cNvPr id="8" name="TextBox 7">
            <a:extLst>
              <a:ext uri="{FF2B5EF4-FFF2-40B4-BE49-F238E27FC236}">
                <a16:creationId xmlns:a16="http://schemas.microsoft.com/office/drawing/2014/main" id="{8690B030-266C-2772-5334-E2940D2B806F}"/>
              </a:ext>
            </a:extLst>
          </p:cNvPr>
          <p:cNvSpPr txBox="1"/>
          <p:nvPr/>
        </p:nvSpPr>
        <p:spPr>
          <a:xfrm>
            <a:off x="8879520" y="4559509"/>
            <a:ext cx="6096000" cy="1292662"/>
          </a:xfrm>
          <a:prstGeom prst="rect">
            <a:avLst/>
          </a:prstGeom>
          <a:noFill/>
        </p:spPr>
        <p:txBody>
          <a:bodyPr wrap="square">
            <a:spAutoFit/>
          </a:bodyPr>
          <a:lstStyle/>
          <a:p>
            <a:pPr>
              <a:buNone/>
            </a:pPr>
            <a:r>
              <a:rPr sz="2200" b="1" dirty="0" err="1"/>
              <a:t>ρ</a:t>
            </a:r>
            <a:r>
              <a:rPr sz="2200" b="1" dirty="0"/>
              <a:t> = −0.50</a:t>
            </a:r>
          </a:p>
          <a:p>
            <a:r>
              <a:rPr sz="2000" b="0" dirty="0"/>
              <a:t>P = 0.0033</a:t>
            </a:r>
          </a:p>
          <a:p>
            <a:r>
              <a:rPr sz="1800" b="0" dirty="0" err="1"/>
              <a:t>qFDR</a:t>
            </a:r>
            <a:r>
              <a:rPr sz="1800" b="0" dirty="0"/>
              <a:t> = 0.057</a:t>
            </a:r>
            <a:endParaRPr lang="en-US" sz="1800" b="0" dirty="0"/>
          </a:p>
          <a:p>
            <a:endParaRPr sz="1800" b="0" dirty="0"/>
          </a:p>
        </p:txBody>
      </p:sp>
      <p:pic>
        <p:nvPicPr>
          <p:cNvPr id="9" name="Picture 8" descr="isc_rACC_card.png"/>
          <p:cNvPicPr>
            <a:picLocks noChangeAspect="1"/>
          </p:cNvPicPr>
          <p:nvPr/>
        </p:nvPicPr>
        <p:blipFill>
          <a:blip r:embed="rId3"/>
          <a:stretch>
            <a:fillRect/>
          </a:stretch>
        </p:blipFill>
        <p:spPr>
          <a:xfrm>
            <a:off x="419725" y="1462468"/>
            <a:ext cx="8093338" cy="2167700"/>
          </a:xfrm>
          <a:prstGeom prst="rect">
            <a:avLst/>
          </a:prstGeom>
        </p:spPr>
      </p:pic>
      <p:pic>
        <p:nvPicPr>
          <p:cNvPr id="10" name="Picture 9" descr="isc_aMCC_card.png"/>
          <p:cNvPicPr>
            <a:picLocks noChangeAspect="1"/>
          </p:cNvPicPr>
          <p:nvPr/>
        </p:nvPicPr>
        <p:blipFill>
          <a:blip r:embed="rId4"/>
          <a:stretch>
            <a:fillRect/>
          </a:stretch>
        </p:blipFill>
        <p:spPr>
          <a:xfrm>
            <a:off x="453960" y="3849051"/>
            <a:ext cx="8013383" cy="21677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189C5C-154C-A96B-E945-6DE586003278}"/>
              </a:ext>
            </a:extLst>
          </p:cNvPr>
          <p:cNvSpPr txBox="1"/>
          <p:nvPr/>
        </p:nvSpPr>
        <p:spPr>
          <a:xfrm>
            <a:off x="731518" y="387750"/>
            <a:ext cx="11460481" cy="553998"/>
          </a:xfrm>
          <a:prstGeom prst="rect">
            <a:avLst/>
          </a:prstGeom>
          <a:noFill/>
        </p:spPr>
        <p:txBody>
          <a:bodyPr wrap="square">
            <a:spAutoFit/>
          </a:bodyPr>
          <a:lstStyle/>
          <a:p>
            <a:r>
              <a:rPr lang="en-US" sz="3000" b="1" dirty="0"/>
              <a:t>Discussion</a:t>
            </a:r>
            <a:endParaRPr sz="3000" b="1" dirty="0"/>
          </a:p>
        </p:txBody>
      </p:sp>
      <p:sp>
        <p:nvSpPr>
          <p:cNvPr id="5" name="Rectangle 4">
            <a:extLst>
              <a:ext uri="{FF2B5EF4-FFF2-40B4-BE49-F238E27FC236}">
                <a16:creationId xmlns:a16="http://schemas.microsoft.com/office/drawing/2014/main" id="{023952A4-C5F0-619C-5EBF-E2CB53F1E82D}"/>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 name="Group 6">
            <a:extLst>
              <a:ext uri="{FF2B5EF4-FFF2-40B4-BE49-F238E27FC236}">
                <a16:creationId xmlns:a16="http://schemas.microsoft.com/office/drawing/2014/main" id="{4BB71BAA-A143-5530-A17D-A3D229635A34}"/>
              </a:ext>
            </a:extLst>
          </p:cNvPr>
          <p:cNvGrpSpPr/>
          <p:nvPr/>
        </p:nvGrpSpPr>
        <p:grpSpPr>
          <a:xfrm>
            <a:off x="4296639" y="3019552"/>
            <a:ext cx="6375449" cy="3387153"/>
            <a:chOff x="5645149" y="2443016"/>
            <a:chExt cx="6375449" cy="3387153"/>
          </a:xfrm>
        </p:grpSpPr>
        <p:pic>
          <p:nvPicPr>
            <p:cNvPr id="3" name="Picture 2">
              <a:extLst>
                <a:ext uri="{FF2B5EF4-FFF2-40B4-BE49-F238E27FC236}">
                  <a16:creationId xmlns:a16="http://schemas.microsoft.com/office/drawing/2014/main" id="{3564320D-9F7A-0B89-8ACE-36444C59D1CD}"/>
                </a:ext>
              </a:extLst>
            </p:cNvPr>
            <p:cNvPicPr>
              <a:picLocks noChangeAspect="1"/>
            </p:cNvPicPr>
            <p:nvPr/>
          </p:nvPicPr>
          <p:blipFill>
            <a:blip r:embed="rId3"/>
            <a:srcRect l="55859" t="8184" r="9132" b="373"/>
            <a:stretch>
              <a:fillRect/>
            </a:stretch>
          </p:blipFill>
          <p:spPr>
            <a:xfrm>
              <a:off x="7361382" y="2443016"/>
              <a:ext cx="4659216" cy="3387153"/>
            </a:xfrm>
            <a:prstGeom prst="rect">
              <a:avLst/>
            </a:prstGeom>
          </p:spPr>
        </p:pic>
        <p:pic>
          <p:nvPicPr>
            <p:cNvPr id="6" name="Picture 5">
              <a:extLst>
                <a:ext uri="{FF2B5EF4-FFF2-40B4-BE49-F238E27FC236}">
                  <a16:creationId xmlns:a16="http://schemas.microsoft.com/office/drawing/2014/main" id="{01241258-D4F3-1DBB-C4FB-11A4019EA646}"/>
                </a:ext>
              </a:extLst>
            </p:cNvPr>
            <p:cNvPicPr>
              <a:picLocks noChangeAspect="1"/>
            </p:cNvPicPr>
            <p:nvPr/>
          </p:nvPicPr>
          <p:blipFill>
            <a:blip r:embed="rId4"/>
            <a:stretch>
              <a:fillRect/>
            </a:stretch>
          </p:blipFill>
          <p:spPr>
            <a:xfrm>
              <a:off x="5645149" y="4358181"/>
              <a:ext cx="1238844" cy="453661"/>
            </a:xfrm>
            <a:prstGeom prst="rect">
              <a:avLst/>
            </a:prstGeom>
          </p:spPr>
        </p:pic>
      </p:grpSp>
      <p:pic>
        <p:nvPicPr>
          <p:cNvPr id="9" name="Picture 8">
            <a:extLst>
              <a:ext uri="{FF2B5EF4-FFF2-40B4-BE49-F238E27FC236}">
                <a16:creationId xmlns:a16="http://schemas.microsoft.com/office/drawing/2014/main" id="{C510D788-0ACD-D747-6190-EAA2C039932C}"/>
              </a:ext>
            </a:extLst>
          </p:cNvPr>
          <p:cNvPicPr>
            <a:picLocks noChangeAspect="1"/>
          </p:cNvPicPr>
          <p:nvPr/>
        </p:nvPicPr>
        <p:blipFill>
          <a:blip r:embed="rId3"/>
          <a:srcRect l="1832" t="8184" r="59327" b="373"/>
          <a:stretch>
            <a:fillRect/>
          </a:stretch>
        </p:blipFill>
        <p:spPr>
          <a:xfrm>
            <a:off x="348062" y="2796406"/>
            <a:ext cx="5168948" cy="3387152"/>
          </a:xfrm>
          <a:prstGeom prst="rect">
            <a:avLst/>
          </a:prstGeom>
        </p:spPr>
      </p:pic>
      <p:pic>
        <p:nvPicPr>
          <p:cNvPr id="2" name="Picture 1">
            <a:extLst>
              <a:ext uri="{FF2B5EF4-FFF2-40B4-BE49-F238E27FC236}">
                <a16:creationId xmlns:a16="http://schemas.microsoft.com/office/drawing/2014/main" id="{AA82471A-D2EC-5B47-97BC-0E97AEB0137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701" b="91791" l="9821" r="89881">
                        <a14:foregroundMark x1="33631" y1="86567" x2="38095" y2="91791"/>
                        <a14:foregroundMark x1="86012" y1="43284" x2="87500" y2="62313"/>
                        <a14:foregroundMark x1="88095" y1="43284" x2="83631" y2="37313"/>
                        <a14:foregroundMark x1="26488" y1="82836" x2="14286" y2="58209"/>
                        <a14:foregroundMark x1="14286" y1="58209" x2="19048" y2="29478"/>
                        <a14:foregroundMark x1="19048" y1="29478" x2="38095" y2="12313"/>
                        <a14:foregroundMark x1="38095" y1="12313" x2="60714" y2="12687"/>
                      </a14:backgroundRemoval>
                    </a14:imgEffect>
                  </a14:imgLayer>
                </a14:imgProps>
              </a:ext>
            </a:extLst>
          </a:blip>
          <a:stretch>
            <a:fillRect/>
          </a:stretch>
        </p:blipFill>
        <p:spPr>
          <a:xfrm>
            <a:off x="4766253" y="1556189"/>
            <a:ext cx="2075767" cy="1655671"/>
          </a:xfrm>
          <a:prstGeom prst="ellipse">
            <a:avLst/>
          </a:prstGeom>
        </p:spPr>
      </p:pic>
    </p:spTree>
    <p:extLst>
      <p:ext uri="{BB962C8B-B14F-4D97-AF65-F5344CB8AC3E}">
        <p14:creationId xmlns:p14="http://schemas.microsoft.com/office/powerpoint/2010/main" val="3032760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00741-8671-5884-2E27-5469F008E0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C75F2A-715C-5F7F-1376-0A3F65D875F9}"/>
              </a:ext>
            </a:extLst>
          </p:cNvPr>
          <p:cNvSpPr txBox="1"/>
          <p:nvPr/>
        </p:nvSpPr>
        <p:spPr>
          <a:xfrm>
            <a:off x="779146" y="440820"/>
            <a:ext cx="11460481" cy="553998"/>
          </a:xfrm>
          <a:prstGeom prst="rect">
            <a:avLst/>
          </a:prstGeom>
          <a:noFill/>
        </p:spPr>
        <p:txBody>
          <a:bodyPr wrap="square">
            <a:spAutoFit/>
          </a:bodyPr>
          <a:lstStyle/>
          <a:p>
            <a:r>
              <a:rPr lang="en-US" sz="3000" b="1" dirty="0"/>
              <a:t>Discussion</a:t>
            </a:r>
            <a:endParaRPr sz="3000" b="1" dirty="0"/>
          </a:p>
        </p:txBody>
      </p:sp>
      <p:sp>
        <p:nvSpPr>
          <p:cNvPr id="5" name="Rectangle 4">
            <a:extLst>
              <a:ext uri="{FF2B5EF4-FFF2-40B4-BE49-F238E27FC236}">
                <a16:creationId xmlns:a16="http://schemas.microsoft.com/office/drawing/2014/main" id="{06F74DF5-20DA-7CB1-84AE-456B179E680C}"/>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3">
            <a:extLst>
              <a:ext uri="{FF2B5EF4-FFF2-40B4-BE49-F238E27FC236}">
                <a16:creationId xmlns:a16="http://schemas.microsoft.com/office/drawing/2014/main" id="{9FD87680-A6B5-6BDA-AC52-2BC52623B5F5}"/>
              </a:ext>
            </a:extLst>
          </p:cNvPr>
          <p:cNvSpPr>
            <a:spLocks noChangeArrowheads="1"/>
          </p:cNvSpPr>
          <p:nvPr/>
        </p:nvSpPr>
        <p:spPr bwMode="auto">
          <a:xfrm>
            <a:off x="774320" y="1536174"/>
            <a:ext cx="1064336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400" dirty="0">
                <a:latin typeface="Calibri" panose="020F0502020204030204" pitchFamily="34" charset="0"/>
                <a:cs typeface="Calibri" panose="020F0502020204030204" pitchFamily="34" charset="0"/>
              </a:rPr>
              <a:t>Prior work links idiosyncratic neural responses to loneliness, and shared neural responses to friendship and social closeness </a:t>
            </a:r>
            <a:r>
              <a:rPr lang="en-US" altLang="en-US" sz="2400" i="1" dirty="0">
                <a:latin typeface="Calibri" panose="020F0502020204030204" pitchFamily="34" charset="0"/>
                <a:cs typeface="Calibri" panose="020F0502020204030204" pitchFamily="34" charset="0"/>
              </a:rPr>
              <a:t>(Baek et al., 2023; Baek et al., 2022; Hyon et al., 2020).</a:t>
            </a:r>
          </a:p>
          <a:p>
            <a:pPr lvl="0" eaLnBrk="0" fontAlgn="base" hangingPunct="0">
              <a:spcBef>
                <a:spcPct val="0"/>
              </a:spcBef>
              <a:spcAft>
                <a:spcPct val="0"/>
              </a:spcAft>
            </a:pPr>
            <a:endParaRPr lang="en-US" altLang="en-US" sz="2400" i="1" dirty="0">
              <a:latin typeface="Calibri" panose="020F0502020204030204" pitchFamily="34" charset="0"/>
              <a:cs typeface="Calibri" panose="020F0502020204030204" pitchFamily="34" charset="0"/>
            </a:endParaRPr>
          </a:p>
          <a:p>
            <a:pPr eaLnBrk="0" fontAlgn="base" hangingPunct="0">
              <a:spcBef>
                <a:spcPct val="0"/>
              </a:spcBef>
              <a:spcAft>
                <a:spcPct val="0"/>
              </a:spcAft>
            </a:pPr>
            <a:r>
              <a:rPr lang="en-US" altLang="en-US" sz="2400" dirty="0">
                <a:latin typeface="Calibri" panose="020F0502020204030204" pitchFamily="34" charset="0"/>
                <a:cs typeface="Calibri" panose="020F0502020204030204" pitchFamily="34" charset="0"/>
              </a:rPr>
              <a:t>Socially anxious youth may be good at tracking who is who, and how each person relates to them, but less likely to share a common neural understanding of the broader social moment, a pattern that may support social accuracy while also contributing to feeling out of sync and disconnected.</a:t>
            </a:r>
          </a:p>
          <a:p>
            <a:pPr lvl="0" eaLnBrk="0" fontAlgn="base" hangingPunct="0">
              <a:spcBef>
                <a:spcPct val="0"/>
              </a:spcBef>
              <a:spcAft>
                <a:spcPct val="0"/>
              </a:spcAft>
            </a:pPr>
            <a:endParaRPr lang="en-US" altLang="en-US" sz="2400" dirty="0">
              <a:latin typeface="Calibri" panose="020F0502020204030204" pitchFamily="34" charset="0"/>
              <a:cs typeface="Calibri" panose="020F0502020204030204" pitchFamily="34" charset="0"/>
            </a:endParaRPr>
          </a:p>
          <a:p>
            <a:pPr lvl="0" eaLnBrk="0" fontAlgn="base" hangingPunct="0">
              <a:spcBef>
                <a:spcPct val="0"/>
              </a:spcBef>
              <a:spcAft>
                <a:spcPct val="0"/>
              </a:spcAft>
            </a:pPr>
            <a:endParaRPr lang="en-US" alt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483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6077F-398E-8D39-0556-20664E142C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CA7779-C397-7165-3F52-C59E810AB8CF}"/>
              </a:ext>
            </a:extLst>
          </p:cNvPr>
          <p:cNvSpPr txBox="1"/>
          <p:nvPr/>
        </p:nvSpPr>
        <p:spPr>
          <a:xfrm>
            <a:off x="779146" y="440820"/>
            <a:ext cx="11460481" cy="553998"/>
          </a:xfrm>
          <a:prstGeom prst="rect">
            <a:avLst/>
          </a:prstGeom>
          <a:noFill/>
        </p:spPr>
        <p:txBody>
          <a:bodyPr wrap="square">
            <a:spAutoFit/>
          </a:bodyPr>
          <a:lstStyle/>
          <a:p>
            <a:r>
              <a:rPr lang="en-US" sz="3000" b="1" dirty="0"/>
              <a:t>Future Directions: More Participants!</a:t>
            </a:r>
            <a:endParaRPr sz="3000" b="1" dirty="0"/>
          </a:p>
        </p:txBody>
      </p:sp>
      <p:sp>
        <p:nvSpPr>
          <p:cNvPr id="5" name="Rectangle 4">
            <a:extLst>
              <a:ext uri="{FF2B5EF4-FFF2-40B4-BE49-F238E27FC236}">
                <a16:creationId xmlns:a16="http://schemas.microsoft.com/office/drawing/2014/main" id="{17AB09D3-2CCF-4979-B08D-4F1BB9F31978}"/>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3">
            <a:extLst>
              <a:ext uri="{FF2B5EF4-FFF2-40B4-BE49-F238E27FC236}">
                <a16:creationId xmlns:a16="http://schemas.microsoft.com/office/drawing/2014/main" id="{5415AFF0-7217-0993-44E0-03D7E1FA7136}"/>
              </a:ext>
            </a:extLst>
          </p:cNvPr>
          <p:cNvSpPr>
            <a:spLocks noChangeArrowheads="1"/>
          </p:cNvSpPr>
          <p:nvPr/>
        </p:nvSpPr>
        <p:spPr bwMode="auto">
          <a:xfrm>
            <a:off x="646029" y="1228397"/>
            <a:ext cx="1089994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lang="en-US" altLang="en-US" sz="2800" dirty="0">
              <a:latin typeface="Calibri" panose="020F0502020204030204" pitchFamily="34" charset="0"/>
              <a:cs typeface="Calibri" panose="020F0502020204030204" pitchFamily="34" charset="0"/>
            </a:endParaRPr>
          </a:p>
          <a:p>
            <a:pPr lvl="0" eaLnBrk="0" fontAlgn="base" hangingPunct="0">
              <a:spcBef>
                <a:spcPct val="0"/>
              </a:spcBef>
              <a:spcAft>
                <a:spcPct val="0"/>
              </a:spcAft>
            </a:pPr>
            <a:r>
              <a:rPr lang="en-US" altLang="en-US" sz="2800" dirty="0">
                <a:latin typeface="Calibri" panose="020F0502020204030204" pitchFamily="34" charset="0"/>
                <a:cs typeface="Calibri" panose="020F0502020204030204" pitchFamily="34" charset="0"/>
              </a:rPr>
              <a:t>Larger samples can test whether socially anxious youth are more distinct from one another, not just from the group.</a:t>
            </a:r>
          </a:p>
          <a:p>
            <a:pPr lvl="0" eaLnBrk="0" fontAlgn="base" hangingPunct="0">
              <a:spcBef>
                <a:spcPct val="0"/>
              </a:spcBef>
              <a:spcAft>
                <a:spcPct val="0"/>
              </a:spcAft>
              <a:buFontTx/>
              <a:buChar char="•"/>
            </a:pPr>
            <a:endParaRPr lang="en-US" altLang="en-US" sz="2800" dirty="0">
              <a:latin typeface="Calibri" panose="020F0502020204030204" pitchFamily="34" charset="0"/>
              <a:cs typeface="Calibri" panose="020F0502020204030204" pitchFamily="34" charset="0"/>
            </a:endParaRPr>
          </a:p>
          <a:p>
            <a:pPr lvl="0" eaLnBrk="0" fontAlgn="base" hangingPunct="0">
              <a:spcBef>
                <a:spcPct val="0"/>
              </a:spcBef>
              <a:spcAft>
                <a:spcPct val="0"/>
              </a:spcAft>
            </a:pPr>
            <a:r>
              <a:rPr lang="en-US" altLang="en-US" sz="2800" dirty="0">
                <a:latin typeface="Calibri" panose="020F0502020204030204" pitchFamily="34" charset="0"/>
                <a:cs typeface="Calibri" panose="020F0502020204030204" pitchFamily="34" charset="0"/>
              </a:rPr>
              <a:t>Do these patterns strengthen or change across youth and early adult development?</a:t>
            </a:r>
          </a:p>
          <a:p>
            <a:pPr lvl="0" eaLnBrk="0" fontAlgn="base" hangingPunct="0">
              <a:spcBef>
                <a:spcPct val="0"/>
              </a:spcBef>
              <a:spcAft>
                <a:spcPct val="0"/>
              </a:spcAft>
              <a:buFontTx/>
              <a:buChar char="•"/>
            </a:pPr>
            <a:endParaRPr lang="en-US" altLang="en-US" sz="2800" dirty="0">
              <a:latin typeface="Calibri" panose="020F0502020204030204" pitchFamily="34" charset="0"/>
              <a:cs typeface="Calibri" panose="020F0502020204030204" pitchFamily="34" charset="0"/>
            </a:endParaRPr>
          </a:p>
          <a:p>
            <a:pPr lvl="0" eaLnBrk="0" fontAlgn="base" hangingPunct="0">
              <a:spcBef>
                <a:spcPct val="0"/>
              </a:spcBef>
              <a:spcAft>
                <a:spcPct val="0"/>
              </a:spcAft>
            </a:pPr>
            <a:r>
              <a:rPr lang="en-US" altLang="en-US" sz="2800" dirty="0">
                <a:latin typeface="Calibri" panose="020F0502020204030204" pitchFamily="34" charset="0"/>
                <a:cs typeface="Calibri" panose="020F0502020204030204" pitchFamily="34" charset="0"/>
              </a:rPr>
              <a:t>Are there moderators of neural idiosyncrasy may (social exposure, relationship experience)</a:t>
            </a:r>
          </a:p>
          <a:p>
            <a:pPr lvl="0" eaLnBrk="0" fontAlgn="base" hangingPunct="0">
              <a:spcBef>
                <a:spcPct val="0"/>
              </a:spcBef>
              <a:spcAft>
                <a:spcPct val="0"/>
              </a:spcAft>
              <a:buFontTx/>
              <a:buChar char="•"/>
            </a:pPr>
            <a:endParaRPr lang="en-US" alt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423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84;p13">
            <a:extLst>
              <a:ext uri="{FF2B5EF4-FFF2-40B4-BE49-F238E27FC236}">
                <a16:creationId xmlns:a16="http://schemas.microsoft.com/office/drawing/2014/main" id="{63134179-9BA5-D2A4-FBF8-B467688F9665}"/>
              </a:ext>
            </a:extLst>
          </p:cNvPr>
          <p:cNvPicPr preferRelativeResize="0"/>
          <p:nvPr/>
        </p:nvPicPr>
        <p:blipFill rotWithShape="1">
          <a:blip r:embed="rId3">
            <a:alphaModFix/>
          </a:blip>
          <a:srcRect/>
          <a:stretch/>
        </p:blipFill>
        <p:spPr>
          <a:xfrm>
            <a:off x="3055361" y="1671158"/>
            <a:ext cx="5507088" cy="1484084"/>
          </a:xfrm>
          <a:prstGeom prst="rect">
            <a:avLst/>
          </a:prstGeom>
          <a:noFill/>
          <a:ln>
            <a:noFill/>
          </a:ln>
        </p:spPr>
      </p:pic>
      <p:pic>
        <p:nvPicPr>
          <p:cNvPr id="4" name="Google Shape;85;p13">
            <a:extLst>
              <a:ext uri="{FF2B5EF4-FFF2-40B4-BE49-F238E27FC236}">
                <a16:creationId xmlns:a16="http://schemas.microsoft.com/office/drawing/2014/main" id="{0F1DFCB2-CAD0-65B1-BDEC-3B3C9DD8C4D8}"/>
              </a:ext>
            </a:extLst>
          </p:cNvPr>
          <p:cNvPicPr preferRelativeResize="0"/>
          <p:nvPr/>
        </p:nvPicPr>
        <p:blipFill rotWithShape="1">
          <a:blip r:embed="rId4">
            <a:alphaModFix/>
          </a:blip>
          <a:srcRect/>
          <a:stretch/>
        </p:blipFill>
        <p:spPr>
          <a:xfrm>
            <a:off x="3055361" y="3301572"/>
            <a:ext cx="5507101" cy="1970122"/>
          </a:xfrm>
          <a:prstGeom prst="rect">
            <a:avLst/>
          </a:prstGeom>
          <a:noFill/>
          <a:ln>
            <a:noFill/>
          </a:ln>
        </p:spPr>
      </p:pic>
      <p:sp>
        <p:nvSpPr>
          <p:cNvPr id="5" name="Google Shape;86;p13">
            <a:extLst>
              <a:ext uri="{FF2B5EF4-FFF2-40B4-BE49-F238E27FC236}">
                <a16:creationId xmlns:a16="http://schemas.microsoft.com/office/drawing/2014/main" id="{DFD629CC-74B9-E7F4-A7A0-9C217A25149B}"/>
              </a:ext>
            </a:extLst>
          </p:cNvPr>
          <p:cNvSpPr txBox="1"/>
          <p:nvPr/>
        </p:nvSpPr>
        <p:spPr>
          <a:xfrm>
            <a:off x="863600" y="444500"/>
            <a:ext cx="11201400"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3000" b="1" i="0" u="none" strike="noStrike" cap="none" dirty="0">
                <a:solidFill>
                  <a:srgbClr val="0F172A"/>
                </a:solidFill>
                <a:latin typeface="Calibri" panose="020F0502020204030204" pitchFamily="34" charset="0"/>
                <a:ea typeface="Playfair Display"/>
                <a:cs typeface="Calibri" panose="020F0502020204030204" pitchFamily="34" charset="0"/>
                <a:sym typeface="Playfair Display"/>
              </a:rPr>
              <a:t>Acknowledgements</a:t>
            </a:r>
            <a:endParaRPr sz="1600" dirty="0">
              <a:latin typeface="Calibri" panose="020F0502020204030204" pitchFamily="34" charset="0"/>
              <a:cs typeface="Calibri" panose="020F0502020204030204" pitchFamily="34" charset="0"/>
            </a:endParaRPr>
          </a:p>
        </p:txBody>
      </p:sp>
      <p:sp>
        <p:nvSpPr>
          <p:cNvPr id="6" name="Google Shape;88;p13">
            <a:extLst>
              <a:ext uri="{FF2B5EF4-FFF2-40B4-BE49-F238E27FC236}">
                <a16:creationId xmlns:a16="http://schemas.microsoft.com/office/drawing/2014/main" id="{3646ABBD-F739-175B-71ED-E60D625DB5B6}"/>
              </a:ext>
            </a:extLst>
          </p:cNvPr>
          <p:cNvSpPr txBox="1"/>
          <p:nvPr/>
        </p:nvSpPr>
        <p:spPr>
          <a:xfrm>
            <a:off x="3426908" y="1905343"/>
            <a:ext cx="4878300" cy="21544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0" i="0" u="none" strike="noStrike" cap="none" dirty="0">
                <a:solidFill>
                  <a:srgbClr val="64748B"/>
                </a:solidFill>
                <a:latin typeface="Calibri" panose="020F0502020204030204" pitchFamily="34" charset="0"/>
                <a:ea typeface="Inter"/>
                <a:cs typeface="Calibri" panose="020F0502020204030204" pitchFamily="34" charset="0"/>
                <a:sym typeface="Inter"/>
              </a:rPr>
              <a:t>MENTORS</a:t>
            </a:r>
            <a:endParaRPr sz="1600" dirty="0">
              <a:latin typeface="Calibri" panose="020F0502020204030204" pitchFamily="34" charset="0"/>
              <a:cs typeface="Calibri" panose="020F0502020204030204" pitchFamily="34" charset="0"/>
            </a:endParaRPr>
          </a:p>
        </p:txBody>
      </p:sp>
      <p:sp>
        <p:nvSpPr>
          <p:cNvPr id="7" name="Google Shape;89;p13">
            <a:extLst>
              <a:ext uri="{FF2B5EF4-FFF2-40B4-BE49-F238E27FC236}">
                <a16:creationId xmlns:a16="http://schemas.microsoft.com/office/drawing/2014/main" id="{59CF352E-50F5-BEC6-2088-F15894EC3A9B}"/>
              </a:ext>
            </a:extLst>
          </p:cNvPr>
          <p:cNvSpPr txBox="1"/>
          <p:nvPr/>
        </p:nvSpPr>
        <p:spPr>
          <a:xfrm>
            <a:off x="3426908" y="2248243"/>
            <a:ext cx="487830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2400" b="1" i="0" u="none" strike="noStrike" cap="none" dirty="0">
                <a:solidFill>
                  <a:srgbClr val="1E293B"/>
                </a:solidFill>
                <a:latin typeface="Calibri" panose="020F0502020204030204" pitchFamily="34" charset="0"/>
                <a:ea typeface="Playfair Display"/>
                <a:cs typeface="Calibri" panose="020F0502020204030204" pitchFamily="34" charset="0"/>
                <a:sym typeface="Playfair Display"/>
              </a:rPr>
              <a:t>Dr. Johanna Jarcho</a:t>
            </a:r>
            <a:endParaRPr sz="1600" dirty="0">
              <a:latin typeface="Calibri" panose="020F0502020204030204" pitchFamily="34" charset="0"/>
              <a:cs typeface="Calibri" panose="020F0502020204030204" pitchFamily="34" charset="0"/>
            </a:endParaRPr>
          </a:p>
        </p:txBody>
      </p:sp>
      <p:sp>
        <p:nvSpPr>
          <p:cNvPr id="9" name="Google Shape;91;p13">
            <a:extLst>
              <a:ext uri="{FF2B5EF4-FFF2-40B4-BE49-F238E27FC236}">
                <a16:creationId xmlns:a16="http://schemas.microsoft.com/office/drawing/2014/main" id="{D92F3D5C-A5A1-BCFC-E998-38EF0FD6FEE0}"/>
              </a:ext>
            </a:extLst>
          </p:cNvPr>
          <p:cNvSpPr txBox="1"/>
          <p:nvPr/>
        </p:nvSpPr>
        <p:spPr>
          <a:xfrm>
            <a:off x="3429000" y="3454400"/>
            <a:ext cx="4876800" cy="2159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0" i="0" u="none" strike="noStrike" cap="none">
                <a:solidFill>
                  <a:srgbClr val="64748B"/>
                </a:solidFill>
                <a:latin typeface="Calibri" panose="020F0502020204030204" pitchFamily="34" charset="0"/>
                <a:ea typeface="Inter"/>
                <a:cs typeface="Calibri" panose="020F0502020204030204" pitchFamily="34" charset="0"/>
                <a:sym typeface="Inter"/>
              </a:rPr>
              <a:t>COLLABORATORS &amp; MENTORS</a:t>
            </a:r>
            <a:endParaRPr sz="1600">
              <a:latin typeface="Calibri" panose="020F0502020204030204" pitchFamily="34" charset="0"/>
              <a:cs typeface="Calibri" panose="020F0502020204030204" pitchFamily="34" charset="0"/>
            </a:endParaRPr>
          </a:p>
        </p:txBody>
      </p:sp>
      <p:sp>
        <p:nvSpPr>
          <p:cNvPr id="40" name="Google Shape;92;p13">
            <a:extLst>
              <a:ext uri="{FF2B5EF4-FFF2-40B4-BE49-F238E27FC236}">
                <a16:creationId xmlns:a16="http://schemas.microsoft.com/office/drawing/2014/main" id="{01AE6F83-5194-279F-7E9B-1DFFD5F50897}"/>
              </a:ext>
            </a:extLst>
          </p:cNvPr>
          <p:cNvSpPr txBox="1"/>
          <p:nvPr/>
        </p:nvSpPr>
        <p:spPr>
          <a:xfrm>
            <a:off x="3369755" y="3752851"/>
            <a:ext cx="4878300" cy="73866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2400" b="1" dirty="0">
                <a:solidFill>
                  <a:srgbClr val="1E293B"/>
                </a:solidFill>
                <a:latin typeface="Calibri" panose="020F0502020204030204" pitchFamily="34" charset="0"/>
                <a:ea typeface="Playfair Display"/>
                <a:cs typeface="Calibri" panose="020F0502020204030204" pitchFamily="34" charset="0"/>
                <a:sym typeface="Playfair Display"/>
              </a:rPr>
              <a:t>All the other  members of the </a:t>
            </a:r>
          </a:p>
          <a:p>
            <a:pPr marL="0" marR="0" lvl="0" indent="0" algn="l" rtl="0">
              <a:spcBef>
                <a:spcPts val="0"/>
              </a:spcBef>
              <a:spcAft>
                <a:spcPts val="0"/>
              </a:spcAft>
              <a:buNone/>
            </a:pPr>
            <a:r>
              <a:rPr lang="en-US" sz="2400" b="1" dirty="0">
                <a:solidFill>
                  <a:srgbClr val="1E293B"/>
                </a:solidFill>
                <a:latin typeface="Calibri" panose="020F0502020204030204" pitchFamily="34" charset="0"/>
                <a:ea typeface="Playfair Display"/>
                <a:cs typeface="Calibri" panose="020F0502020204030204" pitchFamily="34" charset="0"/>
                <a:sym typeface="Playfair Display"/>
              </a:rPr>
              <a:t>SDN LAB!</a:t>
            </a:r>
            <a:endParaRPr sz="16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D0428BC3-ED20-F01A-7E83-EE396D499EBE}"/>
              </a:ext>
            </a:extLst>
          </p:cNvPr>
          <p:cNvSpPr/>
          <p:nvPr/>
        </p:nvSpPr>
        <p:spPr>
          <a:xfrm>
            <a:off x="858840" y="1027830"/>
            <a:ext cx="9292157" cy="45719"/>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5370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D1FFD21-ED2A-8243-8EBB-2FF3E0815776}">
  <we:reference id="WA200010001" version="1.0.0.1" store="Omex" storeType="OMEX"/>
  <we:alternateReferences>
    <we:reference id="WA200010001" version="1.0.0.1" store="WA200010001" storeType="OMEX"/>
  </we:alternateReferences>
  <we:properties>
    <we:property name="claude.fileId" value="&quot;19f1c707-f3a3-496d-bd9e-7eeafbe995e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1271</TotalTime>
  <Words>3058</Words>
  <Application>Microsoft Macintosh PowerPoint</Application>
  <PresentationFormat>Widescreen</PresentationFormat>
  <Paragraphs>253</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Zweben</dc:creator>
  <cp:lastModifiedBy>Daniel Zweben</cp:lastModifiedBy>
  <cp:revision>31</cp:revision>
  <dcterms:created xsi:type="dcterms:W3CDTF">2026-04-19T22:09:57Z</dcterms:created>
  <dcterms:modified xsi:type="dcterms:W3CDTF">2026-04-21T02:23:23Z</dcterms:modified>
</cp:coreProperties>
</file>